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9"/>
  </p:normalViewPr>
  <p:slideViewPr>
    <p:cSldViewPr>
      <p:cViewPr varScale="1">
        <p:scale>
          <a:sx n="241" d="100"/>
          <a:sy n="241" d="100"/>
        </p:scale>
        <p:origin x="672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010" y="64615"/>
            <a:ext cx="1951355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9215">
              <a:lnSpc>
                <a:spcPts val="980"/>
              </a:lnSpc>
            </a:pPr>
            <a:fld id="{81D60167-4931-47E6-BA6A-407CBD079E47}" type="slidenum">
              <a:rPr dirty="0"/>
              <a:t>‹#›</a:t>
            </a:fld>
            <a:r>
              <a:rPr spc="70" dirty="0"/>
              <a:t> </a:t>
            </a:r>
            <a:r>
              <a:rPr spc="240" dirty="0"/>
              <a:t>/</a:t>
            </a:r>
            <a:r>
              <a:rPr spc="70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9215">
              <a:lnSpc>
                <a:spcPts val="980"/>
              </a:lnSpc>
            </a:pPr>
            <a:fld id="{81D60167-4931-47E6-BA6A-407CBD079E47}" type="slidenum">
              <a:rPr dirty="0"/>
              <a:t>‹#›</a:t>
            </a:fld>
            <a:r>
              <a:rPr spc="70" dirty="0"/>
              <a:t> </a:t>
            </a:r>
            <a:r>
              <a:rPr spc="240" dirty="0"/>
              <a:t>/</a:t>
            </a:r>
            <a:r>
              <a:rPr spc="70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9215">
              <a:lnSpc>
                <a:spcPts val="980"/>
              </a:lnSpc>
            </a:pPr>
            <a:fld id="{81D60167-4931-47E6-BA6A-407CBD079E47}" type="slidenum">
              <a:rPr dirty="0"/>
              <a:t>‹#›</a:t>
            </a:fld>
            <a:r>
              <a:rPr spc="70" dirty="0"/>
              <a:t> </a:t>
            </a:r>
            <a:r>
              <a:rPr spc="240" dirty="0"/>
              <a:t>/</a:t>
            </a:r>
            <a:r>
              <a:rPr spc="70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9215">
              <a:lnSpc>
                <a:spcPts val="980"/>
              </a:lnSpc>
            </a:pPr>
            <a:fld id="{81D60167-4931-47E6-BA6A-407CBD079E47}" type="slidenum">
              <a:rPr dirty="0"/>
              <a:t>‹#›</a:t>
            </a:fld>
            <a:r>
              <a:rPr spc="70" dirty="0"/>
              <a:t> </a:t>
            </a:r>
            <a:r>
              <a:rPr spc="240" dirty="0"/>
              <a:t>/</a:t>
            </a:r>
            <a:r>
              <a:rPr spc="70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9215">
              <a:lnSpc>
                <a:spcPts val="980"/>
              </a:lnSpc>
            </a:pPr>
            <a:fld id="{81D60167-4931-47E6-BA6A-407CBD079E47}" type="slidenum">
              <a:rPr dirty="0"/>
              <a:t>‹#›</a:t>
            </a:fld>
            <a:r>
              <a:rPr spc="70" dirty="0"/>
              <a:t> </a:t>
            </a:r>
            <a:r>
              <a:rPr spc="240" dirty="0"/>
              <a:t>/</a:t>
            </a:r>
            <a:r>
              <a:rPr spc="70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5760085" cy="353060"/>
          </a:xfrm>
          <a:custGeom>
            <a:avLst/>
            <a:gdLst/>
            <a:ahLst/>
            <a:cxnLst/>
            <a:rect l="l" t="t" r="r" b="b"/>
            <a:pathLst>
              <a:path w="5760085" h="353060">
                <a:moveTo>
                  <a:pt x="5759996" y="0"/>
                </a:moveTo>
                <a:lnTo>
                  <a:pt x="0" y="0"/>
                </a:lnTo>
                <a:lnTo>
                  <a:pt x="0" y="352869"/>
                </a:lnTo>
                <a:lnTo>
                  <a:pt x="5759996" y="352869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010" y="64615"/>
            <a:ext cx="353060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294" y="660938"/>
            <a:ext cx="4867910" cy="2190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728656" y="3096300"/>
            <a:ext cx="447675" cy="142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9215">
              <a:lnSpc>
                <a:spcPts val="980"/>
              </a:lnSpc>
            </a:pPr>
            <a:fld id="{81D60167-4931-47E6-BA6A-407CBD079E47}" type="slidenum">
              <a:rPr dirty="0"/>
              <a:t>‹#›</a:t>
            </a:fld>
            <a:r>
              <a:rPr spc="70" dirty="0"/>
              <a:t> </a:t>
            </a:r>
            <a:r>
              <a:rPr spc="240" dirty="0"/>
              <a:t>/</a:t>
            </a:r>
            <a:r>
              <a:rPr spc="70" dirty="0"/>
              <a:t> </a:t>
            </a:r>
            <a:r>
              <a:rPr spc="-25" dirty="0"/>
              <a:t>45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760085" cy="3085465"/>
            <a:chOff x="0" y="0"/>
            <a:chExt cx="5760085" cy="308546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5760085" cy="3085465"/>
            </a:xfrm>
            <a:custGeom>
              <a:avLst/>
              <a:gdLst/>
              <a:ahLst/>
              <a:cxnLst/>
              <a:rect l="l" t="t" r="r" b="b"/>
              <a:pathLst>
                <a:path w="5760085" h="3085465">
                  <a:moveTo>
                    <a:pt x="0" y="3085350"/>
                  </a:moveTo>
                  <a:lnTo>
                    <a:pt x="5759996" y="3085350"/>
                  </a:lnTo>
                  <a:lnTo>
                    <a:pt x="5759996" y="0"/>
                  </a:lnTo>
                  <a:lnTo>
                    <a:pt x="0" y="0"/>
                  </a:lnTo>
                  <a:lnTo>
                    <a:pt x="0" y="308535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19994" y="265696"/>
              <a:ext cx="1080008" cy="10800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7294" y="735860"/>
            <a:ext cx="30784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911919"/>
                </a:solidFill>
              </a:rPr>
              <a:t>Introduction</a:t>
            </a:r>
            <a:r>
              <a:rPr sz="1400" spc="90" dirty="0">
                <a:solidFill>
                  <a:srgbClr val="911919"/>
                </a:solidFill>
              </a:rPr>
              <a:t> </a:t>
            </a:r>
            <a:r>
              <a:rPr sz="1400" dirty="0">
                <a:solidFill>
                  <a:srgbClr val="911919"/>
                </a:solidFill>
              </a:rPr>
              <a:t>to</a:t>
            </a:r>
            <a:r>
              <a:rPr sz="1400" spc="95" dirty="0">
                <a:solidFill>
                  <a:srgbClr val="911919"/>
                </a:solidFill>
              </a:rPr>
              <a:t> </a:t>
            </a:r>
            <a:r>
              <a:rPr sz="1400" dirty="0">
                <a:solidFill>
                  <a:srgbClr val="911919"/>
                </a:solidFill>
              </a:rPr>
              <a:t>Artificial</a:t>
            </a:r>
            <a:r>
              <a:rPr sz="1400" spc="90" dirty="0">
                <a:solidFill>
                  <a:srgbClr val="911919"/>
                </a:solidFill>
              </a:rPr>
              <a:t> </a:t>
            </a:r>
            <a:r>
              <a:rPr sz="1400" spc="-10" dirty="0">
                <a:solidFill>
                  <a:srgbClr val="911919"/>
                </a:solidFill>
              </a:rPr>
              <a:t>Intelligence</a:t>
            </a:r>
            <a:endParaRPr sz="1400"/>
          </a:p>
        </p:txBody>
      </p:sp>
      <p:sp>
        <p:nvSpPr>
          <p:cNvPr id="6" name="object 6"/>
          <p:cNvSpPr txBox="1"/>
          <p:nvPr/>
        </p:nvSpPr>
        <p:spPr>
          <a:xfrm>
            <a:off x="347294" y="1070137"/>
            <a:ext cx="21323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90" dirty="0">
                <a:solidFill>
                  <a:srgbClr val="911919"/>
                </a:solidFill>
                <a:latin typeface="Arial"/>
                <a:cs typeface="Arial"/>
              </a:rPr>
              <a:t>Week</a:t>
            </a:r>
            <a:r>
              <a:rPr sz="1200" spc="5" dirty="0">
                <a:solidFill>
                  <a:srgbClr val="91191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11919"/>
                </a:solidFill>
                <a:latin typeface="Arial"/>
                <a:cs typeface="Arial"/>
              </a:rPr>
              <a:t>1:</a:t>
            </a:r>
            <a:r>
              <a:rPr sz="1200" spc="55" dirty="0">
                <a:solidFill>
                  <a:srgbClr val="91191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11919"/>
                </a:solidFill>
                <a:latin typeface="Arial"/>
                <a:cs typeface="Arial"/>
              </a:rPr>
              <a:t>What,</a:t>
            </a:r>
            <a:r>
              <a:rPr sz="1200" spc="-20" dirty="0">
                <a:solidFill>
                  <a:srgbClr val="911919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911919"/>
                </a:solidFill>
                <a:latin typeface="Arial"/>
                <a:cs typeface="Arial"/>
              </a:rPr>
              <a:t>Why,</a:t>
            </a:r>
            <a:r>
              <a:rPr sz="1200" spc="-25" dirty="0">
                <a:solidFill>
                  <a:srgbClr val="911919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911919"/>
                </a:solidFill>
                <a:latin typeface="Arial"/>
                <a:cs typeface="Arial"/>
              </a:rPr>
              <a:t>and</a:t>
            </a:r>
            <a:r>
              <a:rPr sz="1200" spc="-20" dirty="0">
                <a:solidFill>
                  <a:srgbClr val="911919"/>
                </a:solidFill>
                <a:latin typeface="Arial"/>
                <a:cs typeface="Arial"/>
              </a:rPr>
              <a:t> </a:t>
            </a:r>
            <a:r>
              <a:rPr sz="1200" spc="-70" dirty="0">
                <a:solidFill>
                  <a:srgbClr val="911919"/>
                </a:solidFill>
                <a:latin typeface="Arial"/>
                <a:cs typeface="Arial"/>
              </a:rPr>
              <a:t>Where?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1478540"/>
            <a:ext cx="5760085" cy="1761489"/>
            <a:chOff x="0" y="1478540"/>
            <a:chExt cx="5760085" cy="1761489"/>
          </a:xfrm>
        </p:grpSpPr>
        <p:sp>
          <p:nvSpPr>
            <p:cNvPr id="8" name="object 8"/>
            <p:cNvSpPr/>
            <p:nvPr/>
          </p:nvSpPr>
          <p:spPr>
            <a:xfrm>
              <a:off x="359994" y="1478540"/>
              <a:ext cx="5040630" cy="5080"/>
            </a:xfrm>
            <a:custGeom>
              <a:avLst/>
              <a:gdLst/>
              <a:ahLst/>
              <a:cxnLst/>
              <a:rect l="l" t="t" r="r" b="b"/>
              <a:pathLst>
                <a:path w="5040630" h="5080">
                  <a:moveTo>
                    <a:pt x="0" y="5060"/>
                  </a:moveTo>
                  <a:lnTo>
                    <a:pt x="0" y="0"/>
                  </a:lnTo>
                  <a:lnTo>
                    <a:pt x="5040064" y="0"/>
                  </a:lnTo>
                  <a:lnTo>
                    <a:pt x="50400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FD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085350"/>
              <a:ext cx="5760085" cy="154940"/>
            </a:xfrm>
            <a:custGeom>
              <a:avLst/>
              <a:gdLst/>
              <a:ahLst/>
              <a:cxnLst/>
              <a:rect l="l" t="t" r="r" b="b"/>
              <a:pathLst>
                <a:path w="5760085" h="154939">
                  <a:moveTo>
                    <a:pt x="5759996" y="0"/>
                  </a:moveTo>
                  <a:lnTo>
                    <a:pt x="0" y="0"/>
                  </a:lnTo>
                  <a:lnTo>
                    <a:pt x="0" y="154647"/>
                  </a:lnTo>
                  <a:lnTo>
                    <a:pt x="5759996" y="15464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91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7294" y="1698501"/>
            <a:ext cx="1685925" cy="73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Lecturer: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Awara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Bakhtiyar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 Rasool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January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19,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700" spc="-10" dirty="0">
                <a:solidFill>
                  <a:srgbClr val="22373A"/>
                </a:solidFill>
                <a:latin typeface="Arial"/>
                <a:cs typeface="Arial"/>
              </a:rPr>
              <a:t>Salahaddin</a:t>
            </a:r>
            <a:r>
              <a:rPr sz="7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Arial"/>
                <a:cs typeface="Arial"/>
              </a:rPr>
              <a:t>University-Erbil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700" spc="-10" dirty="0">
                <a:solidFill>
                  <a:srgbClr val="22373A"/>
                </a:solidFill>
                <a:latin typeface="Arial"/>
                <a:cs typeface="Arial"/>
              </a:rPr>
              <a:t>College</a:t>
            </a:r>
            <a:r>
              <a:rPr sz="700" dirty="0">
                <a:solidFill>
                  <a:srgbClr val="22373A"/>
                </a:solidFill>
                <a:latin typeface="Arial"/>
                <a:cs typeface="Arial"/>
              </a:rPr>
              <a:t> of </a:t>
            </a:r>
            <a:r>
              <a:rPr sz="700" spc="-10" dirty="0">
                <a:solidFill>
                  <a:srgbClr val="22373A"/>
                </a:solidFill>
                <a:latin typeface="Arial"/>
                <a:cs typeface="Arial"/>
              </a:rPr>
              <a:t>Economics</a:t>
            </a:r>
            <a:r>
              <a:rPr sz="7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700" spc="-10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5162" y="3096300"/>
            <a:ext cx="179705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45507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30018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215">
              <a:lnSpc>
                <a:spcPts val="980"/>
              </a:lnSpc>
            </a:pPr>
            <a:fld id="{81D60167-4931-47E6-BA6A-407CBD079E47}" type="slidenum">
              <a:rPr dirty="0"/>
              <a:t>1</a:t>
            </a:fld>
            <a:r>
              <a:rPr spc="70" dirty="0"/>
              <a:t> </a:t>
            </a:r>
            <a:r>
              <a:rPr spc="240" dirty="0"/>
              <a:t>/</a:t>
            </a:r>
            <a:r>
              <a:rPr spc="70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Defining</a:t>
            </a:r>
            <a:r>
              <a:rPr spc="15" dirty="0"/>
              <a:t> </a:t>
            </a:r>
            <a:r>
              <a:rPr spc="-35" dirty="0"/>
              <a:t>AI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738561"/>
            <a:ext cx="5040630" cy="699770"/>
            <a:chOff x="359994" y="738561"/>
            <a:chExt cx="5040630" cy="699770"/>
          </a:xfrm>
        </p:grpSpPr>
        <p:sp>
          <p:nvSpPr>
            <p:cNvPr id="4" name="object 4"/>
            <p:cNvSpPr/>
            <p:nvPr/>
          </p:nvSpPr>
          <p:spPr>
            <a:xfrm>
              <a:off x="359994" y="738561"/>
              <a:ext cx="5040630" cy="699770"/>
            </a:xfrm>
            <a:custGeom>
              <a:avLst/>
              <a:gdLst/>
              <a:ahLst/>
              <a:cxnLst/>
              <a:rect l="l" t="t" r="r" b="b"/>
              <a:pathLst>
                <a:path w="5040630" h="699769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645370"/>
                  </a:lnTo>
                  <a:lnTo>
                    <a:pt x="4243" y="666390"/>
                  </a:lnTo>
                  <a:lnTo>
                    <a:pt x="15816" y="683554"/>
                  </a:lnTo>
                  <a:lnTo>
                    <a:pt x="32980" y="695127"/>
                  </a:lnTo>
                  <a:lnTo>
                    <a:pt x="54000" y="699370"/>
                  </a:lnTo>
                  <a:lnTo>
                    <a:pt x="4986064" y="699370"/>
                  </a:lnTo>
                  <a:lnTo>
                    <a:pt x="5007084" y="695127"/>
                  </a:lnTo>
                  <a:lnTo>
                    <a:pt x="5024248" y="683554"/>
                  </a:lnTo>
                  <a:lnTo>
                    <a:pt x="5035821" y="666390"/>
                  </a:lnTo>
                  <a:lnTo>
                    <a:pt x="5040064" y="645370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7994" y="934428"/>
              <a:ext cx="5004435" cy="485775"/>
            </a:xfrm>
            <a:custGeom>
              <a:avLst/>
              <a:gdLst/>
              <a:ahLst/>
              <a:cxnLst/>
              <a:rect l="l" t="t" r="r" b="b"/>
              <a:pathLst>
                <a:path w="5004435" h="485775">
                  <a:moveTo>
                    <a:pt x="5004065" y="0"/>
                  </a:moveTo>
                  <a:lnTo>
                    <a:pt x="0" y="0"/>
                  </a:lnTo>
                  <a:lnTo>
                    <a:pt x="0" y="449503"/>
                  </a:lnTo>
                  <a:lnTo>
                    <a:pt x="2829" y="463516"/>
                  </a:lnTo>
                  <a:lnTo>
                    <a:pt x="10544" y="474959"/>
                  </a:lnTo>
                  <a:lnTo>
                    <a:pt x="21987" y="482675"/>
                  </a:lnTo>
                  <a:lnTo>
                    <a:pt x="36000" y="485504"/>
                  </a:lnTo>
                  <a:lnTo>
                    <a:pt x="4968064" y="485504"/>
                  </a:lnTo>
                  <a:lnTo>
                    <a:pt x="4982077" y="482675"/>
                  </a:lnTo>
                  <a:lnTo>
                    <a:pt x="4993521" y="474959"/>
                  </a:lnTo>
                  <a:lnTo>
                    <a:pt x="5001236" y="463516"/>
                  </a:lnTo>
                  <a:lnTo>
                    <a:pt x="5004065" y="449503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2341" rIns="0" bIns="0" rtlCol="0">
            <a:spAutoFit/>
          </a:bodyPr>
          <a:lstStyle/>
          <a:p>
            <a:pPr marL="21018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Definition</a:t>
            </a:r>
          </a:p>
          <a:p>
            <a:pPr marL="210185" marR="5080">
              <a:lnSpc>
                <a:spcPct val="114599"/>
              </a:lnSpc>
              <a:spcBef>
                <a:spcPts val="645"/>
              </a:spcBef>
            </a:pPr>
            <a:r>
              <a:rPr spc="-10" dirty="0">
                <a:solidFill>
                  <a:srgbClr val="000000"/>
                </a:solidFill>
              </a:rPr>
              <a:t>Artificial </a:t>
            </a:r>
            <a:r>
              <a:rPr spc="-25" dirty="0">
                <a:solidFill>
                  <a:srgbClr val="000000"/>
                </a:solidFill>
              </a:rPr>
              <a:t>Intelligence</a:t>
            </a:r>
            <a:r>
              <a:rPr spc="10" dirty="0">
                <a:solidFill>
                  <a:srgbClr val="000000"/>
                </a:solidFill>
              </a:rPr>
              <a:t> </a:t>
            </a:r>
            <a:r>
              <a:rPr spc="55" dirty="0">
                <a:solidFill>
                  <a:srgbClr val="000000"/>
                </a:solidFill>
              </a:rPr>
              <a:t>(AI)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b="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creation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b="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machines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that</a:t>
            </a:r>
            <a:r>
              <a:rPr b="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can</a:t>
            </a:r>
            <a:r>
              <a:rPr b="0" spc="-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000000"/>
                </a:solidFill>
              </a:rPr>
              <a:t>think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, </a:t>
            </a:r>
            <a:r>
              <a:rPr spc="-30" dirty="0">
                <a:solidFill>
                  <a:srgbClr val="000000"/>
                </a:solidFill>
              </a:rPr>
              <a:t>learn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b="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000000"/>
                </a:solidFill>
              </a:rPr>
              <a:t>make </a:t>
            </a:r>
            <a:r>
              <a:rPr spc="-60" dirty="0">
                <a:solidFill>
                  <a:srgbClr val="000000"/>
                </a:solidFill>
              </a:rPr>
              <a:t>decisions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like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humans.</a:t>
            </a:r>
          </a:p>
          <a:p>
            <a:pPr>
              <a:lnSpc>
                <a:spcPct val="100000"/>
              </a:lnSpc>
            </a:pPr>
            <a:endParaRPr b="0" spc="-1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b="0" spc="-1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b="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b="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70" dirty="0">
                <a:solidFill>
                  <a:srgbClr val="22373A"/>
                </a:solidFill>
                <a:latin typeface="Arial"/>
                <a:cs typeface="Arial"/>
              </a:rPr>
              <a:t>enables</a:t>
            </a:r>
            <a:r>
              <a:rPr b="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3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b="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b="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22373A"/>
                </a:solidFill>
                <a:latin typeface="Arial"/>
                <a:cs typeface="Arial"/>
              </a:rPr>
              <a:t>perform</a:t>
            </a:r>
            <a:r>
              <a:rPr b="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35" dirty="0">
                <a:solidFill>
                  <a:srgbClr val="22373A"/>
                </a:solidFill>
                <a:latin typeface="Arial"/>
                <a:cs typeface="Arial"/>
              </a:rPr>
              <a:t>tasks</a:t>
            </a:r>
            <a:r>
              <a:rPr b="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b="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22373A"/>
                </a:solidFill>
                <a:latin typeface="Arial"/>
                <a:cs typeface="Arial"/>
              </a:rPr>
              <a:t>typically</a:t>
            </a:r>
            <a:r>
              <a:rPr b="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30" dirty="0">
                <a:solidFill>
                  <a:srgbClr val="22373A"/>
                </a:solidFill>
                <a:latin typeface="Arial"/>
                <a:cs typeface="Arial"/>
              </a:rPr>
              <a:t>require</a:t>
            </a:r>
            <a:r>
              <a:rPr b="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35" dirty="0">
                <a:solidFill>
                  <a:srgbClr val="22373A"/>
                </a:solidFill>
                <a:latin typeface="Arial"/>
                <a:cs typeface="Arial"/>
              </a:rPr>
              <a:t>human</a:t>
            </a:r>
            <a:r>
              <a:rPr b="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30" dirty="0">
                <a:solidFill>
                  <a:srgbClr val="22373A"/>
                </a:solidFill>
                <a:latin typeface="Arial"/>
                <a:cs typeface="Arial"/>
              </a:rPr>
              <a:t>intelligence,</a:t>
            </a:r>
            <a:r>
              <a:rPr b="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50" dirty="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b="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22373A"/>
                </a:solidFill>
                <a:latin typeface="Arial"/>
                <a:cs typeface="Arial"/>
              </a:rPr>
              <a:t>as:</a:t>
            </a:r>
          </a:p>
          <a:p>
            <a:pPr marL="264160" indent="-125095">
              <a:lnSpc>
                <a:spcPct val="100000"/>
              </a:lnSpc>
              <a:spcBef>
                <a:spcPts val="975"/>
              </a:spcBef>
              <a:buFont typeface="Arial"/>
              <a:buChar char="•"/>
              <a:tabLst>
                <a:tab pos="264160" algn="l"/>
              </a:tabLst>
            </a:pPr>
            <a:r>
              <a:rPr spc="-20" dirty="0">
                <a:solidFill>
                  <a:srgbClr val="22373A"/>
                </a:solidFill>
              </a:rPr>
              <a:t>Visual</a:t>
            </a:r>
            <a:r>
              <a:rPr spc="10" dirty="0">
                <a:solidFill>
                  <a:srgbClr val="22373A"/>
                </a:solidFill>
              </a:rPr>
              <a:t> </a:t>
            </a:r>
            <a:r>
              <a:rPr spc="-30" dirty="0">
                <a:solidFill>
                  <a:srgbClr val="22373A"/>
                </a:solidFill>
              </a:rPr>
              <a:t>Perception</a:t>
            </a:r>
            <a:r>
              <a:rPr spc="-15" dirty="0">
                <a:solidFill>
                  <a:srgbClr val="22373A"/>
                </a:solidFill>
              </a:rPr>
              <a:t> </a:t>
            </a:r>
            <a:r>
              <a:rPr b="0" spc="-45" dirty="0">
                <a:solidFill>
                  <a:srgbClr val="22373A"/>
                </a:solidFill>
                <a:latin typeface="Arial"/>
                <a:cs typeface="Arial"/>
              </a:rPr>
              <a:t>(Seeing</a:t>
            </a:r>
            <a:r>
              <a:rPr b="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22373A"/>
                </a:solidFill>
                <a:latin typeface="Arial"/>
                <a:cs typeface="Arial"/>
              </a:rPr>
              <a:t>like </a:t>
            </a:r>
            <a:r>
              <a:rPr b="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b="0" spc="-10" dirty="0">
                <a:solidFill>
                  <a:srgbClr val="22373A"/>
                </a:solidFill>
                <a:latin typeface="Arial"/>
                <a:cs typeface="Arial"/>
              </a:rPr>
              <a:t> human)</a:t>
            </a:r>
          </a:p>
          <a:p>
            <a:pPr marL="264160" indent="-125095">
              <a:lnSpc>
                <a:spcPct val="100000"/>
              </a:lnSpc>
              <a:spcBef>
                <a:spcPts val="470"/>
              </a:spcBef>
              <a:buFont typeface="Arial"/>
              <a:buChar char="•"/>
              <a:tabLst>
                <a:tab pos="264160" algn="l"/>
              </a:tabLst>
            </a:pPr>
            <a:r>
              <a:rPr spc="-35" dirty="0">
                <a:solidFill>
                  <a:srgbClr val="22373A"/>
                </a:solidFill>
              </a:rPr>
              <a:t>Speech</a:t>
            </a:r>
            <a:r>
              <a:rPr spc="10" dirty="0">
                <a:solidFill>
                  <a:srgbClr val="22373A"/>
                </a:solidFill>
              </a:rPr>
              <a:t> </a:t>
            </a:r>
            <a:r>
              <a:rPr spc="-40" dirty="0">
                <a:solidFill>
                  <a:srgbClr val="22373A"/>
                </a:solidFill>
              </a:rPr>
              <a:t>Recognition</a:t>
            </a:r>
            <a:r>
              <a:rPr spc="-10" dirty="0">
                <a:solidFill>
                  <a:srgbClr val="22373A"/>
                </a:solidFill>
              </a:rPr>
              <a:t> </a:t>
            </a:r>
            <a:r>
              <a:rPr b="0" spc="-25" dirty="0">
                <a:solidFill>
                  <a:srgbClr val="22373A"/>
                </a:solidFill>
                <a:latin typeface="Arial"/>
                <a:cs typeface="Arial"/>
              </a:rPr>
              <a:t>(Hearing</a:t>
            </a:r>
            <a:r>
              <a:rPr b="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22373A"/>
                </a:solidFill>
                <a:latin typeface="Arial"/>
                <a:cs typeface="Arial"/>
              </a:rPr>
              <a:t>like </a:t>
            </a:r>
            <a:r>
              <a:rPr b="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b="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22373A"/>
                </a:solidFill>
                <a:latin typeface="Arial"/>
                <a:cs typeface="Arial"/>
              </a:rPr>
              <a:t>human)</a:t>
            </a:r>
          </a:p>
          <a:p>
            <a:pPr marL="264160" indent="-125095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264160" algn="l"/>
              </a:tabLst>
            </a:pPr>
            <a:r>
              <a:rPr spc="-40" dirty="0">
                <a:solidFill>
                  <a:srgbClr val="22373A"/>
                </a:solidFill>
              </a:rPr>
              <a:t>Decision-</a:t>
            </a:r>
            <a:r>
              <a:rPr spc="-30" dirty="0">
                <a:solidFill>
                  <a:srgbClr val="22373A"/>
                </a:solidFill>
              </a:rPr>
              <a:t>making</a:t>
            </a:r>
            <a:r>
              <a:rPr spc="5" dirty="0">
                <a:solidFill>
                  <a:srgbClr val="22373A"/>
                </a:solidFill>
              </a:rPr>
              <a:t> </a:t>
            </a:r>
            <a:r>
              <a:rPr b="0" dirty="0">
                <a:solidFill>
                  <a:srgbClr val="22373A"/>
                </a:solidFill>
                <a:latin typeface="Arial"/>
                <a:cs typeface="Arial"/>
              </a:rPr>
              <a:t>(Thinking</a:t>
            </a:r>
            <a:r>
              <a:rPr b="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22373A"/>
                </a:solidFill>
                <a:latin typeface="Arial"/>
                <a:cs typeface="Arial"/>
              </a:rPr>
              <a:t>like </a:t>
            </a:r>
            <a:r>
              <a:rPr b="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b="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22373A"/>
                </a:solidFill>
                <a:latin typeface="Arial"/>
                <a:cs typeface="Arial"/>
              </a:rPr>
              <a:t>human)</a:t>
            </a:r>
          </a:p>
          <a:p>
            <a:pPr marL="264160" indent="-125095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264160" algn="l"/>
              </a:tabLst>
            </a:pPr>
            <a:r>
              <a:rPr spc="-30" dirty="0">
                <a:solidFill>
                  <a:srgbClr val="22373A"/>
                </a:solidFill>
              </a:rPr>
              <a:t>Translation</a:t>
            </a:r>
            <a:r>
              <a:rPr dirty="0">
                <a:solidFill>
                  <a:srgbClr val="22373A"/>
                </a:solidFill>
              </a:rPr>
              <a:t> </a:t>
            </a:r>
            <a:r>
              <a:rPr b="0" spc="-30" dirty="0">
                <a:solidFill>
                  <a:srgbClr val="22373A"/>
                </a:solidFill>
                <a:latin typeface="Arial"/>
                <a:cs typeface="Arial"/>
              </a:rPr>
              <a:t>(Communicating</a:t>
            </a:r>
            <a:r>
              <a:rPr b="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b="0" dirty="0">
                <a:solidFill>
                  <a:srgbClr val="22373A"/>
                </a:solidFill>
                <a:latin typeface="Arial"/>
                <a:cs typeface="Arial"/>
              </a:rPr>
              <a:t> a </a:t>
            </a:r>
            <a:r>
              <a:rPr b="0" spc="-10" dirty="0">
                <a:solidFill>
                  <a:srgbClr val="22373A"/>
                </a:solidFill>
                <a:latin typeface="Arial"/>
                <a:cs typeface="Arial"/>
              </a:rPr>
              <a:t>human)</a:t>
            </a:r>
          </a:p>
        </p:txBody>
      </p:sp>
      <p:sp>
        <p:nvSpPr>
          <p:cNvPr id="7" name="object 7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5162" y="3096300"/>
            <a:ext cx="179705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45507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30018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215">
              <a:lnSpc>
                <a:spcPts val="980"/>
              </a:lnSpc>
            </a:pPr>
            <a:fld id="{81D60167-4931-47E6-BA6A-407CBD079E47}" type="slidenum">
              <a:rPr dirty="0"/>
              <a:t>2</a:t>
            </a:fld>
            <a:r>
              <a:rPr spc="70" dirty="0"/>
              <a:t> </a:t>
            </a:r>
            <a:r>
              <a:rPr spc="240" dirty="0"/>
              <a:t>/</a:t>
            </a:r>
            <a:r>
              <a:rPr spc="70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Types</a:t>
            </a:r>
            <a:r>
              <a:rPr spc="5" dirty="0"/>
              <a:t> </a:t>
            </a:r>
            <a:r>
              <a:rPr dirty="0"/>
              <a:t>of </a:t>
            </a:r>
            <a:r>
              <a:rPr spc="-40" dirty="0"/>
              <a:t>Software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24807"/>
            <a:ext cx="26752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two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fundamental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categories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software: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7213" y="1141563"/>
            <a:ext cx="2419350" cy="1595120"/>
            <a:chOff x="307213" y="1141563"/>
            <a:chExt cx="2419350" cy="1595120"/>
          </a:xfrm>
        </p:grpSpPr>
        <p:sp>
          <p:nvSpPr>
            <p:cNvPr id="5" name="object 5"/>
            <p:cNvSpPr/>
            <p:nvPr/>
          </p:nvSpPr>
          <p:spPr>
            <a:xfrm>
              <a:off x="307213" y="1141563"/>
              <a:ext cx="2419350" cy="1595120"/>
            </a:xfrm>
            <a:custGeom>
              <a:avLst/>
              <a:gdLst/>
              <a:ahLst/>
              <a:cxnLst/>
              <a:rect l="l" t="t" r="r" b="b"/>
              <a:pathLst>
                <a:path w="2419350" h="1595120">
                  <a:moveTo>
                    <a:pt x="2365209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1541108"/>
                  </a:lnTo>
                  <a:lnTo>
                    <a:pt x="4243" y="1562127"/>
                  </a:lnTo>
                  <a:lnTo>
                    <a:pt x="15816" y="1579292"/>
                  </a:lnTo>
                  <a:lnTo>
                    <a:pt x="32980" y="1590864"/>
                  </a:lnTo>
                  <a:lnTo>
                    <a:pt x="54000" y="1595108"/>
                  </a:lnTo>
                  <a:lnTo>
                    <a:pt x="2365209" y="1595108"/>
                  </a:lnTo>
                  <a:lnTo>
                    <a:pt x="2386228" y="1590864"/>
                  </a:lnTo>
                  <a:lnTo>
                    <a:pt x="2403393" y="1579292"/>
                  </a:lnTo>
                  <a:lnTo>
                    <a:pt x="2414966" y="1562127"/>
                  </a:lnTo>
                  <a:lnTo>
                    <a:pt x="2419209" y="1541108"/>
                  </a:lnTo>
                  <a:lnTo>
                    <a:pt x="2419209" y="54000"/>
                  </a:lnTo>
                  <a:lnTo>
                    <a:pt x="2414966" y="32980"/>
                  </a:lnTo>
                  <a:lnTo>
                    <a:pt x="2403393" y="15816"/>
                  </a:lnTo>
                  <a:lnTo>
                    <a:pt x="2386228" y="4243"/>
                  </a:lnTo>
                  <a:lnTo>
                    <a:pt x="2365209" y="0"/>
                  </a:lnTo>
                  <a:close/>
                </a:path>
              </a:pathLst>
            </a:custGeom>
            <a:solidFill>
              <a:srgbClr val="218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5212" y="1362033"/>
              <a:ext cx="2383790" cy="1356995"/>
            </a:xfrm>
            <a:custGeom>
              <a:avLst/>
              <a:gdLst/>
              <a:ahLst/>
              <a:cxnLst/>
              <a:rect l="l" t="t" r="r" b="b"/>
              <a:pathLst>
                <a:path w="2383790" h="1356995">
                  <a:moveTo>
                    <a:pt x="2383209" y="0"/>
                  </a:moveTo>
                  <a:lnTo>
                    <a:pt x="0" y="0"/>
                  </a:lnTo>
                  <a:lnTo>
                    <a:pt x="0" y="1320638"/>
                  </a:lnTo>
                  <a:lnTo>
                    <a:pt x="2829" y="1334651"/>
                  </a:lnTo>
                  <a:lnTo>
                    <a:pt x="10544" y="1346095"/>
                  </a:lnTo>
                  <a:lnTo>
                    <a:pt x="21987" y="1353810"/>
                  </a:lnTo>
                  <a:lnTo>
                    <a:pt x="36000" y="1356639"/>
                  </a:lnTo>
                  <a:lnTo>
                    <a:pt x="2347209" y="1356639"/>
                  </a:lnTo>
                  <a:lnTo>
                    <a:pt x="2361222" y="1353810"/>
                  </a:lnTo>
                  <a:lnTo>
                    <a:pt x="2372665" y="1346095"/>
                  </a:lnTo>
                  <a:lnTo>
                    <a:pt x="2380380" y="1334651"/>
                  </a:lnTo>
                  <a:lnTo>
                    <a:pt x="2383209" y="1320638"/>
                  </a:lnTo>
                  <a:lnTo>
                    <a:pt x="2383209" y="0"/>
                  </a:lnTo>
                  <a:close/>
                </a:path>
              </a:pathLst>
            </a:custGeom>
            <a:solidFill>
              <a:srgbClr val="F2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2518" y="1144224"/>
            <a:ext cx="1612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1000" b="1" spc="2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Arial"/>
                <a:cs typeface="Arial"/>
              </a:rPr>
              <a:t>Non-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Intelligent</a:t>
            </a:r>
            <a:r>
              <a:rPr sz="1000" b="1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3798" y="1399162"/>
            <a:ext cx="1780539" cy="1247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 marR="244475" indent="-121920">
              <a:lnSpc>
                <a:spcPct val="116700"/>
              </a:lnSpc>
              <a:spcBef>
                <a:spcPts val="100"/>
              </a:spcBef>
              <a:buFont typeface="Arial"/>
              <a:buChar char="•"/>
              <a:tabLst>
                <a:tab pos="133985" algn="l"/>
              </a:tabLst>
            </a:pPr>
            <a:r>
              <a:rPr sz="900" b="1" spc="-45" dirty="0">
                <a:solidFill>
                  <a:srgbClr val="22373A"/>
                </a:solidFill>
                <a:latin typeface="Arial"/>
                <a:cs typeface="Arial"/>
              </a:rPr>
              <a:t>Rule-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based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Follows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explicit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”If-Then”</a:t>
            </a:r>
            <a:r>
              <a:rPr sz="900" spc="3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rules.</a:t>
            </a:r>
            <a:endParaRPr sz="900">
              <a:latin typeface="Arial"/>
              <a:cs typeface="Arial"/>
            </a:endParaRPr>
          </a:p>
          <a:p>
            <a:pPr marL="133985" marR="5080" indent="-121920">
              <a:lnSpc>
                <a:spcPct val="116700"/>
              </a:lnSpc>
              <a:spcBef>
                <a:spcPts val="395"/>
              </a:spcBef>
              <a:buFont typeface="Arial"/>
              <a:buChar char="•"/>
              <a:tabLst>
                <a:tab pos="133985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Scripted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exactly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told.</a:t>
            </a:r>
            <a:r>
              <a:rPr sz="900" spc="1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learning.</a:t>
            </a:r>
            <a:endParaRPr sz="900">
              <a:latin typeface="Arial"/>
              <a:cs typeface="Arial"/>
            </a:endParaRPr>
          </a:p>
          <a:p>
            <a:pPr marL="133985" marR="118745" indent="-121920" algn="just">
              <a:lnSpc>
                <a:spcPct val="116700"/>
              </a:lnSpc>
              <a:spcBef>
                <a:spcPts val="400"/>
              </a:spcBef>
              <a:buFont typeface="Arial"/>
              <a:buChar char="•"/>
              <a:tabLst>
                <a:tab pos="133985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Example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calculator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app.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multiplies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perfectly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doesn’t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”understand”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math.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33610" y="1141567"/>
            <a:ext cx="2419350" cy="1688464"/>
            <a:chOff x="3033610" y="1141567"/>
            <a:chExt cx="2419350" cy="1688464"/>
          </a:xfrm>
        </p:grpSpPr>
        <p:sp>
          <p:nvSpPr>
            <p:cNvPr id="10" name="object 10"/>
            <p:cNvSpPr/>
            <p:nvPr/>
          </p:nvSpPr>
          <p:spPr>
            <a:xfrm>
              <a:off x="3033610" y="1141567"/>
              <a:ext cx="2419350" cy="1688464"/>
            </a:xfrm>
            <a:custGeom>
              <a:avLst/>
              <a:gdLst/>
              <a:ahLst/>
              <a:cxnLst/>
              <a:rect l="l" t="t" r="r" b="b"/>
              <a:pathLst>
                <a:path w="2419350" h="1688464">
                  <a:moveTo>
                    <a:pt x="2365209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1634246"/>
                  </a:lnTo>
                  <a:lnTo>
                    <a:pt x="4243" y="1655265"/>
                  </a:lnTo>
                  <a:lnTo>
                    <a:pt x="15816" y="1672430"/>
                  </a:lnTo>
                  <a:lnTo>
                    <a:pt x="32980" y="1684003"/>
                  </a:lnTo>
                  <a:lnTo>
                    <a:pt x="54000" y="1688246"/>
                  </a:lnTo>
                  <a:lnTo>
                    <a:pt x="2365209" y="1688246"/>
                  </a:lnTo>
                  <a:lnTo>
                    <a:pt x="2386228" y="1684003"/>
                  </a:lnTo>
                  <a:lnTo>
                    <a:pt x="2403393" y="1672430"/>
                  </a:lnTo>
                  <a:lnTo>
                    <a:pt x="2414966" y="1655265"/>
                  </a:lnTo>
                  <a:lnTo>
                    <a:pt x="2419209" y="1634246"/>
                  </a:lnTo>
                  <a:lnTo>
                    <a:pt x="2419209" y="54000"/>
                  </a:lnTo>
                  <a:lnTo>
                    <a:pt x="2414966" y="32980"/>
                  </a:lnTo>
                  <a:lnTo>
                    <a:pt x="2403393" y="15816"/>
                  </a:lnTo>
                  <a:lnTo>
                    <a:pt x="2386228" y="4243"/>
                  </a:lnTo>
                  <a:lnTo>
                    <a:pt x="2365209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1610" y="1376095"/>
              <a:ext cx="2383790" cy="1435735"/>
            </a:xfrm>
            <a:custGeom>
              <a:avLst/>
              <a:gdLst/>
              <a:ahLst/>
              <a:cxnLst/>
              <a:rect l="l" t="t" r="r" b="b"/>
              <a:pathLst>
                <a:path w="2383790" h="1435735">
                  <a:moveTo>
                    <a:pt x="2383209" y="0"/>
                  </a:moveTo>
                  <a:lnTo>
                    <a:pt x="0" y="0"/>
                  </a:lnTo>
                  <a:lnTo>
                    <a:pt x="0" y="1399718"/>
                  </a:lnTo>
                  <a:lnTo>
                    <a:pt x="2829" y="1413731"/>
                  </a:lnTo>
                  <a:lnTo>
                    <a:pt x="10544" y="1425174"/>
                  </a:lnTo>
                  <a:lnTo>
                    <a:pt x="21987" y="1432889"/>
                  </a:lnTo>
                  <a:lnTo>
                    <a:pt x="36000" y="1435718"/>
                  </a:lnTo>
                  <a:lnTo>
                    <a:pt x="2347209" y="1435718"/>
                  </a:lnTo>
                  <a:lnTo>
                    <a:pt x="2361222" y="1432889"/>
                  </a:lnTo>
                  <a:lnTo>
                    <a:pt x="2372665" y="1425174"/>
                  </a:lnTo>
                  <a:lnTo>
                    <a:pt x="2380380" y="1413731"/>
                  </a:lnTo>
                  <a:lnTo>
                    <a:pt x="2383209" y="1399718"/>
                  </a:lnTo>
                  <a:lnTo>
                    <a:pt x="2383209" y="0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218903" y="1151259"/>
            <a:ext cx="1614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sz="1000" b="1" spc="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Intelligent</a:t>
            </a:r>
            <a:r>
              <a:rPr sz="10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0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35" dirty="0">
                <a:solidFill>
                  <a:srgbClr val="FFFFFF"/>
                </a:solidFill>
                <a:latin typeface="Arial"/>
                <a:cs typeface="Arial"/>
              </a:rPr>
              <a:t>(AI)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50196" y="1368923"/>
            <a:ext cx="1864995" cy="134874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33985" indent="-12128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133985" algn="l"/>
              </a:tabLst>
            </a:pPr>
            <a:r>
              <a:rPr sz="900" b="1" spc="-50" dirty="0">
                <a:solidFill>
                  <a:srgbClr val="22373A"/>
                </a:solidFill>
                <a:latin typeface="Arial"/>
                <a:cs typeface="Arial"/>
              </a:rPr>
              <a:t>Senses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Gathers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(input).</a:t>
            </a:r>
            <a:endParaRPr sz="900">
              <a:latin typeface="Arial"/>
              <a:cs typeface="Arial"/>
            </a:endParaRPr>
          </a:p>
          <a:p>
            <a:pPr marL="133985" marR="443230" indent="-121920">
              <a:lnSpc>
                <a:spcPct val="116700"/>
              </a:lnSpc>
              <a:spcBef>
                <a:spcPts val="395"/>
              </a:spcBef>
              <a:buFont typeface="Arial"/>
              <a:buChar char="•"/>
              <a:tabLst>
                <a:tab pos="133985" algn="l"/>
              </a:tabLst>
            </a:pPr>
            <a:r>
              <a:rPr sz="900" b="1" spc="-55" dirty="0">
                <a:solidFill>
                  <a:srgbClr val="22373A"/>
                </a:solidFill>
                <a:latin typeface="Arial"/>
                <a:cs typeface="Arial"/>
              </a:rPr>
              <a:t>Reasons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90" dirty="0">
                <a:solidFill>
                  <a:srgbClr val="22373A"/>
                </a:solidFill>
                <a:latin typeface="Arial"/>
                <a:cs typeface="Arial"/>
              </a:rPr>
              <a:t>&amp;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Learns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Finds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patterns/adapts.</a:t>
            </a:r>
            <a:endParaRPr sz="900">
              <a:latin typeface="Arial"/>
              <a:cs typeface="Arial"/>
            </a:endParaRPr>
          </a:p>
          <a:p>
            <a:pPr marL="133985" marR="455295" indent="-121920">
              <a:lnSpc>
                <a:spcPct val="116700"/>
              </a:lnSpc>
              <a:spcBef>
                <a:spcPts val="400"/>
              </a:spcBef>
              <a:buFont typeface="Arial"/>
              <a:buChar char="•"/>
              <a:tabLst>
                <a:tab pos="133985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Decides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Chooses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actions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autonomously.</a:t>
            </a:r>
            <a:endParaRPr sz="900">
              <a:latin typeface="Arial"/>
              <a:cs typeface="Arial"/>
            </a:endParaRPr>
          </a:p>
          <a:p>
            <a:pPr marL="133985" marR="5080" indent="-121920">
              <a:lnSpc>
                <a:spcPct val="116700"/>
              </a:lnSpc>
              <a:spcBef>
                <a:spcPts val="400"/>
              </a:spcBef>
              <a:buFont typeface="Arial"/>
              <a:buChar char="•"/>
              <a:tabLst>
                <a:tab pos="133985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Example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Spotify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recommendation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engine.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5162" y="3096300"/>
            <a:ext cx="179705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45507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30018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215">
              <a:lnSpc>
                <a:spcPts val="980"/>
              </a:lnSpc>
            </a:pPr>
            <a:fld id="{81D60167-4931-47E6-BA6A-407CBD079E47}" type="slidenum">
              <a:rPr dirty="0"/>
              <a:t>3</a:t>
            </a:fld>
            <a:r>
              <a:rPr spc="70" dirty="0"/>
              <a:t> </a:t>
            </a:r>
            <a:r>
              <a:rPr spc="240" dirty="0"/>
              <a:t>/</a:t>
            </a:r>
            <a:r>
              <a:rPr spc="70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45" dirty="0"/>
              <a:t> </a:t>
            </a:r>
            <a:r>
              <a:rPr dirty="0"/>
              <a:t>Three</a:t>
            </a:r>
            <a:r>
              <a:rPr spc="45" dirty="0"/>
              <a:t> </a:t>
            </a:r>
            <a:r>
              <a:rPr spc="-45" dirty="0"/>
              <a:t>Categories</a:t>
            </a:r>
            <a:r>
              <a:rPr spc="45" dirty="0"/>
              <a:t> </a:t>
            </a:r>
            <a:r>
              <a:rPr dirty="0"/>
              <a:t>of</a:t>
            </a:r>
            <a:r>
              <a:rPr spc="45" dirty="0"/>
              <a:t> </a:t>
            </a:r>
            <a:r>
              <a:rPr spc="-25" dirty="0"/>
              <a:t>AI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5205" y="1439931"/>
            <a:ext cx="532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Weak</a:t>
            </a:r>
            <a:r>
              <a:rPr sz="10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22373A"/>
                </a:solidFill>
                <a:latin typeface="Arial"/>
                <a:cs typeface="Arial"/>
              </a:rPr>
              <a:t>AI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1415" y="1427624"/>
            <a:ext cx="9709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solidFill>
                  <a:srgbClr val="22373A"/>
                </a:solidFill>
                <a:latin typeface="Arial"/>
                <a:cs typeface="Arial"/>
              </a:rPr>
              <a:t>Strong</a:t>
            </a:r>
            <a:r>
              <a:rPr sz="1000" b="1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sz="1000" b="1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(AGI)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95723" y="1427624"/>
            <a:ext cx="5416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solidFill>
                  <a:srgbClr val="22373A"/>
                </a:solidFill>
                <a:latin typeface="Arial"/>
                <a:cs typeface="Arial"/>
              </a:rPr>
              <a:t>Super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22373A"/>
                </a:solidFill>
                <a:latin typeface="Arial"/>
                <a:cs typeface="Arial"/>
              </a:rPr>
              <a:t>AI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0082" y="1690684"/>
            <a:ext cx="522605" cy="258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 marR="5080" indent="-92075">
              <a:lnSpc>
                <a:spcPct val="109100"/>
              </a:lnSpc>
              <a:spcBef>
                <a:spcPts val="100"/>
              </a:spcBef>
            </a:pPr>
            <a:r>
              <a:rPr sz="700" dirty="0">
                <a:solidFill>
                  <a:srgbClr val="22373A"/>
                </a:solidFill>
                <a:latin typeface="Arial"/>
                <a:cs typeface="Arial"/>
              </a:rPr>
              <a:t>Narrow</a:t>
            </a:r>
            <a:r>
              <a:rPr sz="7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700" spc="-30" dirty="0">
                <a:solidFill>
                  <a:srgbClr val="22373A"/>
                </a:solidFill>
                <a:latin typeface="Arial"/>
                <a:cs typeface="Arial"/>
              </a:rPr>
              <a:t>Task</a:t>
            </a:r>
            <a:r>
              <a:rPr sz="700" spc="5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Arial"/>
                <a:cs typeface="Arial"/>
              </a:rPr>
              <a:t>(Today)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96083" y="1710013"/>
            <a:ext cx="541655" cy="258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185" marR="5080" indent="-71120">
              <a:lnSpc>
                <a:spcPct val="109100"/>
              </a:lnSpc>
              <a:spcBef>
                <a:spcPts val="100"/>
              </a:spcBef>
            </a:pPr>
            <a:r>
              <a:rPr sz="700" dirty="0">
                <a:solidFill>
                  <a:srgbClr val="22373A"/>
                </a:solidFill>
                <a:latin typeface="Arial"/>
                <a:cs typeface="Arial"/>
              </a:rPr>
              <a:t>Human</a:t>
            </a:r>
            <a:r>
              <a:rPr sz="7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700" spc="-30" dirty="0">
                <a:solidFill>
                  <a:srgbClr val="22373A"/>
                </a:solidFill>
                <a:latin typeface="Arial"/>
                <a:cs typeface="Arial"/>
              </a:rPr>
              <a:t>Level</a:t>
            </a:r>
            <a:r>
              <a:rPr sz="700" spc="5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Arial"/>
                <a:cs typeface="Arial"/>
              </a:rPr>
              <a:t>(Future?)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77994" y="1702965"/>
            <a:ext cx="577215" cy="258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 marR="5080" indent="-19685">
              <a:lnSpc>
                <a:spcPct val="109100"/>
              </a:lnSpc>
              <a:spcBef>
                <a:spcPts val="100"/>
              </a:spcBef>
            </a:pPr>
            <a:r>
              <a:rPr sz="700" dirty="0">
                <a:solidFill>
                  <a:srgbClr val="22373A"/>
                </a:solidFill>
                <a:latin typeface="Arial"/>
                <a:cs typeface="Arial"/>
              </a:rPr>
              <a:t>Super</a:t>
            </a:r>
            <a:r>
              <a:rPr sz="700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Arial"/>
                <a:cs typeface="Arial"/>
              </a:rPr>
              <a:t>Natural</a:t>
            </a:r>
            <a:r>
              <a:rPr sz="700" spc="5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22373A"/>
                </a:solidFill>
                <a:latin typeface="Arial"/>
                <a:cs typeface="Arial"/>
              </a:rPr>
              <a:t>(Theoretical)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69417" y="1504861"/>
            <a:ext cx="1080135" cy="60960"/>
            <a:chOff x="1269417" y="1504861"/>
            <a:chExt cx="1080135" cy="60960"/>
          </a:xfrm>
        </p:grpSpPr>
        <p:sp>
          <p:nvSpPr>
            <p:cNvPr id="10" name="object 10"/>
            <p:cNvSpPr/>
            <p:nvPr/>
          </p:nvSpPr>
          <p:spPr>
            <a:xfrm>
              <a:off x="1269417" y="1535226"/>
              <a:ext cx="1071245" cy="0"/>
            </a:xfrm>
            <a:custGeom>
              <a:avLst/>
              <a:gdLst/>
              <a:ahLst/>
              <a:cxnLst/>
              <a:rect l="l" t="t" r="r" b="b"/>
              <a:pathLst>
                <a:path w="1071245">
                  <a:moveTo>
                    <a:pt x="0" y="0"/>
                  </a:moveTo>
                  <a:lnTo>
                    <a:pt x="1071030" y="0"/>
                  </a:lnTo>
                </a:path>
              </a:pathLst>
            </a:custGeom>
            <a:ln w="10122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20709" y="1508909"/>
              <a:ext cx="24765" cy="52705"/>
            </a:xfrm>
            <a:custGeom>
              <a:avLst/>
              <a:gdLst/>
              <a:ahLst/>
              <a:cxnLst/>
              <a:rect l="l" t="t" r="r" b="b"/>
              <a:pathLst>
                <a:path w="24764" h="52705">
                  <a:moveTo>
                    <a:pt x="0" y="0"/>
                  </a:moveTo>
                  <a:lnTo>
                    <a:pt x="3855" y="8044"/>
                  </a:lnTo>
                  <a:lnTo>
                    <a:pt x="11102" y="16242"/>
                  </a:lnTo>
                  <a:lnTo>
                    <a:pt x="18966" y="22898"/>
                  </a:lnTo>
                  <a:lnTo>
                    <a:pt x="24671" y="26316"/>
                  </a:lnTo>
                  <a:lnTo>
                    <a:pt x="18966" y="29734"/>
                  </a:lnTo>
                  <a:lnTo>
                    <a:pt x="11102" y="36391"/>
                  </a:lnTo>
                  <a:lnTo>
                    <a:pt x="3855" y="44589"/>
                  </a:lnTo>
                  <a:lnTo>
                    <a:pt x="0" y="52633"/>
                  </a:lnTo>
                </a:path>
              </a:pathLst>
            </a:custGeom>
            <a:ln w="8097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383750" y="1504861"/>
            <a:ext cx="1080135" cy="60960"/>
            <a:chOff x="3383750" y="1504861"/>
            <a:chExt cx="1080135" cy="60960"/>
          </a:xfrm>
        </p:grpSpPr>
        <p:sp>
          <p:nvSpPr>
            <p:cNvPr id="13" name="object 13"/>
            <p:cNvSpPr/>
            <p:nvPr/>
          </p:nvSpPr>
          <p:spPr>
            <a:xfrm>
              <a:off x="3383750" y="1535226"/>
              <a:ext cx="1071245" cy="0"/>
            </a:xfrm>
            <a:custGeom>
              <a:avLst/>
              <a:gdLst/>
              <a:ahLst/>
              <a:cxnLst/>
              <a:rect l="l" t="t" r="r" b="b"/>
              <a:pathLst>
                <a:path w="1071245">
                  <a:moveTo>
                    <a:pt x="0" y="0"/>
                  </a:moveTo>
                  <a:lnTo>
                    <a:pt x="1071030" y="0"/>
                  </a:lnTo>
                </a:path>
              </a:pathLst>
            </a:custGeom>
            <a:ln w="10122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35043" y="1508909"/>
              <a:ext cx="24765" cy="52705"/>
            </a:xfrm>
            <a:custGeom>
              <a:avLst/>
              <a:gdLst/>
              <a:ahLst/>
              <a:cxnLst/>
              <a:rect l="l" t="t" r="r" b="b"/>
              <a:pathLst>
                <a:path w="24764" h="52705">
                  <a:moveTo>
                    <a:pt x="0" y="0"/>
                  </a:moveTo>
                  <a:lnTo>
                    <a:pt x="3855" y="8044"/>
                  </a:lnTo>
                  <a:lnTo>
                    <a:pt x="11102" y="16242"/>
                  </a:lnTo>
                  <a:lnTo>
                    <a:pt x="18966" y="22898"/>
                  </a:lnTo>
                  <a:lnTo>
                    <a:pt x="24671" y="26316"/>
                  </a:lnTo>
                  <a:lnTo>
                    <a:pt x="18966" y="29734"/>
                  </a:lnTo>
                  <a:lnTo>
                    <a:pt x="11102" y="36391"/>
                  </a:lnTo>
                  <a:lnTo>
                    <a:pt x="3855" y="44589"/>
                  </a:lnTo>
                  <a:lnTo>
                    <a:pt x="0" y="52633"/>
                  </a:lnTo>
                </a:path>
              </a:pathLst>
            </a:custGeom>
            <a:ln w="8097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15162" y="3096300"/>
            <a:ext cx="179705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45507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30018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215">
              <a:lnSpc>
                <a:spcPts val="980"/>
              </a:lnSpc>
            </a:pPr>
            <a:fld id="{81D60167-4931-47E6-BA6A-407CBD079E47}" type="slidenum">
              <a:rPr dirty="0"/>
              <a:t>4</a:t>
            </a:fld>
            <a:r>
              <a:rPr spc="70" dirty="0"/>
              <a:t> </a:t>
            </a:r>
            <a:r>
              <a:rPr spc="240" dirty="0"/>
              <a:t>/</a:t>
            </a:r>
            <a:r>
              <a:rPr spc="70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1.</a:t>
            </a:r>
            <a:r>
              <a:rPr spc="225" dirty="0"/>
              <a:t> </a:t>
            </a:r>
            <a:r>
              <a:rPr dirty="0"/>
              <a:t>Weak</a:t>
            </a:r>
            <a:r>
              <a:rPr spc="85" dirty="0"/>
              <a:t> </a:t>
            </a:r>
            <a:r>
              <a:rPr dirty="0"/>
              <a:t>AI</a:t>
            </a:r>
            <a:r>
              <a:rPr spc="90" dirty="0"/>
              <a:t> </a:t>
            </a:r>
            <a:r>
              <a:rPr dirty="0"/>
              <a:t>(Narrow</a:t>
            </a:r>
            <a:r>
              <a:rPr spc="80" dirty="0"/>
              <a:t> </a:t>
            </a:r>
            <a:r>
              <a:rPr spc="30" dirty="0"/>
              <a:t>AI)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658290"/>
            <a:ext cx="5040630" cy="692785"/>
            <a:chOff x="359994" y="658290"/>
            <a:chExt cx="5040630" cy="692785"/>
          </a:xfrm>
        </p:grpSpPr>
        <p:sp>
          <p:nvSpPr>
            <p:cNvPr id="4" name="object 4"/>
            <p:cNvSpPr/>
            <p:nvPr/>
          </p:nvSpPr>
          <p:spPr>
            <a:xfrm>
              <a:off x="359994" y="658290"/>
              <a:ext cx="5040630" cy="692785"/>
            </a:xfrm>
            <a:custGeom>
              <a:avLst/>
              <a:gdLst/>
              <a:ahLst/>
              <a:cxnLst/>
              <a:rect l="l" t="t" r="r" b="b"/>
              <a:pathLst>
                <a:path w="5040630" h="692785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638341"/>
                  </a:lnTo>
                  <a:lnTo>
                    <a:pt x="4243" y="659360"/>
                  </a:lnTo>
                  <a:lnTo>
                    <a:pt x="15816" y="676525"/>
                  </a:lnTo>
                  <a:lnTo>
                    <a:pt x="32980" y="688097"/>
                  </a:lnTo>
                  <a:lnTo>
                    <a:pt x="54000" y="692341"/>
                  </a:lnTo>
                  <a:lnTo>
                    <a:pt x="4986064" y="692341"/>
                  </a:lnTo>
                  <a:lnTo>
                    <a:pt x="5007084" y="688097"/>
                  </a:lnTo>
                  <a:lnTo>
                    <a:pt x="5024248" y="676525"/>
                  </a:lnTo>
                  <a:lnTo>
                    <a:pt x="5035821" y="659360"/>
                  </a:lnTo>
                  <a:lnTo>
                    <a:pt x="5040064" y="638341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7994" y="854157"/>
              <a:ext cx="5004435" cy="478790"/>
            </a:xfrm>
            <a:custGeom>
              <a:avLst/>
              <a:gdLst/>
              <a:ahLst/>
              <a:cxnLst/>
              <a:rect l="l" t="t" r="r" b="b"/>
              <a:pathLst>
                <a:path w="5004435" h="478790">
                  <a:moveTo>
                    <a:pt x="5004065" y="0"/>
                  </a:moveTo>
                  <a:lnTo>
                    <a:pt x="0" y="0"/>
                  </a:lnTo>
                  <a:lnTo>
                    <a:pt x="0" y="442474"/>
                  </a:lnTo>
                  <a:lnTo>
                    <a:pt x="2829" y="456487"/>
                  </a:lnTo>
                  <a:lnTo>
                    <a:pt x="10544" y="467930"/>
                  </a:lnTo>
                  <a:lnTo>
                    <a:pt x="21987" y="475645"/>
                  </a:lnTo>
                  <a:lnTo>
                    <a:pt x="36000" y="478474"/>
                  </a:lnTo>
                  <a:lnTo>
                    <a:pt x="4968064" y="478474"/>
                  </a:lnTo>
                  <a:lnTo>
                    <a:pt x="4982077" y="475645"/>
                  </a:lnTo>
                  <a:lnTo>
                    <a:pt x="4993521" y="467930"/>
                  </a:lnTo>
                  <a:lnTo>
                    <a:pt x="5001236" y="456487"/>
                  </a:lnTo>
                  <a:lnTo>
                    <a:pt x="5004065" y="442474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018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Definition</a:t>
            </a:r>
          </a:p>
          <a:p>
            <a:pPr marL="210185" marR="5080">
              <a:lnSpc>
                <a:spcPct val="114599"/>
              </a:lnSpc>
              <a:spcBef>
                <a:spcPts val="590"/>
              </a:spcBef>
            </a:pP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Designed</a:t>
            </a:r>
            <a:r>
              <a:rPr b="0" spc="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b="0" spc="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trained</a:t>
            </a:r>
            <a:r>
              <a:rPr b="0" spc="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b="0" spc="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perform</a:t>
            </a:r>
            <a:r>
              <a:rPr b="0" spc="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000000"/>
                </a:solidFill>
              </a:rPr>
              <a:t>one</a:t>
            </a:r>
            <a:r>
              <a:rPr spc="55" dirty="0">
                <a:solidFill>
                  <a:srgbClr val="000000"/>
                </a:solidFill>
              </a:rPr>
              <a:t> </a:t>
            </a:r>
            <a:r>
              <a:rPr spc="-40" dirty="0">
                <a:solidFill>
                  <a:srgbClr val="000000"/>
                </a:solidFill>
              </a:rPr>
              <a:t>specific</a:t>
            </a:r>
            <a:r>
              <a:rPr spc="5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task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.</a:t>
            </a:r>
            <a:r>
              <a:rPr b="0" spc="1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It</a:t>
            </a:r>
            <a:r>
              <a:rPr b="0" spc="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operates</a:t>
            </a:r>
            <a:r>
              <a:rPr b="0" spc="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within</a:t>
            </a:r>
            <a:r>
              <a:rPr b="0" spc="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b="0" spc="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limited</a:t>
            </a:r>
            <a:r>
              <a:rPr b="0" spc="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range and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lacks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consciousness.</a:t>
            </a: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b="0" spc="-1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pc="-45" dirty="0">
                <a:solidFill>
                  <a:srgbClr val="22373A"/>
                </a:solidFill>
              </a:rPr>
              <a:t>Examples</a:t>
            </a:r>
            <a:r>
              <a:rPr spc="55" dirty="0">
                <a:solidFill>
                  <a:srgbClr val="22373A"/>
                </a:solidFill>
              </a:rPr>
              <a:t> </a:t>
            </a:r>
            <a:r>
              <a:rPr dirty="0">
                <a:solidFill>
                  <a:srgbClr val="22373A"/>
                </a:solidFill>
              </a:rPr>
              <a:t>(All</a:t>
            </a:r>
            <a:r>
              <a:rPr spc="55" dirty="0">
                <a:solidFill>
                  <a:srgbClr val="22373A"/>
                </a:solidFill>
              </a:rPr>
              <a:t> </a:t>
            </a:r>
            <a:r>
              <a:rPr spc="-10" dirty="0">
                <a:solidFill>
                  <a:srgbClr val="22373A"/>
                </a:solidFill>
              </a:rPr>
              <a:t>Current</a:t>
            </a:r>
            <a:r>
              <a:rPr spc="60" dirty="0">
                <a:solidFill>
                  <a:srgbClr val="22373A"/>
                </a:solidFill>
              </a:rPr>
              <a:t> </a:t>
            </a:r>
            <a:r>
              <a:rPr spc="-20" dirty="0">
                <a:solidFill>
                  <a:srgbClr val="22373A"/>
                </a:solidFill>
              </a:rPr>
              <a:t>AI):</a:t>
            </a:r>
          </a:p>
          <a:p>
            <a:pPr marL="264160" indent="-125095">
              <a:lnSpc>
                <a:spcPct val="100000"/>
              </a:lnSpc>
              <a:spcBef>
                <a:spcPts val="969"/>
              </a:spcBef>
              <a:buFont typeface="Arial"/>
              <a:buChar char="•"/>
              <a:tabLst>
                <a:tab pos="264160" algn="l"/>
              </a:tabLst>
            </a:pPr>
            <a:r>
              <a:rPr dirty="0">
                <a:solidFill>
                  <a:srgbClr val="22373A"/>
                </a:solidFill>
              </a:rPr>
              <a:t>Virtual</a:t>
            </a:r>
            <a:r>
              <a:rPr spc="25" dirty="0">
                <a:solidFill>
                  <a:srgbClr val="22373A"/>
                </a:solidFill>
              </a:rPr>
              <a:t> </a:t>
            </a:r>
            <a:r>
              <a:rPr spc="-40" dirty="0">
                <a:solidFill>
                  <a:srgbClr val="22373A"/>
                </a:solidFill>
              </a:rPr>
              <a:t>Assistants</a:t>
            </a:r>
            <a:r>
              <a:rPr b="0" spc="-4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b="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22373A"/>
                </a:solidFill>
                <a:latin typeface="Arial"/>
                <a:cs typeface="Arial"/>
              </a:rPr>
              <a:t>Siri,</a:t>
            </a:r>
            <a:r>
              <a:rPr b="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22373A"/>
                </a:solidFill>
                <a:latin typeface="Arial"/>
                <a:cs typeface="Arial"/>
              </a:rPr>
              <a:t>Alexa.</a:t>
            </a:r>
          </a:p>
          <a:p>
            <a:pPr marL="264160" indent="-125095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264160" algn="l"/>
              </a:tabLst>
            </a:pPr>
            <a:r>
              <a:rPr spc="-40" dirty="0">
                <a:solidFill>
                  <a:srgbClr val="22373A"/>
                </a:solidFill>
              </a:rPr>
              <a:t>Recommenders</a:t>
            </a:r>
            <a:r>
              <a:rPr b="0" spc="-4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b="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22373A"/>
                </a:solidFill>
                <a:latin typeface="Arial"/>
                <a:cs typeface="Arial"/>
              </a:rPr>
              <a:t>Netflix, </a:t>
            </a:r>
            <a:r>
              <a:rPr b="0" spc="-10" dirty="0">
                <a:solidFill>
                  <a:srgbClr val="22373A"/>
                </a:solidFill>
                <a:latin typeface="Arial"/>
                <a:cs typeface="Arial"/>
              </a:rPr>
              <a:t>Spotify.</a:t>
            </a:r>
          </a:p>
          <a:p>
            <a:pPr marL="264160" indent="-125095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264160" algn="l"/>
              </a:tabLst>
            </a:pPr>
            <a:r>
              <a:rPr spc="-30" dirty="0">
                <a:solidFill>
                  <a:srgbClr val="22373A"/>
                </a:solidFill>
              </a:rPr>
              <a:t>Self-</a:t>
            </a:r>
            <a:r>
              <a:rPr spc="-10" dirty="0">
                <a:solidFill>
                  <a:srgbClr val="22373A"/>
                </a:solidFill>
              </a:rPr>
              <a:t>Driving</a:t>
            </a:r>
            <a:r>
              <a:rPr spc="25" dirty="0">
                <a:solidFill>
                  <a:srgbClr val="22373A"/>
                </a:solidFill>
              </a:rPr>
              <a:t> </a:t>
            </a:r>
            <a:r>
              <a:rPr spc="-25" dirty="0">
                <a:solidFill>
                  <a:srgbClr val="22373A"/>
                </a:solidFill>
              </a:rPr>
              <a:t>Cars</a:t>
            </a:r>
            <a:r>
              <a:rPr b="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b="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30" dirty="0">
                <a:solidFill>
                  <a:srgbClr val="22373A"/>
                </a:solidFill>
                <a:latin typeface="Arial"/>
                <a:cs typeface="Arial"/>
              </a:rPr>
              <a:t>Great</a:t>
            </a:r>
            <a:r>
              <a:rPr b="0" dirty="0">
                <a:solidFill>
                  <a:srgbClr val="22373A"/>
                </a:solidFill>
                <a:latin typeface="Arial"/>
                <a:cs typeface="Arial"/>
              </a:rPr>
              <a:t> at</a:t>
            </a:r>
            <a:r>
              <a:rPr b="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22373A"/>
                </a:solidFill>
                <a:latin typeface="Arial"/>
                <a:cs typeface="Arial"/>
              </a:rPr>
              <a:t>driving,</a:t>
            </a:r>
            <a:r>
              <a:rPr b="0" dirty="0">
                <a:solidFill>
                  <a:srgbClr val="22373A"/>
                </a:solidFill>
                <a:latin typeface="Arial"/>
                <a:cs typeface="Arial"/>
              </a:rPr>
              <a:t> but can’t </a:t>
            </a:r>
            <a:r>
              <a:rPr b="0" spc="-25" dirty="0">
                <a:solidFill>
                  <a:srgbClr val="22373A"/>
                </a:solidFill>
                <a:latin typeface="Arial"/>
                <a:cs typeface="Arial"/>
              </a:rPr>
              <a:t>play</a:t>
            </a:r>
            <a:r>
              <a:rPr b="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22373A"/>
                </a:solidFill>
                <a:latin typeface="Arial"/>
                <a:cs typeface="Arial"/>
              </a:rPr>
              <a:t>Chess.</a:t>
            </a:r>
          </a:p>
          <a:p>
            <a:pPr marL="264160" indent="-125095">
              <a:lnSpc>
                <a:spcPct val="100000"/>
              </a:lnSpc>
              <a:spcBef>
                <a:spcPts val="470"/>
              </a:spcBef>
              <a:buFont typeface="Arial"/>
              <a:buChar char="•"/>
              <a:tabLst>
                <a:tab pos="264160" algn="l"/>
              </a:tabLst>
            </a:pPr>
            <a:r>
              <a:rPr dirty="0">
                <a:solidFill>
                  <a:srgbClr val="22373A"/>
                </a:solidFill>
              </a:rPr>
              <a:t>ChatGPT</a:t>
            </a:r>
            <a:r>
              <a:rPr b="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b="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30" dirty="0">
                <a:solidFill>
                  <a:srgbClr val="22373A"/>
                </a:solidFill>
                <a:latin typeface="Arial"/>
                <a:cs typeface="Arial"/>
              </a:rPr>
              <a:t>Great</a:t>
            </a:r>
            <a:r>
              <a:rPr b="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b="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22373A"/>
                </a:solidFill>
                <a:latin typeface="Arial"/>
                <a:cs typeface="Arial"/>
              </a:rPr>
              <a:t>text,</a:t>
            </a:r>
            <a:r>
              <a:rPr b="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b="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20" dirty="0">
                <a:solidFill>
                  <a:srgbClr val="22373A"/>
                </a:solidFill>
                <a:latin typeface="Arial"/>
                <a:cs typeface="Arial"/>
              </a:rPr>
              <a:t>doesn’t</a:t>
            </a:r>
            <a:r>
              <a:rPr b="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22373A"/>
                </a:solidFill>
                <a:latin typeface="Arial"/>
                <a:cs typeface="Arial"/>
              </a:rPr>
              <a:t>”know”</a:t>
            </a:r>
            <a:r>
              <a:rPr b="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b="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22373A"/>
                </a:solidFill>
                <a:latin typeface="Arial"/>
                <a:cs typeface="Arial"/>
              </a:rPr>
              <a:t>it’s</a:t>
            </a:r>
            <a:r>
              <a:rPr b="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22373A"/>
                </a:solidFill>
                <a:latin typeface="Arial"/>
                <a:cs typeface="Arial"/>
              </a:rPr>
              <a:t>saying.</a:t>
            </a: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b="0" spc="-10" dirty="0">
              <a:solidFill>
                <a:srgbClr val="22373A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pc="-10" dirty="0">
                <a:solidFill>
                  <a:srgbClr val="22373A"/>
                </a:solidFill>
              </a:rPr>
              <a:t>Status:</a:t>
            </a:r>
            <a:r>
              <a:rPr spc="60" dirty="0">
                <a:solidFill>
                  <a:srgbClr val="22373A"/>
                </a:solidFill>
              </a:rPr>
              <a:t> </a:t>
            </a:r>
            <a:r>
              <a:rPr spc="-40" dirty="0">
                <a:solidFill>
                  <a:srgbClr val="218B21"/>
                </a:solidFill>
              </a:rPr>
              <a:t>Exists</a:t>
            </a:r>
            <a:r>
              <a:rPr dirty="0">
                <a:solidFill>
                  <a:srgbClr val="218B21"/>
                </a:solidFill>
              </a:rPr>
              <a:t> </a:t>
            </a:r>
            <a:r>
              <a:rPr spc="-10" dirty="0">
                <a:solidFill>
                  <a:srgbClr val="218B21"/>
                </a:solidFill>
              </a:rPr>
              <a:t>Today.</a:t>
            </a:r>
          </a:p>
        </p:txBody>
      </p:sp>
      <p:sp>
        <p:nvSpPr>
          <p:cNvPr id="7" name="object 7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5162" y="3096300"/>
            <a:ext cx="179705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45507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30018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215">
              <a:lnSpc>
                <a:spcPts val="980"/>
              </a:lnSpc>
            </a:pPr>
            <a:fld id="{81D60167-4931-47E6-BA6A-407CBD079E47}" type="slidenum">
              <a:rPr dirty="0"/>
              <a:t>5</a:t>
            </a:fld>
            <a:r>
              <a:rPr spc="70" dirty="0"/>
              <a:t> </a:t>
            </a:r>
            <a:r>
              <a:rPr spc="240" dirty="0"/>
              <a:t>/</a:t>
            </a:r>
            <a:r>
              <a:rPr spc="70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2.</a:t>
            </a:r>
            <a:r>
              <a:rPr spc="235" dirty="0"/>
              <a:t> </a:t>
            </a:r>
            <a:r>
              <a:rPr spc="-20" dirty="0"/>
              <a:t>Strong</a:t>
            </a:r>
            <a:r>
              <a:rPr spc="100" dirty="0"/>
              <a:t> </a:t>
            </a:r>
            <a:r>
              <a:rPr dirty="0"/>
              <a:t>AI</a:t>
            </a:r>
            <a:r>
              <a:rPr spc="90" dirty="0"/>
              <a:t> </a:t>
            </a:r>
            <a:r>
              <a:rPr spc="-20" dirty="0"/>
              <a:t>(General</a:t>
            </a:r>
            <a:r>
              <a:rPr spc="95" dirty="0"/>
              <a:t> </a:t>
            </a:r>
            <a:r>
              <a:rPr dirty="0"/>
              <a:t>AI</a:t>
            </a:r>
            <a:r>
              <a:rPr spc="100" dirty="0"/>
              <a:t> </a:t>
            </a:r>
            <a:r>
              <a:rPr spc="315" dirty="0"/>
              <a:t>/</a:t>
            </a:r>
            <a:r>
              <a:rPr spc="90" dirty="0"/>
              <a:t> </a:t>
            </a:r>
            <a:r>
              <a:rPr spc="-20" dirty="0"/>
              <a:t>AGI)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989783"/>
            <a:ext cx="5040630" cy="717550"/>
            <a:chOff x="359994" y="989783"/>
            <a:chExt cx="5040630" cy="717550"/>
          </a:xfrm>
        </p:grpSpPr>
        <p:sp>
          <p:nvSpPr>
            <p:cNvPr id="4" name="object 4"/>
            <p:cNvSpPr/>
            <p:nvPr/>
          </p:nvSpPr>
          <p:spPr>
            <a:xfrm>
              <a:off x="359994" y="989783"/>
              <a:ext cx="5040630" cy="717550"/>
            </a:xfrm>
            <a:custGeom>
              <a:avLst/>
              <a:gdLst/>
              <a:ahLst/>
              <a:cxnLst/>
              <a:rect l="l" t="t" r="r" b="b"/>
              <a:pathLst>
                <a:path w="5040630" h="717550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662943"/>
                  </a:lnTo>
                  <a:lnTo>
                    <a:pt x="4243" y="683963"/>
                  </a:lnTo>
                  <a:lnTo>
                    <a:pt x="15816" y="701127"/>
                  </a:lnTo>
                  <a:lnTo>
                    <a:pt x="32980" y="712700"/>
                  </a:lnTo>
                  <a:lnTo>
                    <a:pt x="54000" y="716943"/>
                  </a:lnTo>
                  <a:lnTo>
                    <a:pt x="4986064" y="716943"/>
                  </a:lnTo>
                  <a:lnTo>
                    <a:pt x="5007084" y="712700"/>
                  </a:lnTo>
                  <a:lnTo>
                    <a:pt x="5024248" y="701127"/>
                  </a:lnTo>
                  <a:lnTo>
                    <a:pt x="5035821" y="683963"/>
                  </a:lnTo>
                  <a:lnTo>
                    <a:pt x="5040064" y="662943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7994" y="1185650"/>
              <a:ext cx="5004435" cy="503555"/>
            </a:xfrm>
            <a:custGeom>
              <a:avLst/>
              <a:gdLst/>
              <a:ahLst/>
              <a:cxnLst/>
              <a:rect l="l" t="t" r="r" b="b"/>
              <a:pathLst>
                <a:path w="5004435" h="503555">
                  <a:moveTo>
                    <a:pt x="5004065" y="0"/>
                  </a:moveTo>
                  <a:lnTo>
                    <a:pt x="0" y="0"/>
                  </a:lnTo>
                  <a:lnTo>
                    <a:pt x="0" y="467077"/>
                  </a:lnTo>
                  <a:lnTo>
                    <a:pt x="2829" y="481090"/>
                  </a:lnTo>
                  <a:lnTo>
                    <a:pt x="10544" y="492533"/>
                  </a:lnTo>
                  <a:lnTo>
                    <a:pt x="21987" y="500248"/>
                  </a:lnTo>
                  <a:lnTo>
                    <a:pt x="36000" y="503077"/>
                  </a:lnTo>
                  <a:lnTo>
                    <a:pt x="4968064" y="503077"/>
                  </a:lnTo>
                  <a:lnTo>
                    <a:pt x="4982077" y="500248"/>
                  </a:lnTo>
                  <a:lnTo>
                    <a:pt x="4993521" y="492533"/>
                  </a:lnTo>
                  <a:lnTo>
                    <a:pt x="5001236" y="481090"/>
                  </a:lnTo>
                  <a:lnTo>
                    <a:pt x="5004065" y="467077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43560" rIns="0" bIns="0" rtlCol="0">
            <a:spAutoFit/>
          </a:bodyPr>
          <a:lstStyle/>
          <a:p>
            <a:pPr marL="21018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Definition</a:t>
            </a:r>
          </a:p>
          <a:p>
            <a:pPr marL="210185" marR="5080">
              <a:lnSpc>
                <a:spcPct val="114599"/>
              </a:lnSpc>
              <a:spcBef>
                <a:spcPts val="590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b="0" spc="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theoretical</a:t>
            </a:r>
            <a:r>
              <a:rPr b="0" spc="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form</a:t>
            </a:r>
            <a:r>
              <a:rPr b="0" spc="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b="0" spc="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AI</a:t>
            </a:r>
            <a:r>
              <a:rPr b="0" spc="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that</a:t>
            </a:r>
            <a:r>
              <a:rPr b="0" spc="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95" dirty="0">
                <a:solidFill>
                  <a:srgbClr val="000000"/>
                </a:solidFill>
                <a:latin typeface="Arial"/>
                <a:cs typeface="Arial"/>
              </a:rPr>
              <a:t>possesses</a:t>
            </a:r>
            <a:r>
              <a:rPr b="0" spc="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pc="-50" dirty="0">
                <a:solidFill>
                  <a:srgbClr val="000000"/>
                </a:solidFill>
              </a:rPr>
              <a:t>human-</a:t>
            </a:r>
            <a:r>
              <a:rPr spc="-10" dirty="0">
                <a:solidFill>
                  <a:srgbClr val="000000"/>
                </a:solidFill>
              </a:rPr>
              <a:t>level</a:t>
            </a:r>
            <a:r>
              <a:rPr spc="11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intelligence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.</a:t>
            </a:r>
            <a:r>
              <a:rPr b="0" spc="2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It</a:t>
            </a:r>
            <a:r>
              <a:rPr b="0" spc="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can</a:t>
            </a:r>
            <a:r>
              <a:rPr b="0" spc="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understand, 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learn,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apply</a:t>
            </a:r>
            <a:r>
              <a:rPr b="0" spc="-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knowledge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 to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i="1" spc="-10" dirty="0">
                <a:solidFill>
                  <a:srgbClr val="000000"/>
                </a:solidFill>
                <a:latin typeface="Arial"/>
                <a:cs typeface="Arial"/>
              </a:rPr>
              <a:t>any</a:t>
            </a:r>
            <a:r>
              <a:rPr b="0" i="1" spc="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problem.</a:t>
            </a: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b="0" spc="-1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buChar char="•"/>
              <a:tabLst>
                <a:tab pos="264160" algn="l"/>
              </a:tabLst>
            </a:pPr>
            <a:r>
              <a:rPr b="0" spc="-20" dirty="0">
                <a:solidFill>
                  <a:srgbClr val="22373A"/>
                </a:solidFill>
                <a:latin typeface="Arial"/>
                <a:cs typeface="Arial"/>
              </a:rPr>
              <a:t>Would</a:t>
            </a:r>
            <a:r>
              <a:rPr b="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4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b="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65" dirty="0">
                <a:solidFill>
                  <a:srgbClr val="22373A"/>
                </a:solidFill>
                <a:latin typeface="Arial"/>
                <a:cs typeface="Arial"/>
              </a:rPr>
              <a:t>consciousness,</a:t>
            </a:r>
            <a:r>
              <a:rPr b="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35" dirty="0">
                <a:solidFill>
                  <a:srgbClr val="22373A"/>
                </a:solidFill>
                <a:latin typeface="Arial"/>
                <a:cs typeface="Arial"/>
              </a:rPr>
              <a:t>empathy,</a:t>
            </a:r>
            <a:r>
              <a:rPr b="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2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b="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55" dirty="0">
                <a:solidFill>
                  <a:srgbClr val="22373A"/>
                </a:solidFill>
                <a:latin typeface="Arial"/>
                <a:cs typeface="Arial"/>
              </a:rPr>
              <a:t>self-</a:t>
            </a:r>
            <a:r>
              <a:rPr b="0" spc="-10" dirty="0">
                <a:solidFill>
                  <a:srgbClr val="22373A"/>
                </a:solidFill>
                <a:latin typeface="Arial"/>
                <a:cs typeface="Arial"/>
              </a:rPr>
              <a:t>awareness.</a:t>
            </a:r>
          </a:p>
          <a:p>
            <a:pPr marL="264160" indent="-125095">
              <a:lnSpc>
                <a:spcPct val="100000"/>
              </a:lnSpc>
              <a:spcBef>
                <a:spcPts val="475"/>
              </a:spcBef>
              <a:buChar char="•"/>
              <a:tabLst>
                <a:tab pos="264160" algn="l"/>
              </a:tabLst>
            </a:pPr>
            <a:r>
              <a:rPr b="0" spc="-35" dirty="0">
                <a:solidFill>
                  <a:srgbClr val="22373A"/>
                </a:solidFill>
                <a:latin typeface="Arial"/>
                <a:cs typeface="Arial"/>
              </a:rPr>
              <a:t>Indistinguishable</a:t>
            </a:r>
            <a:r>
              <a:rPr b="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22373A"/>
                </a:solidFill>
                <a:latin typeface="Arial"/>
                <a:cs typeface="Arial"/>
              </a:rPr>
              <a:t>from a</a:t>
            </a:r>
            <a:r>
              <a:rPr b="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35" dirty="0">
                <a:solidFill>
                  <a:srgbClr val="22373A"/>
                </a:solidFill>
                <a:latin typeface="Arial"/>
                <a:cs typeface="Arial"/>
              </a:rPr>
              <a:t>human</a:t>
            </a:r>
            <a:r>
              <a:rPr b="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22373A"/>
                </a:solidFill>
                <a:latin typeface="Arial"/>
                <a:cs typeface="Arial"/>
              </a:rPr>
              <a:t>mind.</a:t>
            </a: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b="0" spc="-10" dirty="0">
              <a:solidFill>
                <a:srgbClr val="22373A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pc="-10" dirty="0">
                <a:solidFill>
                  <a:srgbClr val="22373A"/>
                </a:solidFill>
              </a:rPr>
              <a:t>Status:</a:t>
            </a:r>
            <a:r>
              <a:rPr spc="80" dirty="0">
                <a:solidFill>
                  <a:srgbClr val="22373A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Does</a:t>
            </a:r>
            <a:r>
              <a:rPr spc="20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Not</a:t>
            </a:r>
            <a:r>
              <a:rPr spc="20" dirty="0">
                <a:solidFill>
                  <a:srgbClr val="CC0000"/>
                </a:solidFill>
              </a:rPr>
              <a:t> </a:t>
            </a:r>
            <a:r>
              <a:rPr spc="-10" dirty="0">
                <a:solidFill>
                  <a:srgbClr val="CC0000"/>
                </a:solidFill>
              </a:rPr>
              <a:t>Exist</a:t>
            </a:r>
            <a:r>
              <a:rPr spc="20" dirty="0">
                <a:solidFill>
                  <a:srgbClr val="CC0000"/>
                </a:solidFill>
              </a:rPr>
              <a:t> </a:t>
            </a:r>
            <a:r>
              <a:rPr spc="-20" dirty="0">
                <a:solidFill>
                  <a:srgbClr val="CC0000"/>
                </a:solidFill>
              </a:rPr>
              <a:t>Yet.</a:t>
            </a:r>
          </a:p>
        </p:txBody>
      </p:sp>
      <p:sp>
        <p:nvSpPr>
          <p:cNvPr id="7" name="object 7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5162" y="3096300"/>
            <a:ext cx="179705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45507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30018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215">
              <a:lnSpc>
                <a:spcPts val="980"/>
              </a:lnSpc>
            </a:pPr>
            <a:fld id="{81D60167-4931-47E6-BA6A-407CBD079E47}" type="slidenum">
              <a:rPr dirty="0"/>
              <a:t>6</a:t>
            </a:fld>
            <a:r>
              <a:rPr spc="70" dirty="0"/>
              <a:t> </a:t>
            </a:r>
            <a:r>
              <a:rPr spc="240" dirty="0"/>
              <a:t>/</a:t>
            </a:r>
            <a:r>
              <a:rPr spc="70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3.</a:t>
            </a:r>
            <a:r>
              <a:rPr spc="229" dirty="0"/>
              <a:t> </a:t>
            </a:r>
            <a:r>
              <a:rPr spc="-25" dirty="0"/>
              <a:t>Super</a:t>
            </a:r>
            <a:r>
              <a:rPr spc="90" dirty="0"/>
              <a:t> </a:t>
            </a:r>
            <a:r>
              <a:rPr dirty="0"/>
              <a:t>AI</a:t>
            </a:r>
            <a:r>
              <a:rPr spc="95" dirty="0"/>
              <a:t> </a:t>
            </a:r>
            <a:r>
              <a:rPr spc="-30" dirty="0"/>
              <a:t>(Superintelligence)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764574"/>
            <a:ext cx="5040630" cy="717550"/>
            <a:chOff x="359994" y="764574"/>
            <a:chExt cx="5040630" cy="717550"/>
          </a:xfrm>
        </p:grpSpPr>
        <p:sp>
          <p:nvSpPr>
            <p:cNvPr id="4" name="object 4"/>
            <p:cNvSpPr/>
            <p:nvPr/>
          </p:nvSpPr>
          <p:spPr>
            <a:xfrm>
              <a:off x="359994" y="764574"/>
              <a:ext cx="5040630" cy="717550"/>
            </a:xfrm>
            <a:custGeom>
              <a:avLst/>
              <a:gdLst/>
              <a:ahLst/>
              <a:cxnLst/>
              <a:rect l="l" t="t" r="r" b="b"/>
              <a:pathLst>
                <a:path w="5040630" h="717550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662943"/>
                  </a:lnTo>
                  <a:lnTo>
                    <a:pt x="4243" y="683963"/>
                  </a:lnTo>
                  <a:lnTo>
                    <a:pt x="15816" y="701127"/>
                  </a:lnTo>
                  <a:lnTo>
                    <a:pt x="32980" y="712700"/>
                  </a:lnTo>
                  <a:lnTo>
                    <a:pt x="54000" y="716943"/>
                  </a:lnTo>
                  <a:lnTo>
                    <a:pt x="4986064" y="716943"/>
                  </a:lnTo>
                  <a:lnTo>
                    <a:pt x="5007084" y="712700"/>
                  </a:lnTo>
                  <a:lnTo>
                    <a:pt x="5024248" y="701127"/>
                  </a:lnTo>
                  <a:lnTo>
                    <a:pt x="5035821" y="683963"/>
                  </a:lnTo>
                  <a:lnTo>
                    <a:pt x="5040064" y="662943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7994" y="960441"/>
              <a:ext cx="5004435" cy="503555"/>
            </a:xfrm>
            <a:custGeom>
              <a:avLst/>
              <a:gdLst/>
              <a:ahLst/>
              <a:cxnLst/>
              <a:rect l="l" t="t" r="r" b="b"/>
              <a:pathLst>
                <a:path w="5004435" h="503555">
                  <a:moveTo>
                    <a:pt x="5004065" y="0"/>
                  </a:moveTo>
                  <a:lnTo>
                    <a:pt x="0" y="0"/>
                  </a:lnTo>
                  <a:lnTo>
                    <a:pt x="0" y="467077"/>
                  </a:lnTo>
                  <a:lnTo>
                    <a:pt x="2829" y="481090"/>
                  </a:lnTo>
                  <a:lnTo>
                    <a:pt x="10544" y="492533"/>
                  </a:lnTo>
                  <a:lnTo>
                    <a:pt x="21987" y="500248"/>
                  </a:lnTo>
                  <a:lnTo>
                    <a:pt x="36000" y="503077"/>
                  </a:lnTo>
                  <a:lnTo>
                    <a:pt x="4968064" y="503077"/>
                  </a:lnTo>
                  <a:lnTo>
                    <a:pt x="4982077" y="500248"/>
                  </a:lnTo>
                  <a:lnTo>
                    <a:pt x="4993521" y="492533"/>
                  </a:lnTo>
                  <a:lnTo>
                    <a:pt x="5001236" y="481090"/>
                  </a:lnTo>
                  <a:lnTo>
                    <a:pt x="5004065" y="467077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767224"/>
            <a:ext cx="4866640" cy="16630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0185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210185" marR="5080">
              <a:lnSpc>
                <a:spcPct val="114599"/>
              </a:lnSpc>
              <a:spcBef>
                <a:spcPts val="590"/>
              </a:spcBef>
            </a:pPr>
            <a:r>
              <a:rPr sz="1000" dirty="0">
                <a:latin typeface="Arial"/>
                <a:cs typeface="Arial"/>
              </a:rPr>
              <a:t>A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theoretical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form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AI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b="1" spc="-85" dirty="0">
                <a:latin typeface="Arial"/>
                <a:cs typeface="Arial"/>
              </a:rPr>
              <a:t>surpasses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human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b="1" spc="-35" dirty="0">
                <a:latin typeface="Arial"/>
                <a:cs typeface="Arial"/>
              </a:rPr>
              <a:t>intelligence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spc="-65" dirty="0">
                <a:latin typeface="Arial"/>
                <a:cs typeface="Arial"/>
              </a:rPr>
              <a:t>every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aspect—</a:t>
            </a:r>
            <a:r>
              <a:rPr sz="1000" spc="-10" dirty="0">
                <a:latin typeface="Arial"/>
                <a:cs typeface="Arial"/>
              </a:rPr>
              <a:t>creativity, </a:t>
            </a:r>
            <a:r>
              <a:rPr sz="1000" spc="-50" dirty="0">
                <a:latin typeface="Arial"/>
                <a:cs typeface="Arial"/>
              </a:rPr>
              <a:t>problem-</a:t>
            </a:r>
            <a:r>
              <a:rPr sz="1000" spc="-25" dirty="0">
                <a:latin typeface="Arial"/>
                <a:cs typeface="Arial"/>
              </a:rPr>
              <a:t>solving,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and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social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skills.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Potential</a:t>
            </a:r>
            <a:r>
              <a:rPr sz="1000" b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Capabilities:</a:t>
            </a: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spcBef>
                <a:spcPts val="969"/>
              </a:spcBef>
              <a:buChar char="•"/>
              <a:tabLst>
                <a:tab pos="264160" algn="l"/>
              </a:tabLst>
            </a:pP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Solving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 global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5" dirty="0">
                <a:solidFill>
                  <a:srgbClr val="22373A"/>
                </a:solidFill>
                <a:latin typeface="Arial"/>
                <a:cs typeface="Arial"/>
              </a:rPr>
              <a:t>crises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(Climate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Change,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Poverty).</a:t>
            </a: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spcBef>
                <a:spcPts val="475"/>
              </a:spcBef>
              <a:buChar char="•"/>
              <a:tabLst>
                <a:tab pos="264160" algn="l"/>
              </a:tabLst>
            </a:pP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Eradicating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diseases.</a:t>
            </a: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spcBef>
                <a:spcPts val="470"/>
              </a:spcBef>
              <a:buChar char="•"/>
              <a:tabLst>
                <a:tab pos="264160" algn="l"/>
              </a:tabLst>
            </a:pP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Unlocking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5" dirty="0">
                <a:solidFill>
                  <a:srgbClr val="22373A"/>
                </a:solidFill>
                <a:latin typeface="Arial"/>
                <a:cs typeface="Arial"/>
              </a:rPr>
              <a:t>secrets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of the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universe.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7294" y="2619694"/>
            <a:ext cx="1605280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75"/>
              </a:lnSpc>
            </a:pP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Status:</a:t>
            </a:r>
            <a:r>
              <a:rPr sz="10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CC0000"/>
                </a:solidFill>
                <a:latin typeface="Arial"/>
                <a:cs typeface="Arial"/>
              </a:rPr>
              <a:t>Theoretical Future.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5162" y="3096300"/>
            <a:ext cx="179705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45507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30018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215">
              <a:lnSpc>
                <a:spcPts val="980"/>
              </a:lnSpc>
            </a:pPr>
            <a:fld id="{81D60167-4931-47E6-BA6A-407CBD079E47}" type="slidenum">
              <a:rPr dirty="0"/>
              <a:t>7</a:t>
            </a:fld>
            <a:r>
              <a:rPr spc="70" dirty="0"/>
              <a:t> </a:t>
            </a:r>
            <a:r>
              <a:rPr spc="240" dirty="0"/>
              <a:t>/</a:t>
            </a:r>
            <a:r>
              <a:rPr spc="70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5511" y="1311856"/>
            <a:ext cx="15227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3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Foundations</a:t>
            </a:r>
            <a:r>
              <a:rPr sz="1400" b="1" spc="7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4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of</a:t>
            </a:r>
            <a:r>
              <a:rPr sz="1400" b="1" spc="7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400" b="1" spc="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AI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88211" y="1680101"/>
            <a:ext cx="2783840" cy="5080"/>
            <a:chOff x="1488211" y="1680101"/>
            <a:chExt cx="2783840" cy="5080"/>
          </a:xfrm>
        </p:grpSpPr>
        <p:sp>
          <p:nvSpPr>
            <p:cNvPr id="4" name="object 4"/>
            <p:cNvSpPr/>
            <p:nvPr/>
          </p:nvSpPr>
          <p:spPr>
            <a:xfrm>
              <a:off x="1488211" y="1680101"/>
              <a:ext cx="2783840" cy="5080"/>
            </a:xfrm>
            <a:custGeom>
              <a:avLst/>
              <a:gdLst/>
              <a:ahLst/>
              <a:cxnLst/>
              <a:rect l="l" t="t" r="r" b="b"/>
              <a:pathLst>
                <a:path w="2783840" h="5080">
                  <a:moveTo>
                    <a:pt x="0" y="5060"/>
                  </a:moveTo>
                  <a:lnTo>
                    <a:pt x="0" y="0"/>
                  </a:lnTo>
                  <a:lnTo>
                    <a:pt x="2783601" y="0"/>
                  </a:lnTo>
                  <a:lnTo>
                    <a:pt x="278360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88211" y="1680101"/>
              <a:ext cx="433070" cy="5080"/>
            </a:xfrm>
            <a:custGeom>
              <a:avLst/>
              <a:gdLst/>
              <a:ahLst/>
              <a:cxnLst/>
              <a:rect l="l" t="t" r="r" b="b"/>
              <a:pathLst>
                <a:path w="433069" h="5080">
                  <a:moveTo>
                    <a:pt x="0" y="5060"/>
                  </a:moveTo>
                  <a:lnTo>
                    <a:pt x="0" y="0"/>
                  </a:lnTo>
                  <a:lnTo>
                    <a:pt x="432983" y="0"/>
                  </a:lnTo>
                  <a:lnTo>
                    <a:pt x="43298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FD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010" y="64615"/>
            <a:ext cx="20681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Foundations</a:t>
            </a:r>
            <a:r>
              <a:rPr spc="100" dirty="0"/>
              <a:t> </a:t>
            </a:r>
            <a:r>
              <a:rPr dirty="0"/>
              <a:t>of</a:t>
            </a:r>
            <a:r>
              <a:rPr spc="100" dirty="0"/>
              <a:t> </a:t>
            </a:r>
            <a:r>
              <a:rPr dirty="0"/>
              <a:t>AI:</a:t>
            </a:r>
            <a:r>
              <a:rPr spc="95" dirty="0"/>
              <a:t> </a:t>
            </a:r>
            <a:r>
              <a:rPr dirty="0"/>
              <a:t>Data</a:t>
            </a:r>
            <a:r>
              <a:rPr spc="100" dirty="0"/>
              <a:t> </a:t>
            </a:r>
            <a:r>
              <a:rPr spc="-30" dirty="0"/>
              <a:t>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92599"/>
            <a:ext cx="28467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fuel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AI.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lifecycle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includes: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9990" y="993094"/>
            <a:ext cx="764540" cy="511809"/>
            <a:chOff x="359990" y="993094"/>
            <a:chExt cx="764540" cy="511809"/>
          </a:xfrm>
        </p:grpSpPr>
        <p:sp>
          <p:nvSpPr>
            <p:cNvPr id="5" name="object 5"/>
            <p:cNvSpPr/>
            <p:nvPr/>
          </p:nvSpPr>
          <p:spPr>
            <a:xfrm>
              <a:off x="362530" y="995634"/>
              <a:ext cx="759460" cy="506730"/>
            </a:xfrm>
            <a:custGeom>
              <a:avLst/>
              <a:gdLst/>
              <a:ahLst/>
              <a:cxnLst/>
              <a:rect l="l" t="t" r="r" b="b"/>
              <a:pathLst>
                <a:path w="759460" h="506730">
                  <a:moveTo>
                    <a:pt x="70855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455498"/>
                  </a:lnTo>
                  <a:lnTo>
                    <a:pt x="3977" y="475198"/>
                  </a:lnTo>
                  <a:lnTo>
                    <a:pt x="14823" y="491285"/>
                  </a:lnTo>
                  <a:lnTo>
                    <a:pt x="30910" y="502131"/>
                  </a:lnTo>
                  <a:lnTo>
                    <a:pt x="50610" y="506108"/>
                  </a:lnTo>
                  <a:lnTo>
                    <a:pt x="708552" y="506108"/>
                  </a:lnTo>
                  <a:lnTo>
                    <a:pt x="728252" y="502131"/>
                  </a:lnTo>
                  <a:lnTo>
                    <a:pt x="744339" y="491285"/>
                  </a:lnTo>
                  <a:lnTo>
                    <a:pt x="755186" y="475198"/>
                  </a:lnTo>
                  <a:lnTo>
                    <a:pt x="759163" y="455498"/>
                  </a:lnTo>
                  <a:lnTo>
                    <a:pt x="759163" y="50610"/>
                  </a:lnTo>
                  <a:lnTo>
                    <a:pt x="755186" y="30910"/>
                  </a:lnTo>
                  <a:lnTo>
                    <a:pt x="744339" y="14823"/>
                  </a:lnTo>
                  <a:lnTo>
                    <a:pt x="728252" y="3977"/>
                  </a:lnTo>
                  <a:lnTo>
                    <a:pt x="708552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2530" y="995634"/>
              <a:ext cx="759460" cy="506730"/>
            </a:xfrm>
            <a:custGeom>
              <a:avLst/>
              <a:gdLst/>
              <a:ahLst/>
              <a:cxnLst/>
              <a:rect l="l" t="t" r="r" b="b"/>
              <a:pathLst>
                <a:path w="759460" h="506730">
                  <a:moveTo>
                    <a:pt x="70855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455498"/>
                  </a:lnTo>
                  <a:lnTo>
                    <a:pt x="3977" y="475198"/>
                  </a:lnTo>
                  <a:lnTo>
                    <a:pt x="14823" y="491285"/>
                  </a:lnTo>
                  <a:lnTo>
                    <a:pt x="30910" y="502131"/>
                  </a:lnTo>
                  <a:lnTo>
                    <a:pt x="50610" y="506108"/>
                  </a:lnTo>
                  <a:lnTo>
                    <a:pt x="708552" y="506108"/>
                  </a:lnTo>
                  <a:lnTo>
                    <a:pt x="728252" y="502131"/>
                  </a:lnTo>
                  <a:lnTo>
                    <a:pt x="744339" y="491285"/>
                  </a:lnTo>
                  <a:lnTo>
                    <a:pt x="755186" y="475198"/>
                  </a:lnTo>
                  <a:lnTo>
                    <a:pt x="759163" y="455498"/>
                  </a:lnTo>
                  <a:lnTo>
                    <a:pt x="759163" y="50610"/>
                  </a:lnTo>
                  <a:lnTo>
                    <a:pt x="755186" y="30910"/>
                  </a:lnTo>
                  <a:lnTo>
                    <a:pt x="744339" y="14823"/>
                  </a:lnTo>
                  <a:lnTo>
                    <a:pt x="728252" y="3977"/>
                  </a:lnTo>
                  <a:lnTo>
                    <a:pt x="708552" y="0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13448" y="1044006"/>
            <a:ext cx="65786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85" marR="5080" indent="-33020">
              <a:lnSpc>
                <a:spcPct val="116700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1.</a:t>
            </a:r>
            <a:r>
              <a:rPr sz="900" spc="1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Collection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(Gathering)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64221" y="969055"/>
            <a:ext cx="764540" cy="559435"/>
            <a:chOff x="1664221" y="969055"/>
            <a:chExt cx="764540" cy="559435"/>
          </a:xfrm>
        </p:grpSpPr>
        <p:sp>
          <p:nvSpPr>
            <p:cNvPr id="9" name="object 9"/>
            <p:cNvSpPr/>
            <p:nvPr/>
          </p:nvSpPr>
          <p:spPr>
            <a:xfrm>
              <a:off x="1666761" y="971595"/>
              <a:ext cx="759460" cy="554355"/>
            </a:xfrm>
            <a:custGeom>
              <a:avLst/>
              <a:gdLst/>
              <a:ahLst/>
              <a:cxnLst/>
              <a:rect l="l" t="t" r="r" b="b"/>
              <a:pathLst>
                <a:path w="759460" h="554355">
                  <a:moveTo>
                    <a:pt x="70855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503576"/>
                  </a:lnTo>
                  <a:lnTo>
                    <a:pt x="3977" y="523276"/>
                  </a:lnTo>
                  <a:lnTo>
                    <a:pt x="14823" y="539363"/>
                  </a:lnTo>
                  <a:lnTo>
                    <a:pt x="30910" y="550209"/>
                  </a:lnTo>
                  <a:lnTo>
                    <a:pt x="50610" y="554187"/>
                  </a:lnTo>
                  <a:lnTo>
                    <a:pt x="708552" y="554187"/>
                  </a:lnTo>
                  <a:lnTo>
                    <a:pt x="728253" y="550209"/>
                  </a:lnTo>
                  <a:lnTo>
                    <a:pt x="744340" y="539363"/>
                  </a:lnTo>
                  <a:lnTo>
                    <a:pt x="755186" y="523276"/>
                  </a:lnTo>
                  <a:lnTo>
                    <a:pt x="759163" y="503576"/>
                  </a:lnTo>
                  <a:lnTo>
                    <a:pt x="759163" y="50610"/>
                  </a:lnTo>
                  <a:lnTo>
                    <a:pt x="755186" y="30910"/>
                  </a:lnTo>
                  <a:lnTo>
                    <a:pt x="744340" y="14823"/>
                  </a:lnTo>
                  <a:lnTo>
                    <a:pt x="728253" y="3977"/>
                  </a:lnTo>
                  <a:lnTo>
                    <a:pt x="708552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66761" y="971595"/>
              <a:ext cx="759460" cy="554355"/>
            </a:xfrm>
            <a:custGeom>
              <a:avLst/>
              <a:gdLst/>
              <a:ahLst/>
              <a:cxnLst/>
              <a:rect l="l" t="t" r="r" b="b"/>
              <a:pathLst>
                <a:path w="759460" h="554355">
                  <a:moveTo>
                    <a:pt x="70855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503576"/>
                  </a:lnTo>
                  <a:lnTo>
                    <a:pt x="3977" y="523276"/>
                  </a:lnTo>
                  <a:lnTo>
                    <a:pt x="14823" y="539363"/>
                  </a:lnTo>
                  <a:lnTo>
                    <a:pt x="30910" y="550209"/>
                  </a:lnTo>
                  <a:lnTo>
                    <a:pt x="50610" y="554187"/>
                  </a:lnTo>
                  <a:lnTo>
                    <a:pt x="708552" y="554187"/>
                  </a:lnTo>
                  <a:lnTo>
                    <a:pt x="728253" y="550209"/>
                  </a:lnTo>
                  <a:lnTo>
                    <a:pt x="744340" y="539363"/>
                  </a:lnTo>
                  <a:lnTo>
                    <a:pt x="755186" y="523276"/>
                  </a:lnTo>
                  <a:lnTo>
                    <a:pt x="759163" y="503576"/>
                  </a:lnTo>
                  <a:lnTo>
                    <a:pt x="759163" y="50610"/>
                  </a:lnTo>
                  <a:lnTo>
                    <a:pt x="755186" y="30910"/>
                  </a:lnTo>
                  <a:lnTo>
                    <a:pt x="744340" y="14823"/>
                  </a:lnTo>
                  <a:lnTo>
                    <a:pt x="728253" y="3977"/>
                  </a:lnTo>
                  <a:lnTo>
                    <a:pt x="708552" y="0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78952" y="963946"/>
            <a:ext cx="535305" cy="50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" marR="78740" indent="-10795">
              <a:lnSpc>
                <a:spcPct val="116700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2.</a:t>
            </a:r>
            <a:r>
              <a:rPr sz="900" spc="1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Pro-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cessing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(Cleaning)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68453" y="993094"/>
            <a:ext cx="764540" cy="511809"/>
            <a:chOff x="2968453" y="993094"/>
            <a:chExt cx="764540" cy="511809"/>
          </a:xfrm>
        </p:grpSpPr>
        <p:sp>
          <p:nvSpPr>
            <p:cNvPr id="13" name="object 13"/>
            <p:cNvSpPr/>
            <p:nvPr/>
          </p:nvSpPr>
          <p:spPr>
            <a:xfrm>
              <a:off x="2970993" y="995634"/>
              <a:ext cx="759460" cy="506730"/>
            </a:xfrm>
            <a:custGeom>
              <a:avLst/>
              <a:gdLst/>
              <a:ahLst/>
              <a:cxnLst/>
              <a:rect l="l" t="t" r="r" b="b"/>
              <a:pathLst>
                <a:path w="759460" h="506730">
                  <a:moveTo>
                    <a:pt x="70855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455498"/>
                  </a:lnTo>
                  <a:lnTo>
                    <a:pt x="3977" y="475198"/>
                  </a:lnTo>
                  <a:lnTo>
                    <a:pt x="14823" y="491285"/>
                  </a:lnTo>
                  <a:lnTo>
                    <a:pt x="30910" y="502131"/>
                  </a:lnTo>
                  <a:lnTo>
                    <a:pt x="50610" y="506108"/>
                  </a:lnTo>
                  <a:lnTo>
                    <a:pt x="708552" y="506108"/>
                  </a:lnTo>
                  <a:lnTo>
                    <a:pt x="728252" y="502131"/>
                  </a:lnTo>
                  <a:lnTo>
                    <a:pt x="744340" y="491285"/>
                  </a:lnTo>
                  <a:lnTo>
                    <a:pt x="755186" y="475198"/>
                  </a:lnTo>
                  <a:lnTo>
                    <a:pt x="759163" y="455498"/>
                  </a:lnTo>
                  <a:lnTo>
                    <a:pt x="759163" y="50610"/>
                  </a:lnTo>
                  <a:lnTo>
                    <a:pt x="755186" y="30910"/>
                  </a:lnTo>
                  <a:lnTo>
                    <a:pt x="744340" y="14823"/>
                  </a:lnTo>
                  <a:lnTo>
                    <a:pt x="728252" y="3977"/>
                  </a:lnTo>
                  <a:lnTo>
                    <a:pt x="708552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70993" y="995634"/>
              <a:ext cx="759460" cy="506730"/>
            </a:xfrm>
            <a:custGeom>
              <a:avLst/>
              <a:gdLst/>
              <a:ahLst/>
              <a:cxnLst/>
              <a:rect l="l" t="t" r="r" b="b"/>
              <a:pathLst>
                <a:path w="759460" h="506730">
                  <a:moveTo>
                    <a:pt x="70855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455498"/>
                  </a:lnTo>
                  <a:lnTo>
                    <a:pt x="3977" y="475198"/>
                  </a:lnTo>
                  <a:lnTo>
                    <a:pt x="14823" y="491285"/>
                  </a:lnTo>
                  <a:lnTo>
                    <a:pt x="30910" y="502131"/>
                  </a:lnTo>
                  <a:lnTo>
                    <a:pt x="50610" y="506108"/>
                  </a:lnTo>
                  <a:lnTo>
                    <a:pt x="708552" y="506108"/>
                  </a:lnTo>
                  <a:lnTo>
                    <a:pt x="728252" y="502131"/>
                  </a:lnTo>
                  <a:lnTo>
                    <a:pt x="744340" y="491285"/>
                  </a:lnTo>
                  <a:lnTo>
                    <a:pt x="755186" y="475198"/>
                  </a:lnTo>
                  <a:lnTo>
                    <a:pt x="759163" y="455498"/>
                  </a:lnTo>
                  <a:lnTo>
                    <a:pt x="759163" y="50610"/>
                  </a:lnTo>
                  <a:lnTo>
                    <a:pt x="755186" y="30910"/>
                  </a:lnTo>
                  <a:lnTo>
                    <a:pt x="744340" y="14823"/>
                  </a:lnTo>
                  <a:lnTo>
                    <a:pt x="728252" y="3977"/>
                  </a:lnTo>
                  <a:lnTo>
                    <a:pt x="708552" y="0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065843" y="1044006"/>
            <a:ext cx="56959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" marR="5080" indent="-22225">
              <a:lnSpc>
                <a:spcPct val="116700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3.</a:t>
            </a:r>
            <a:r>
              <a:rPr sz="900" spc="1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Analysis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(Patterns)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272684" y="969055"/>
            <a:ext cx="764540" cy="559435"/>
            <a:chOff x="4272684" y="969055"/>
            <a:chExt cx="764540" cy="559435"/>
          </a:xfrm>
        </p:grpSpPr>
        <p:sp>
          <p:nvSpPr>
            <p:cNvPr id="17" name="object 17"/>
            <p:cNvSpPr/>
            <p:nvPr/>
          </p:nvSpPr>
          <p:spPr>
            <a:xfrm>
              <a:off x="4275224" y="971595"/>
              <a:ext cx="759460" cy="554355"/>
            </a:xfrm>
            <a:custGeom>
              <a:avLst/>
              <a:gdLst/>
              <a:ahLst/>
              <a:cxnLst/>
              <a:rect l="l" t="t" r="r" b="b"/>
              <a:pathLst>
                <a:path w="759460" h="554355">
                  <a:moveTo>
                    <a:pt x="70855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503576"/>
                  </a:lnTo>
                  <a:lnTo>
                    <a:pt x="3977" y="523276"/>
                  </a:lnTo>
                  <a:lnTo>
                    <a:pt x="14823" y="539363"/>
                  </a:lnTo>
                  <a:lnTo>
                    <a:pt x="30910" y="550209"/>
                  </a:lnTo>
                  <a:lnTo>
                    <a:pt x="50610" y="554187"/>
                  </a:lnTo>
                  <a:lnTo>
                    <a:pt x="708552" y="554187"/>
                  </a:lnTo>
                  <a:lnTo>
                    <a:pt x="728252" y="550209"/>
                  </a:lnTo>
                  <a:lnTo>
                    <a:pt x="744340" y="539363"/>
                  </a:lnTo>
                  <a:lnTo>
                    <a:pt x="755186" y="523276"/>
                  </a:lnTo>
                  <a:lnTo>
                    <a:pt x="759163" y="503576"/>
                  </a:lnTo>
                  <a:lnTo>
                    <a:pt x="759163" y="50610"/>
                  </a:lnTo>
                  <a:lnTo>
                    <a:pt x="755186" y="30910"/>
                  </a:lnTo>
                  <a:lnTo>
                    <a:pt x="744340" y="14823"/>
                  </a:lnTo>
                  <a:lnTo>
                    <a:pt x="728252" y="3977"/>
                  </a:lnTo>
                  <a:lnTo>
                    <a:pt x="708552" y="0"/>
                  </a:lnTo>
                  <a:close/>
                </a:path>
              </a:pathLst>
            </a:custGeom>
            <a:solidFill>
              <a:srgbClr val="E5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75224" y="971595"/>
              <a:ext cx="759460" cy="554355"/>
            </a:xfrm>
            <a:custGeom>
              <a:avLst/>
              <a:gdLst/>
              <a:ahLst/>
              <a:cxnLst/>
              <a:rect l="l" t="t" r="r" b="b"/>
              <a:pathLst>
                <a:path w="759460" h="554355">
                  <a:moveTo>
                    <a:pt x="70855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503576"/>
                  </a:lnTo>
                  <a:lnTo>
                    <a:pt x="3977" y="523276"/>
                  </a:lnTo>
                  <a:lnTo>
                    <a:pt x="14823" y="539363"/>
                  </a:lnTo>
                  <a:lnTo>
                    <a:pt x="30910" y="550209"/>
                  </a:lnTo>
                  <a:lnTo>
                    <a:pt x="50610" y="554187"/>
                  </a:lnTo>
                  <a:lnTo>
                    <a:pt x="708552" y="554187"/>
                  </a:lnTo>
                  <a:lnTo>
                    <a:pt x="728252" y="550209"/>
                  </a:lnTo>
                  <a:lnTo>
                    <a:pt x="744340" y="539363"/>
                  </a:lnTo>
                  <a:lnTo>
                    <a:pt x="755186" y="523276"/>
                  </a:lnTo>
                  <a:lnTo>
                    <a:pt x="759163" y="503576"/>
                  </a:lnTo>
                  <a:lnTo>
                    <a:pt x="759163" y="50610"/>
                  </a:lnTo>
                  <a:lnTo>
                    <a:pt x="755186" y="30910"/>
                  </a:lnTo>
                  <a:lnTo>
                    <a:pt x="744340" y="14823"/>
                  </a:lnTo>
                  <a:lnTo>
                    <a:pt x="728252" y="3977"/>
                  </a:lnTo>
                  <a:lnTo>
                    <a:pt x="708552" y="0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421822" y="963946"/>
            <a:ext cx="466090" cy="4846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875" algn="just">
              <a:lnSpc>
                <a:spcPct val="116700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4.</a:t>
            </a:r>
            <a:r>
              <a:rPr sz="900" spc="1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Man-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agement (Storing)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124224" y="1222372"/>
            <a:ext cx="3148965" cy="52705"/>
            <a:chOff x="1124224" y="1222372"/>
            <a:chExt cx="3148965" cy="52705"/>
          </a:xfrm>
        </p:grpSpPr>
        <p:sp>
          <p:nvSpPr>
            <p:cNvPr id="21" name="object 21"/>
            <p:cNvSpPr/>
            <p:nvPr/>
          </p:nvSpPr>
          <p:spPr>
            <a:xfrm>
              <a:off x="1124224" y="1248689"/>
              <a:ext cx="507365" cy="0"/>
            </a:xfrm>
            <a:custGeom>
              <a:avLst/>
              <a:gdLst/>
              <a:ahLst/>
              <a:cxnLst/>
              <a:rect l="l" t="t" r="r" b="b"/>
              <a:pathLst>
                <a:path w="507364">
                  <a:moveTo>
                    <a:pt x="0" y="0"/>
                  </a:moveTo>
                  <a:lnTo>
                    <a:pt x="507110" y="0"/>
                  </a:lnTo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11596" y="1222372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28455" y="1248689"/>
              <a:ext cx="507365" cy="0"/>
            </a:xfrm>
            <a:custGeom>
              <a:avLst/>
              <a:gdLst/>
              <a:ahLst/>
              <a:cxnLst/>
              <a:rect l="l" t="t" r="r" b="b"/>
              <a:pathLst>
                <a:path w="507364">
                  <a:moveTo>
                    <a:pt x="0" y="0"/>
                  </a:moveTo>
                  <a:lnTo>
                    <a:pt x="507110" y="0"/>
                  </a:lnTo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15828" y="1222372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732687" y="1248689"/>
              <a:ext cx="507365" cy="0"/>
            </a:xfrm>
            <a:custGeom>
              <a:avLst/>
              <a:gdLst/>
              <a:ahLst/>
              <a:cxnLst/>
              <a:rect l="l" t="t" r="r" b="b"/>
              <a:pathLst>
                <a:path w="507364">
                  <a:moveTo>
                    <a:pt x="0" y="0"/>
                  </a:moveTo>
                  <a:lnTo>
                    <a:pt x="507110" y="0"/>
                  </a:lnTo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20060" y="1222372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359994" y="1921036"/>
            <a:ext cx="5040630" cy="717550"/>
            <a:chOff x="359994" y="1921036"/>
            <a:chExt cx="5040630" cy="717550"/>
          </a:xfrm>
        </p:grpSpPr>
        <p:sp>
          <p:nvSpPr>
            <p:cNvPr id="28" name="object 28"/>
            <p:cNvSpPr/>
            <p:nvPr/>
          </p:nvSpPr>
          <p:spPr>
            <a:xfrm>
              <a:off x="359994" y="1921036"/>
              <a:ext cx="5040630" cy="717550"/>
            </a:xfrm>
            <a:custGeom>
              <a:avLst/>
              <a:gdLst/>
              <a:ahLst/>
              <a:cxnLst/>
              <a:rect l="l" t="t" r="r" b="b"/>
              <a:pathLst>
                <a:path w="5040630" h="717550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662943"/>
                  </a:lnTo>
                  <a:lnTo>
                    <a:pt x="4243" y="683963"/>
                  </a:lnTo>
                  <a:lnTo>
                    <a:pt x="15816" y="701127"/>
                  </a:lnTo>
                  <a:lnTo>
                    <a:pt x="32980" y="712700"/>
                  </a:lnTo>
                  <a:lnTo>
                    <a:pt x="54000" y="716943"/>
                  </a:lnTo>
                  <a:lnTo>
                    <a:pt x="4986064" y="716943"/>
                  </a:lnTo>
                  <a:lnTo>
                    <a:pt x="5007084" y="712700"/>
                  </a:lnTo>
                  <a:lnTo>
                    <a:pt x="5024248" y="701127"/>
                  </a:lnTo>
                  <a:lnTo>
                    <a:pt x="5035821" y="683963"/>
                  </a:lnTo>
                  <a:lnTo>
                    <a:pt x="5040064" y="662943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77994" y="2116903"/>
              <a:ext cx="5004435" cy="503555"/>
            </a:xfrm>
            <a:custGeom>
              <a:avLst/>
              <a:gdLst/>
              <a:ahLst/>
              <a:cxnLst/>
              <a:rect l="l" t="t" r="r" b="b"/>
              <a:pathLst>
                <a:path w="5004435" h="503555">
                  <a:moveTo>
                    <a:pt x="5004065" y="0"/>
                  </a:moveTo>
                  <a:lnTo>
                    <a:pt x="0" y="0"/>
                  </a:lnTo>
                  <a:lnTo>
                    <a:pt x="0" y="467077"/>
                  </a:lnTo>
                  <a:lnTo>
                    <a:pt x="2829" y="481090"/>
                  </a:lnTo>
                  <a:lnTo>
                    <a:pt x="10544" y="492533"/>
                  </a:lnTo>
                  <a:lnTo>
                    <a:pt x="21987" y="500248"/>
                  </a:lnTo>
                  <a:lnTo>
                    <a:pt x="36000" y="503077"/>
                  </a:lnTo>
                  <a:lnTo>
                    <a:pt x="4968064" y="503077"/>
                  </a:lnTo>
                  <a:lnTo>
                    <a:pt x="4982077" y="500248"/>
                  </a:lnTo>
                  <a:lnTo>
                    <a:pt x="4993521" y="492533"/>
                  </a:lnTo>
                  <a:lnTo>
                    <a:pt x="5001236" y="481090"/>
                  </a:lnTo>
                  <a:lnTo>
                    <a:pt x="5004065" y="467077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F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45299" y="1923686"/>
            <a:ext cx="4667885" cy="601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65" dirty="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sz="100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Context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4599"/>
              </a:lnSpc>
              <a:spcBef>
                <a:spcPts val="590"/>
              </a:spcBef>
            </a:pPr>
            <a:r>
              <a:rPr sz="1000" spc="-20" dirty="0">
                <a:latin typeface="Arial"/>
                <a:cs typeface="Arial"/>
              </a:rPr>
              <a:t>Collecting</a:t>
            </a:r>
            <a:r>
              <a:rPr sz="1000" spc="125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customer</a:t>
            </a:r>
            <a:r>
              <a:rPr sz="1000" spc="130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feedback</a:t>
            </a:r>
            <a:r>
              <a:rPr sz="1000" spc="13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→</a:t>
            </a:r>
            <a:r>
              <a:rPr sz="1000" i="1" spc="130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Cleaning</a:t>
            </a:r>
            <a:r>
              <a:rPr sz="1000" spc="1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</a:t>
            </a:r>
            <a:r>
              <a:rPr sz="1000" spc="1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→</a:t>
            </a:r>
            <a:r>
              <a:rPr sz="1000" i="1" spc="1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Finding</a:t>
            </a:r>
            <a:r>
              <a:rPr sz="1000" spc="13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trends</a:t>
            </a:r>
            <a:r>
              <a:rPr sz="1000" spc="13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→</a:t>
            </a:r>
            <a:r>
              <a:rPr sz="1000" i="1" spc="1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Storing</a:t>
            </a:r>
            <a:r>
              <a:rPr sz="1000" spc="1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1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future strategy.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83857" y="3096300"/>
            <a:ext cx="1796414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813792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398303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80"/>
              </a:lnSpc>
            </a:pPr>
            <a:r>
              <a:rPr dirty="0"/>
              <a:t>8</a:t>
            </a:r>
            <a:r>
              <a:rPr spc="65" dirty="0"/>
              <a:t> </a:t>
            </a:r>
            <a:r>
              <a:rPr spc="240" dirty="0"/>
              <a:t>/</a:t>
            </a:r>
            <a:r>
              <a:rPr spc="65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Foundations</a:t>
            </a:r>
            <a:r>
              <a:rPr spc="70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dirty="0"/>
              <a:t>AI:</a:t>
            </a:r>
            <a:r>
              <a:rPr spc="70" dirty="0"/>
              <a:t> </a:t>
            </a:r>
            <a:r>
              <a:rPr spc="-10" dirty="0"/>
              <a:t>Mathematics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54448"/>
            <a:ext cx="25869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built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strong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mathematical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foundation.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0004" y="997112"/>
            <a:ext cx="2520315" cy="1903095"/>
            <a:chOff x="240004" y="997112"/>
            <a:chExt cx="2520315" cy="1903095"/>
          </a:xfrm>
        </p:grpSpPr>
        <p:sp>
          <p:nvSpPr>
            <p:cNvPr id="5" name="object 5"/>
            <p:cNvSpPr/>
            <p:nvPr/>
          </p:nvSpPr>
          <p:spPr>
            <a:xfrm>
              <a:off x="240004" y="997112"/>
              <a:ext cx="2520315" cy="1903095"/>
            </a:xfrm>
            <a:custGeom>
              <a:avLst/>
              <a:gdLst/>
              <a:ahLst/>
              <a:cxnLst/>
              <a:rect l="l" t="t" r="r" b="b"/>
              <a:pathLst>
                <a:path w="2520315" h="1903095">
                  <a:moveTo>
                    <a:pt x="2466032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1849059"/>
                  </a:lnTo>
                  <a:lnTo>
                    <a:pt x="4243" y="1870079"/>
                  </a:lnTo>
                  <a:lnTo>
                    <a:pt x="15816" y="1887243"/>
                  </a:lnTo>
                  <a:lnTo>
                    <a:pt x="32980" y="1898816"/>
                  </a:lnTo>
                  <a:lnTo>
                    <a:pt x="54000" y="1903059"/>
                  </a:lnTo>
                  <a:lnTo>
                    <a:pt x="2466032" y="1903059"/>
                  </a:lnTo>
                  <a:lnTo>
                    <a:pt x="2487051" y="1898816"/>
                  </a:lnTo>
                  <a:lnTo>
                    <a:pt x="2504216" y="1887243"/>
                  </a:lnTo>
                  <a:lnTo>
                    <a:pt x="2515788" y="1870079"/>
                  </a:lnTo>
                  <a:lnTo>
                    <a:pt x="2520032" y="1849059"/>
                  </a:lnTo>
                  <a:lnTo>
                    <a:pt x="2520032" y="54000"/>
                  </a:lnTo>
                  <a:lnTo>
                    <a:pt x="2515788" y="32980"/>
                  </a:lnTo>
                  <a:lnTo>
                    <a:pt x="2504216" y="15816"/>
                  </a:lnTo>
                  <a:lnTo>
                    <a:pt x="2487051" y="4243"/>
                  </a:lnTo>
                  <a:lnTo>
                    <a:pt x="2466032" y="0"/>
                  </a:lnTo>
                  <a:close/>
                </a:path>
              </a:pathLst>
            </a:custGeom>
            <a:solidFill>
              <a:srgbClr val="218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8004" y="1217581"/>
              <a:ext cx="2484120" cy="1664970"/>
            </a:xfrm>
            <a:custGeom>
              <a:avLst/>
              <a:gdLst/>
              <a:ahLst/>
              <a:cxnLst/>
              <a:rect l="l" t="t" r="r" b="b"/>
              <a:pathLst>
                <a:path w="2484120" h="1664970">
                  <a:moveTo>
                    <a:pt x="2484032" y="0"/>
                  </a:moveTo>
                  <a:lnTo>
                    <a:pt x="0" y="0"/>
                  </a:lnTo>
                  <a:lnTo>
                    <a:pt x="0" y="1628590"/>
                  </a:lnTo>
                  <a:lnTo>
                    <a:pt x="2829" y="1642603"/>
                  </a:lnTo>
                  <a:lnTo>
                    <a:pt x="10544" y="1654046"/>
                  </a:lnTo>
                  <a:lnTo>
                    <a:pt x="21987" y="1661761"/>
                  </a:lnTo>
                  <a:lnTo>
                    <a:pt x="36000" y="1664591"/>
                  </a:lnTo>
                  <a:lnTo>
                    <a:pt x="2448032" y="1664591"/>
                  </a:lnTo>
                  <a:lnTo>
                    <a:pt x="2462045" y="1661761"/>
                  </a:lnTo>
                  <a:lnTo>
                    <a:pt x="2473488" y="1654046"/>
                  </a:lnTo>
                  <a:lnTo>
                    <a:pt x="2481203" y="1642603"/>
                  </a:lnTo>
                  <a:lnTo>
                    <a:pt x="2484032" y="1628590"/>
                  </a:lnTo>
                  <a:lnTo>
                    <a:pt x="2484032" y="0"/>
                  </a:lnTo>
                  <a:close/>
                </a:path>
              </a:pathLst>
            </a:custGeom>
            <a:solidFill>
              <a:srgbClr val="F2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25297" y="999774"/>
            <a:ext cx="14719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10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Mathematical</a:t>
            </a:r>
            <a:r>
              <a:rPr sz="10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FFFFF"/>
                </a:solidFill>
                <a:latin typeface="Arial"/>
                <a:cs typeface="Arial"/>
              </a:rPr>
              <a:t>Fields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1840" y="1251477"/>
            <a:ext cx="1967864" cy="1536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160" marR="97790" indent="-125095">
              <a:lnSpc>
                <a:spcPct val="114599"/>
              </a:lnSpc>
              <a:spcBef>
                <a:spcPts val="100"/>
              </a:spcBef>
              <a:buFont typeface="Arial"/>
              <a:buChar char="•"/>
              <a:tabLst>
                <a:tab pos="139065" algn="l"/>
              </a:tabLst>
            </a:pPr>
            <a:r>
              <a:rPr sz="1000" b="1" spc="-20" dirty="0">
                <a:solidFill>
                  <a:srgbClr val="22373A"/>
                </a:solidFill>
                <a:latin typeface="Arial"/>
                <a:cs typeface="Arial"/>
              </a:rPr>
              <a:t>Statistics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Handling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uncertainty 	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trends.</a:t>
            </a:r>
            <a:endParaRPr sz="1000">
              <a:latin typeface="Arial"/>
              <a:cs typeface="Arial"/>
            </a:endParaRPr>
          </a:p>
          <a:p>
            <a:pPr marL="137160" marR="27940" indent="-125095">
              <a:lnSpc>
                <a:spcPct val="114599"/>
              </a:lnSpc>
              <a:spcBef>
                <a:spcPts val="295"/>
              </a:spcBef>
              <a:buFont typeface="Arial"/>
              <a:buChar char="•"/>
              <a:tabLst>
                <a:tab pos="139065" algn="l"/>
              </a:tabLst>
            </a:pP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Probability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Predicting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likelihood 	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events.</a:t>
            </a:r>
            <a:endParaRPr sz="1000">
              <a:latin typeface="Arial"/>
              <a:cs typeface="Arial"/>
            </a:endParaRPr>
          </a:p>
          <a:p>
            <a:pPr marL="137160" marR="5080" indent="-125095">
              <a:lnSpc>
                <a:spcPct val="114599"/>
              </a:lnSpc>
              <a:spcBef>
                <a:spcPts val="300"/>
              </a:spcBef>
              <a:buFont typeface="Arial"/>
              <a:buChar char="•"/>
              <a:tabLst>
                <a:tab pos="139065" algn="l"/>
              </a:tabLst>
            </a:pPr>
            <a:r>
              <a:rPr sz="1000" b="1" spc="-35" dirty="0">
                <a:solidFill>
                  <a:srgbClr val="22373A"/>
                </a:solidFill>
                <a:latin typeface="Arial"/>
                <a:cs typeface="Arial"/>
              </a:rPr>
              <a:t>Calculus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Optimization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(changing 	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rates).</a:t>
            </a:r>
            <a:endParaRPr sz="1000">
              <a:latin typeface="Arial"/>
              <a:cs typeface="Arial"/>
            </a:endParaRPr>
          </a:p>
          <a:p>
            <a:pPr marL="137160" marR="229235" indent="-125095">
              <a:lnSpc>
                <a:spcPct val="114599"/>
              </a:lnSpc>
              <a:spcBef>
                <a:spcPts val="300"/>
              </a:spcBef>
              <a:buFont typeface="Arial"/>
              <a:buChar char="•"/>
              <a:tabLst>
                <a:tab pos="139065" algn="l"/>
              </a:tabLst>
            </a:pPr>
            <a:r>
              <a:rPr sz="1000" b="1" spc="-25" dirty="0">
                <a:solidFill>
                  <a:srgbClr val="22373A"/>
                </a:solidFill>
                <a:latin typeface="Arial"/>
                <a:cs typeface="Arial"/>
              </a:rPr>
              <a:t>Linear</a:t>
            </a:r>
            <a:r>
              <a:rPr sz="10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22373A"/>
                </a:solidFill>
                <a:latin typeface="Arial"/>
                <a:cs typeface="Arial"/>
              </a:rPr>
              <a:t>Algebra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Handling 	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multi-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dimensional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1000" spc="-55" dirty="0">
                <a:solidFill>
                  <a:srgbClr val="22373A"/>
                </a:solidFill>
                <a:latin typeface="Arial"/>
                <a:cs typeface="Arial"/>
              </a:rPr>
              <a:t>arrays.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83857" y="3096300"/>
            <a:ext cx="1796414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13792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98303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80"/>
              </a:lnSpc>
            </a:pPr>
            <a:r>
              <a:rPr dirty="0"/>
              <a:t>9</a:t>
            </a:r>
            <a:r>
              <a:rPr spc="65" dirty="0"/>
              <a:t> </a:t>
            </a:r>
            <a:r>
              <a:rPr spc="240" dirty="0"/>
              <a:t>/</a:t>
            </a:r>
            <a:r>
              <a:rPr spc="65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Foundations</a:t>
            </a:r>
            <a:r>
              <a:rPr spc="60" dirty="0"/>
              <a:t> </a:t>
            </a:r>
            <a:r>
              <a:rPr dirty="0"/>
              <a:t>of</a:t>
            </a:r>
            <a:r>
              <a:rPr spc="60" dirty="0"/>
              <a:t> </a:t>
            </a:r>
            <a:r>
              <a:rPr dirty="0"/>
              <a:t>AI:</a:t>
            </a:r>
            <a:r>
              <a:rPr spc="55" dirty="0"/>
              <a:t> </a:t>
            </a:r>
            <a:r>
              <a:rPr spc="-25" dirty="0"/>
              <a:t>Computer</a:t>
            </a:r>
            <a:r>
              <a:rPr spc="60" dirty="0"/>
              <a:t> </a:t>
            </a:r>
            <a:r>
              <a:rPr spc="-50" dirty="0"/>
              <a:t>Science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06746"/>
            <a:ext cx="31108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implement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math,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7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65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60" dirty="0">
                <a:solidFill>
                  <a:srgbClr val="22373A"/>
                </a:solidFill>
                <a:latin typeface="Arial"/>
                <a:cs typeface="Arial"/>
              </a:rPr>
              <a:t>Science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tools.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9994" y="1312169"/>
            <a:ext cx="5040630" cy="1212215"/>
            <a:chOff x="359994" y="1312169"/>
            <a:chExt cx="5040630" cy="1212215"/>
          </a:xfrm>
        </p:grpSpPr>
        <p:sp>
          <p:nvSpPr>
            <p:cNvPr id="5" name="object 5"/>
            <p:cNvSpPr/>
            <p:nvPr/>
          </p:nvSpPr>
          <p:spPr>
            <a:xfrm>
              <a:off x="359994" y="1312169"/>
              <a:ext cx="5040630" cy="1212215"/>
            </a:xfrm>
            <a:custGeom>
              <a:avLst/>
              <a:gdLst/>
              <a:ahLst/>
              <a:cxnLst/>
              <a:rect l="l" t="t" r="r" b="b"/>
              <a:pathLst>
                <a:path w="5040630" h="1212214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1157662"/>
                  </a:lnTo>
                  <a:lnTo>
                    <a:pt x="4243" y="1178682"/>
                  </a:lnTo>
                  <a:lnTo>
                    <a:pt x="15816" y="1195846"/>
                  </a:lnTo>
                  <a:lnTo>
                    <a:pt x="32980" y="1207419"/>
                  </a:lnTo>
                  <a:lnTo>
                    <a:pt x="54000" y="1211663"/>
                  </a:lnTo>
                  <a:lnTo>
                    <a:pt x="4986064" y="1211663"/>
                  </a:lnTo>
                  <a:lnTo>
                    <a:pt x="5007084" y="1207419"/>
                  </a:lnTo>
                  <a:lnTo>
                    <a:pt x="5024248" y="1195846"/>
                  </a:lnTo>
                  <a:lnTo>
                    <a:pt x="5035821" y="1178682"/>
                  </a:lnTo>
                  <a:lnTo>
                    <a:pt x="5040064" y="1157662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218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7994" y="1532638"/>
              <a:ext cx="5004435" cy="973455"/>
            </a:xfrm>
            <a:custGeom>
              <a:avLst/>
              <a:gdLst/>
              <a:ahLst/>
              <a:cxnLst/>
              <a:rect l="l" t="t" r="r" b="b"/>
              <a:pathLst>
                <a:path w="5004435" h="973455">
                  <a:moveTo>
                    <a:pt x="5004065" y="0"/>
                  </a:moveTo>
                  <a:lnTo>
                    <a:pt x="0" y="0"/>
                  </a:lnTo>
                  <a:lnTo>
                    <a:pt x="0" y="937193"/>
                  </a:lnTo>
                  <a:lnTo>
                    <a:pt x="2829" y="951206"/>
                  </a:lnTo>
                  <a:lnTo>
                    <a:pt x="10544" y="962649"/>
                  </a:lnTo>
                  <a:lnTo>
                    <a:pt x="21987" y="970365"/>
                  </a:lnTo>
                  <a:lnTo>
                    <a:pt x="36000" y="973194"/>
                  </a:lnTo>
                  <a:lnTo>
                    <a:pt x="4968064" y="973194"/>
                  </a:lnTo>
                  <a:lnTo>
                    <a:pt x="4982077" y="970365"/>
                  </a:lnTo>
                  <a:lnTo>
                    <a:pt x="4993521" y="962649"/>
                  </a:lnTo>
                  <a:lnTo>
                    <a:pt x="5001236" y="951206"/>
                  </a:lnTo>
                  <a:lnTo>
                    <a:pt x="5004065" y="937193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2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45299" y="1314823"/>
            <a:ext cx="3585210" cy="1096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solidFill>
                  <a:srgbClr val="FFFFFF"/>
                </a:solidFill>
                <a:latin typeface="Arial"/>
                <a:cs typeface="Arial"/>
              </a:rPr>
              <a:t>Core</a:t>
            </a:r>
            <a:r>
              <a:rPr sz="10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CS</a:t>
            </a:r>
            <a:r>
              <a:rPr sz="10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Concepts</a:t>
            </a: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spcBef>
                <a:spcPts val="1015"/>
              </a:spcBef>
              <a:buFont typeface="Arial"/>
              <a:buChar char="•"/>
              <a:tabLst>
                <a:tab pos="264160" algn="l"/>
              </a:tabLst>
            </a:pPr>
            <a:r>
              <a:rPr sz="1000" b="1" spc="-25" dirty="0">
                <a:solidFill>
                  <a:srgbClr val="22373A"/>
                </a:solidFill>
                <a:latin typeface="Arial"/>
                <a:cs typeface="Arial"/>
              </a:rPr>
              <a:t>Programming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Writing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instructions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(Python,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Arial"/>
                <a:cs typeface="Arial"/>
              </a:rPr>
              <a:t>C++).</a:t>
            </a: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264160" algn="l"/>
              </a:tabLst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10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22373A"/>
                </a:solidFill>
                <a:latin typeface="Arial"/>
                <a:cs typeface="Arial"/>
              </a:rPr>
              <a:t>Structures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Organizing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efficiently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(Trees,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Graphs).</a:t>
            </a: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264160" algn="l"/>
              </a:tabLst>
            </a:pPr>
            <a:r>
              <a:rPr sz="1000" b="1" spc="-30" dirty="0">
                <a:solidFill>
                  <a:srgbClr val="22373A"/>
                </a:solidFill>
                <a:latin typeface="Arial"/>
                <a:cs typeface="Arial"/>
              </a:rPr>
              <a:t>Algorithms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Step-</a:t>
            </a:r>
            <a:r>
              <a:rPr sz="1000" spc="-55" dirty="0">
                <a:solidFill>
                  <a:srgbClr val="22373A"/>
                </a:solidFill>
                <a:latin typeface="Arial"/>
                <a:cs typeface="Arial"/>
              </a:rPr>
              <a:t>by-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step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5" dirty="0">
                <a:solidFill>
                  <a:srgbClr val="22373A"/>
                </a:solidFill>
                <a:latin typeface="Arial"/>
                <a:cs typeface="Arial"/>
              </a:rPr>
              <a:t>procedures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calculation.</a:t>
            </a: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spcBef>
                <a:spcPts val="470"/>
              </a:spcBef>
              <a:buFont typeface="Arial"/>
              <a:buChar char="•"/>
              <a:tabLst>
                <a:tab pos="264160" algn="l"/>
              </a:tabLst>
            </a:pPr>
            <a:r>
              <a:rPr sz="1000" b="1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10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22373A"/>
                </a:solidFill>
                <a:latin typeface="Arial"/>
                <a:cs typeface="Arial"/>
              </a:rPr>
              <a:t>Development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Building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robust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systems.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83857" y="3096300"/>
            <a:ext cx="1796414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13792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98303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80"/>
              </a:lnSpc>
            </a:pPr>
            <a:r>
              <a:rPr dirty="0"/>
              <a:t>10</a:t>
            </a:r>
            <a:r>
              <a:rPr spc="65" dirty="0"/>
              <a:t> </a:t>
            </a:r>
            <a:r>
              <a:rPr spc="240" dirty="0"/>
              <a:t>/</a:t>
            </a:r>
            <a:r>
              <a:rPr spc="65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5511" y="1311856"/>
            <a:ext cx="11099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History</a:t>
            </a:r>
            <a:r>
              <a:rPr sz="1400" b="1" spc="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4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of</a:t>
            </a:r>
            <a:r>
              <a:rPr sz="1400" b="1" spc="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AI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88211" y="1680101"/>
            <a:ext cx="2783840" cy="5080"/>
            <a:chOff x="1488211" y="1680101"/>
            <a:chExt cx="2783840" cy="5080"/>
          </a:xfrm>
        </p:grpSpPr>
        <p:sp>
          <p:nvSpPr>
            <p:cNvPr id="4" name="object 4"/>
            <p:cNvSpPr/>
            <p:nvPr/>
          </p:nvSpPr>
          <p:spPr>
            <a:xfrm>
              <a:off x="1488211" y="1680101"/>
              <a:ext cx="2783840" cy="5080"/>
            </a:xfrm>
            <a:custGeom>
              <a:avLst/>
              <a:gdLst/>
              <a:ahLst/>
              <a:cxnLst/>
              <a:rect l="l" t="t" r="r" b="b"/>
              <a:pathLst>
                <a:path w="2783840" h="5080">
                  <a:moveTo>
                    <a:pt x="0" y="5060"/>
                  </a:moveTo>
                  <a:lnTo>
                    <a:pt x="0" y="0"/>
                  </a:lnTo>
                  <a:lnTo>
                    <a:pt x="2783601" y="0"/>
                  </a:lnTo>
                  <a:lnTo>
                    <a:pt x="278360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88211" y="1680101"/>
              <a:ext cx="619125" cy="5080"/>
            </a:xfrm>
            <a:custGeom>
              <a:avLst/>
              <a:gdLst/>
              <a:ahLst/>
              <a:cxnLst/>
              <a:rect l="l" t="t" r="r" b="b"/>
              <a:pathLst>
                <a:path w="619125" h="5080">
                  <a:moveTo>
                    <a:pt x="0" y="5060"/>
                  </a:moveTo>
                  <a:lnTo>
                    <a:pt x="0" y="0"/>
                  </a:lnTo>
                  <a:lnTo>
                    <a:pt x="618596" y="0"/>
                  </a:lnTo>
                  <a:lnTo>
                    <a:pt x="61859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FD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30" dirty="0"/>
              <a:t> </a:t>
            </a:r>
            <a:r>
              <a:rPr spc="-25" dirty="0"/>
              <a:t>Turing</a:t>
            </a:r>
            <a:r>
              <a:rPr spc="30" dirty="0"/>
              <a:t> </a:t>
            </a:r>
            <a:r>
              <a:rPr dirty="0"/>
              <a:t>Test</a:t>
            </a:r>
            <a:r>
              <a:rPr spc="30" dirty="0"/>
              <a:t> </a:t>
            </a:r>
            <a:r>
              <a:rPr spc="-10" dirty="0"/>
              <a:t>(1950)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304" y="1022547"/>
            <a:ext cx="2357755" cy="122491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10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22373A"/>
                </a:solidFill>
                <a:latin typeface="Arial"/>
                <a:cs typeface="Arial"/>
              </a:rPr>
              <a:t>machines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think?</a:t>
            </a: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spcBef>
                <a:spcPts val="470"/>
              </a:spcBef>
              <a:buChar char="•"/>
              <a:tabLst>
                <a:tab pos="264160" algn="l"/>
              </a:tabLst>
            </a:pP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Proposed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Alan</a:t>
            </a:r>
            <a:r>
              <a:rPr sz="1000" b="1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Turing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263525" marR="85725" indent="-125095">
              <a:lnSpc>
                <a:spcPct val="114599"/>
              </a:lnSpc>
              <a:spcBef>
                <a:spcPts val="300"/>
              </a:spcBef>
              <a:buChar char="•"/>
              <a:tabLst>
                <a:tab pos="265430" algn="l"/>
              </a:tabLst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test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14" dirty="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sz="10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fool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a 	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human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thinking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also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human.</a:t>
            </a:r>
            <a:endParaRPr sz="1000">
              <a:latin typeface="Arial"/>
              <a:cs typeface="Arial"/>
            </a:endParaRPr>
          </a:p>
          <a:p>
            <a:pPr marL="263525" marR="5080" indent="-125095">
              <a:lnSpc>
                <a:spcPct val="114599"/>
              </a:lnSpc>
              <a:spcBef>
                <a:spcPts val="300"/>
              </a:spcBef>
              <a:buChar char="•"/>
              <a:tabLst>
                <a:tab pos="265430" algn="l"/>
              </a:tabLst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human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judge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cannot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tell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is 	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machine,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passes.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8947" y="622160"/>
            <a:ext cx="2302158" cy="212425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History</a:t>
            </a:r>
            <a:r>
              <a:rPr spc="80" dirty="0"/>
              <a:t> </a:t>
            </a:r>
            <a:r>
              <a:rPr dirty="0"/>
              <a:t>of</a:t>
            </a:r>
            <a:r>
              <a:rPr spc="80" dirty="0"/>
              <a:t> </a:t>
            </a:r>
            <a:r>
              <a:rPr dirty="0"/>
              <a:t>AI:</a:t>
            </a:r>
            <a:r>
              <a:rPr spc="75" dirty="0"/>
              <a:t> </a:t>
            </a:r>
            <a:r>
              <a:rPr spc="-35" dirty="0"/>
              <a:t>Phase</a:t>
            </a:r>
            <a:r>
              <a:rPr spc="80" dirty="0"/>
              <a:t> </a:t>
            </a:r>
            <a:r>
              <a:rPr dirty="0"/>
              <a:t>1</a:t>
            </a:r>
            <a:r>
              <a:rPr spc="80" dirty="0"/>
              <a:t> </a:t>
            </a:r>
            <a:r>
              <a:rPr dirty="0"/>
              <a:t>(1950s)</a:t>
            </a:r>
            <a:r>
              <a:rPr spc="80" dirty="0"/>
              <a:t> </a:t>
            </a:r>
            <a:r>
              <a:rPr dirty="0"/>
              <a:t>-</a:t>
            </a:r>
            <a:r>
              <a:rPr spc="85" dirty="0"/>
              <a:t> </a:t>
            </a:r>
            <a:r>
              <a:rPr dirty="0"/>
              <a:t>The</a:t>
            </a:r>
            <a:r>
              <a:rPr spc="80" dirty="0"/>
              <a:t> </a:t>
            </a:r>
            <a:r>
              <a:rPr spc="-10" dirty="0"/>
              <a:t>Birth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250637"/>
            <a:ext cx="4798060" cy="866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Theoretical</a:t>
            </a:r>
            <a:r>
              <a:rPr sz="1000" b="1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Foundation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buFont typeface="Arial"/>
              <a:buChar char="•"/>
              <a:tabLst>
                <a:tab pos="264160" algn="l"/>
              </a:tabLst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1956:</a:t>
            </a:r>
            <a:r>
              <a:rPr sz="1000" b="1" spc="1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000" b="1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sz="1000" b="1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22373A"/>
                </a:solidFill>
                <a:latin typeface="Arial"/>
                <a:cs typeface="Arial"/>
              </a:rPr>
              <a:t>”AI”</a:t>
            </a:r>
            <a:endParaRPr sz="1000">
              <a:latin typeface="Arial"/>
              <a:cs typeface="Arial"/>
            </a:endParaRPr>
          </a:p>
          <a:p>
            <a:pPr marL="265430" marR="5080">
              <a:lnSpc>
                <a:spcPct val="114599"/>
              </a:lnSpc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At a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famous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meeting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(Dartmouth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Conference),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scientists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officially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field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”Artificial</a:t>
            </a:r>
            <a:r>
              <a:rPr sz="1000" spc="2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Intelligence.”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History</a:t>
            </a:r>
            <a:r>
              <a:rPr spc="65" dirty="0"/>
              <a:t> </a:t>
            </a:r>
            <a:r>
              <a:rPr dirty="0"/>
              <a:t>of</a:t>
            </a:r>
            <a:r>
              <a:rPr spc="70" dirty="0"/>
              <a:t> </a:t>
            </a:r>
            <a:r>
              <a:rPr dirty="0"/>
              <a:t>AI:</a:t>
            </a:r>
            <a:r>
              <a:rPr spc="60" dirty="0"/>
              <a:t> </a:t>
            </a:r>
            <a:r>
              <a:rPr spc="-35" dirty="0"/>
              <a:t>Phase</a:t>
            </a:r>
            <a:r>
              <a:rPr spc="70" dirty="0"/>
              <a:t> </a:t>
            </a:r>
            <a:r>
              <a:rPr dirty="0"/>
              <a:t>2</a:t>
            </a:r>
            <a:r>
              <a:rPr spc="65" dirty="0"/>
              <a:t> </a:t>
            </a:r>
            <a:r>
              <a:rPr dirty="0"/>
              <a:t>(1960s)</a:t>
            </a:r>
            <a:r>
              <a:rPr spc="70" dirty="0"/>
              <a:t> </a:t>
            </a:r>
            <a:r>
              <a:rPr dirty="0"/>
              <a:t>-</a:t>
            </a:r>
            <a:r>
              <a:rPr spc="65" dirty="0"/>
              <a:t> </a:t>
            </a:r>
            <a:r>
              <a:rPr spc="-25" dirty="0"/>
              <a:t>Early</a:t>
            </a:r>
            <a:r>
              <a:rPr spc="70" dirty="0"/>
              <a:t> </a:t>
            </a:r>
            <a:r>
              <a:rPr spc="-20" dirty="0"/>
              <a:t>Hype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218023"/>
            <a:ext cx="3865879" cy="994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0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sz="10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Programs</a:t>
            </a: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spcBef>
                <a:spcPts val="969"/>
              </a:spcBef>
              <a:buChar char="•"/>
              <a:tabLst>
                <a:tab pos="264160" algn="l"/>
              </a:tabLst>
            </a:pPr>
            <a:r>
              <a:rPr sz="1000" spc="-75" dirty="0">
                <a:solidFill>
                  <a:srgbClr val="22373A"/>
                </a:solidFill>
                <a:latin typeface="Arial"/>
                <a:cs typeface="Arial"/>
              </a:rPr>
              <a:t>Researchers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started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building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70" dirty="0">
                <a:solidFill>
                  <a:srgbClr val="22373A"/>
                </a:solidFill>
                <a:latin typeface="Arial"/>
                <a:cs typeface="Arial"/>
              </a:rPr>
              <a:t>systems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could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Arial"/>
                <a:cs typeface="Arial"/>
              </a:rPr>
              <a:t>”talk”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”move.”</a:t>
            </a: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64160" algn="l"/>
              </a:tabLst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10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Milestones:</a:t>
            </a:r>
            <a:endParaRPr sz="1000">
              <a:latin typeface="Arial"/>
              <a:cs typeface="Arial"/>
            </a:endParaRPr>
          </a:p>
          <a:p>
            <a:pPr marL="518159" lvl="1" indent="-12128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518159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ELIZA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Chatbot.</a:t>
            </a:r>
            <a:endParaRPr sz="900">
              <a:latin typeface="Arial"/>
              <a:cs typeface="Arial"/>
            </a:endParaRPr>
          </a:p>
          <a:p>
            <a:pPr marL="518159" lvl="1" indent="-121285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518159" algn="l"/>
              </a:tabLst>
            </a:pP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Shakey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Mobile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Robot.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ELIZA</a:t>
            </a:r>
            <a:r>
              <a:rPr spc="120" dirty="0"/>
              <a:t> </a:t>
            </a:r>
            <a:r>
              <a:rPr dirty="0"/>
              <a:t>(1964):</a:t>
            </a:r>
            <a:r>
              <a:rPr spc="275" dirty="0"/>
              <a:t> </a:t>
            </a:r>
            <a:r>
              <a:rPr dirty="0"/>
              <a:t>The</a:t>
            </a:r>
            <a:r>
              <a:rPr spc="125" dirty="0"/>
              <a:t> </a:t>
            </a:r>
            <a:r>
              <a:rPr spc="-10" dirty="0"/>
              <a:t>First</a:t>
            </a:r>
            <a:r>
              <a:rPr spc="125" dirty="0"/>
              <a:t> </a:t>
            </a:r>
            <a:r>
              <a:rPr spc="-10" dirty="0"/>
              <a:t>Chatbot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847" y="773627"/>
            <a:ext cx="2160270" cy="1885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160" marR="68580" indent="-125095">
              <a:lnSpc>
                <a:spcPct val="114599"/>
              </a:lnSpc>
              <a:spcBef>
                <a:spcPts val="100"/>
              </a:spcBef>
              <a:buChar char="•"/>
              <a:tabLst>
                <a:tab pos="139065" algn="l"/>
              </a:tabLst>
            </a:pP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22373A"/>
                </a:solidFill>
                <a:latin typeface="Arial"/>
                <a:cs typeface="Arial"/>
              </a:rPr>
              <a:t>Joseph</a:t>
            </a:r>
            <a:r>
              <a:rPr sz="10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22373A"/>
                </a:solidFill>
                <a:latin typeface="Arial"/>
                <a:cs typeface="Arial"/>
              </a:rPr>
              <a:t>Weizenbaum</a:t>
            </a:r>
            <a:r>
              <a:rPr sz="1000" b="1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at 	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MIT.</a:t>
            </a:r>
            <a:endParaRPr sz="1000">
              <a:latin typeface="Arial"/>
              <a:cs typeface="Arial"/>
            </a:endParaRPr>
          </a:p>
          <a:p>
            <a:pPr marL="137160" marR="295275" indent="-125095">
              <a:lnSpc>
                <a:spcPct val="114599"/>
              </a:lnSpc>
              <a:spcBef>
                <a:spcPts val="295"/>
              </a:spcBef>
              <a:buFont typeface="Arial"/>
              <a:buChar char="•"/>
              <a:tabLst>
                <a:tab pos="139065" algn="l"/>
              </a:tabLst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1000" b="1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1000" b="1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did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Pretended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a 	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therapist.</a:t>
            </a:r>
            <a:endParaRPr sz="1000">
              <a:latin typeface="Arial"/>
              <a:cs typeface="Arial"/>
            </a:endParaRPr>
          </a:p>
          <a:p>
            <a:pPr marL="137160" marR="5080" indent="-125095">
              <a:lnSpc>
                <a:spcPct val="114599"/>
              </a:lnSpc>
              <a:spcBef>
                <a:spcPts val="300"/>
              </a:spcBef>
              <a:buFont typeface="Arial"/>
              <a:buChar char="•"/>
              <a:tabLst>
                <a:tab pos="139065" algn="l"/>
              </a:tabLst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10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1000" b="1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22373A"/>
                </a:solidFill>
                <a:latin typeface="Arial"/>
                <a:cs typeface="Arial"/>
              </a:rPr>
              <a:t>worked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looked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for 	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keywords.</a:t>
            </a:r>
            <a:r>
              <a:rPr sz="10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said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75" dirty="0">
                <a:solidFill>
                  <a:srgbClr val="22373A"/>
                </a:solidFill>
                <a:latin typeface="Arial"/>
                <a:cs typeface="Arial"/>
              </a:rPr>
              <a:t>”I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feel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sad”,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it 	simply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75" dirty="0">
                <a:solidFill>
                  <a:srgbClr val="22373A"/>
                </a:solidFill>
                <a:latin typeface="Arial"/>
                <a:cs typeface="Arial"/>
              </a:rPr>
              <a:t>asked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”Why do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feel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sad?”.</a:t>
            </a:r>
            <a:endParaRPr sz="1000">
              <a:latin typeface="Arial"/>
              <a:cs typeface="Arial"/>
            </a:endParaRPr>
          </a:p>
          <a:p>
            <a:pPr marL="137160" marR="95250" indent="-125095">
              <a:lnSpc>
                <a:spcPct val="114599"/>
              </a:lnSpc>
              <a:spcBef>
                <a:spcPts val="300"/>
              </a:spcBef>
              <a:buFont typeface="Arial"/>
              <a:buChar char="•"/>
              <a:tabLst>
                <a:tab pos="139065" algn="l"/>
              </a:tabLst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Impact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People</a:t>
            </a:r>
            <a:r>
              <a:rPr sz="10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thought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90" dirty="0">
                <a:solidFill>
                  <a:srgbClr val="22373A"/>
                </a:solidFill>
                <a:latin typeface="Arial"/>
                <a:cs typeface="Arial"/>
              </a:rPr>
              <a:t>was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real, 	</a:t>
            </a:r>
            <a:r>
              <a:rPr sz="1000" spc="-65" dirty="0">
                <a:solidFill>
                  <a:srgbClr val="22373A"/>
                </a:solidFill>
                <a:latin typeface="Arial"/>
                <a:cs typeface="Arial"/>
              </a:rPr>
              <a:t>even</a:t>
            </a:r>
            <a:r>
              <a:rPr sz="10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though</a:t>
            </a:r>
            <a:r>
              <a:rPr sz="10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10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didn’t</a:t>
            </a:r>
            <a:r>
              <a:rPr sz="10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understand 	anything.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8013" y="785981"/>
            <a:ext cx="2771921" cy="179669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Shakey</a:t>
            </a:r>
            <a:r>
              <a:rPr dirty="0"/>
              <a:t> the Robot</a:t>
            </a:r>
            <a:r>
              <a:rPr spc="5" dirty="0"/>
              <a:t> </a:t>
            </a:r>
            <a:r>
              <a:rPr spc="-10" dirty="0"/>
              <a:t>(1966)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847" y="816311"/>
            <a:ext cx="2406650" cy="1786889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37795" indent="-125095">
              <a:lnSpc>
                <a:spcPct val="100000"/>
              </a:lnSpc>
              <a:spcBef>
                <a:spcPts val="575"/>
              </a:spcBef>
              <a:buChar char="•"/>
              <a:tabLst>
                <a:tab pos="137795" algn="l"/>
              </a:tabLst>
            </a:pP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Developed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SRI</a:t>
            </a:r>
            <a:r>
              <a:rPr sz="1000" b="1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International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137160" marR="203200" indent="-125095">
              <a:lnSpc>
                <a:spcPct val="114599"/>
              </a:lnSpc>
              <a:spcBef>
                <a:spcPts val="295"/>
              </a:spcBef>
              <a:buChar char="•"/>
              <a:tabLst>
                <a:tab pos="139065" algn="l"/>
              </a:tabLst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first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robot</a:t>
            </a:r>
            <a:r>
              <a:rPr sz="10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10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22373A"/>
                </a:solidFill>
                <a:latin typeface="Arial"/>
                <a:cs typeface="Arial"/>
              </a:rPr>
              <a:t>could</a:t>
            </a:r>
            <a:r>
              <a:rPr sz="10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22373A"/>
                </a:solidFill>
                <a:latin typeface="Arial"/>
                <a:cs typeface="Arial"/>
              </a:rPr>
              <a:t>move</a:t>
            </a:r>
            <a:r>
              <a:rPr sz="10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22373A"/>
                </a:solidFill>
                <a:latin typeface="Arial"/>
                <a:cs typeface="Arial"/>
              </a:rPr>
              <a:t>and 	</a:t>
            </a: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think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137160" marR="35560" indent="-125095">
              <a:lnSpc>
                <a:spcPct val="114599"/>
              </a:lnSpc>
              <a:spcBef>
                <a:spcPts val="300"/>
              </a:spcBef>
              <a:buFont typeface="Arial"/>
              <a:buChar char="•"/>
              <a:tabLst>
                <a:tab pos="139065" algn="l"/>
              </a:tabLst>
            </a:pPr>
            <a:r>
              <a:rPr sz="1000" b="1" spc="-25" dirty="0">
                <a:solidFill>
                  <a:srgbClr val="22373A"/>
                </a:solidFill>
                <a:latin typeface="Arial"/>
                <a:cs typeface="Arial"/>
              </a:rPr>
              <a:t>Capabilities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could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look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and 	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plan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5" dirty="0">
                <a:solidFill>
                  <a:srgbClr val="22373A"/>
                </a:solidFill>
                <a:latin typeface="Arial"/>
                <a:cs typeface="Arial"/>
              </a:rPr>
              <a:t>move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70" dirty="0">
                <a:solidFill>
                  <a:srgbClr val="22373A"/>
                </a:solidFill>
                <a:latin typeface="Arial"/>
                <a:cs typeface="Arial"/>
              </a:rPr>
              <a:t>across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1000">
              <a:latin typeface="Arial"/>
              <a:cs typeface="Arial"/>
            </a:endParaRPr>
          </a:p>
          <a:p>
            <a:pPr marL="137160" marR="194945" indent="-125095">
              <a:lnSpc>
                <a:spcPct val="114599"/>
              </a:lnSpc>
              <a:spcBef>
                <a:spcPts val="300"/>
              </a:spcBef>
              <a:buFont typeface="Arial"/>
              <a:buChar char="•"/>
              <a:tabLst>
                <a:tab pos="139065" algn="l"/>
              </a:tabLst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Limit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1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10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90" dirty="0">
                <a:solidFill>
                  <a:srgbClr val="22373A"/>
                </a:solidFill>
                <a:latin typeface="Arial"/>
                <a:cs typeface="Arial"/>
              </a:rPr>
              <a:t>was</a:t>
            </a:r>
            <a:r>
              <a:rPr sz="10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very</a:t>
            </a:r>
            <a:r>
              <a:rPr sz="10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slow</a:t>
            </a:r>
            <a:r>
              <a:rPr sz="10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(”shook”</a:t>
            </a:r>
            <a:r>
              <a:rPr sz="10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while 	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thinking).</a:t>
            </a:r>
            <a:endParaRPr sz="1000">
              <a:latin typeface="Arial"/>
              <a:cs typeface="Arial"/>
            </a:endParaRPr>
          </a:p>
          <a:p>
            <a:pPr marL="137160" marR="5080" indent="-125095">
              <a:lnSpc>
                <a:spcPct val="114599"/>
              </a:lnSpc>
              <a:spcBef>
                <a:spcPts val="295"/>
              </a:spcBef>
              <a:buFont typeface="Arial"/>
              <a:buChar char="•"/>
              <a:tabLst>
                <a:tab pos="139065" algn="l"/>
              </a:tabLst>
            </a:pPr>
            <a:r>
              <a:rPr sz="1000" b="1" spc="-30" dirty="0">
                <a:solidFill>
                  <a:srgbClr val="22373A"/>
                </a:solidFill>
                <a:latin typeface="Arial"/>
                <a:cs typeface="Arial"/>
              </a:rPr>
              <a:t>Legacy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The ”Grandfather” of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self-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driving 	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cars.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019" y="844330"/>
            <a:ext cx="2519957" cy="167997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3857" y="3096300"/>
            <a:ext cx="1796414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13792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98303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80"/>
              </a:lnSpc>
            </a:pPr>
            <a:r>
              <a:rPr dirty="0"/>
              <a:t>15</a:t>
            </a:r>
            <a:r>
              <a:rPr spc="65" dirty="0"/>
              <a:t> </a:t>
            </a:r>
            <a:r>
              <a:rPr spc="240" dirty="0"/>
              <a:t>/</a:t>
            </a:r>
            <a:r>
              <a:rPr spc="65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History</a:t>
            </a:r>
            <a:r>
              <a:rPr spc="65" dirty="0"/>
              <a:t> </a:t>
            </a:r>
            <a:r>
              <a:rPr dirty="0"/>
              <a:t>of</a:t>
            </a:r>
            <a:r>
              <a:rPr spc="70" dirty="0"/>
              <a:t> </a:t>
            </a:r>
            <a:r>
              <a:rPr dirty="0"/>
              <a:t>AI:</a:t>
            </a:r>
            <a:r>
              <a:rPr spc="60" dirty="0"/>
              <a:t> </a:t>
            </a:r>
            <a:r>
              <a:rPr spc="-35" dirty="0"/>
              <a:t>Phase</a:t>
            </a:r>
            <a:r>
              <a:rPr spc="70" dirty="0"/>
              <a:t> </a:t>
            </a:r>
            <a:r>
              <a:rPr dirty="0"/>
              <a:t>3</a:t>
            </a:r>
            <a:r>
              <a:rPr spc="70" dirty="0"/>
              <a:t> </a:t>
            </a:r>
            <a:r>
              <a:rPr dirty="0"/>
              <a:t>(1990s)</a:t>
            </a:r>
            <a:r>
              <a:rPr spc="65" dirty="0"/>
              <a:t> </a:t>
            </a:r>
            <a:r>
              <a:rPr dirty="0"/>
              <a:t>-</a:t>
            </a:r>
            <a:r>
              <a:rPr spc="70" dirty="0"/>
              <a:t> </a:t>
            </a:r>
            <a:r>
              <a:rPr dirty="0"/>
              <a:t>Modern</a:t>
            </a:r>
            <a:r>
              <a:rPr spc="65" dirty="0"/>
              <a:t> </a:t>
            </a:r>
            <a:r>
              <a:rPr spc="-25" dirty="0"/>
              <a:t>Era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218023"/>
            <a:ext cx="3094355" cy="994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10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Get</a:t>
            </a:r>
            <a:r>
              <a:rPr sz="10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Smarter</a:t>
            </a: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spcBef>
                <a:spcPts val="969"/>
              </a:spcBef>
              <a:buChar char="•"/>
              <a:tabLst>
                <a:tab pos="264160" algn="l"/>
              </a:tabLst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AI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started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solving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specific,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complex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problems.</a:t>
            </a: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64160" algn="l"/>
              </a:tabLst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10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Milestones:</a:t>
            </a:r>
            <a:endParaRPr sz="1000">
              <a:latin typeface="Arial"/>
              <a:cs typeface="Arial"/>
            </a:endParaRPr>
          </a:p>
          <a:p>
            <a:pPr marL="518159" lvl="1" indent="-12128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518159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Deep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Blue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Beating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World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Chess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Champion.</a:t>
            </a:r>
            <a:endParaRPr sz="900">
              <a:latin typeface="Arial"/>
              <a:cs typeface="Arial"/>
            </a:endParaRPr>
          </a:p>
          <a:p>
            <a:pPr marL="518159" lvl="1" indent="-121285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518159" algn="l"/>
              </a:tabLst>
            </a:pP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Google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Search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Organizing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world’s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information.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83857" y="3096300"/>
            <a:ext cx="1796414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13792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98303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80"/>
              </a:lnSpc>
            </a:pPr>
            <a:r>
              <a:rPr dirty="0"/>
              <a:t>16</a:t>
            </a:r>
            <a:r>
              <a:rPr spc="65" dirty="0"/>
              <a:t> </a:t>
            </a:r>
            <a:r>
              <a:rPr spc="240" dirty="0"/>
              <a:t>/</a:t>
            </a:r>
            <a:r>
              <a:rPr spc="65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Deep</a:t>
            </a:r>
            <a:r>
              <a:rPr spc="-15" dirty="0"/>
              <a:t> </a:t>
            </a:r>
            <a:r>
              <a:rPr spc="-10" dirty="0"/>
              <a:t>Blue</a:t>
            </a:r>
            <a:r>
              <a:rPr spc="-15" dirty="0"/>
              <a:t> </a:t>
            </a:r>
            <a:r>
              <a:rPr dirty="0"/>
              <a:t>vs.</a:t>
            </a:r>
            <a:r>
              <a:rPr spc="95" dirty="0"/>
              <a:t> </a:t>
            </a:r>
            <a:r>
              <a:rPr spc="-45" dirty="0"/>
              <a:t>Kasparov</a:t>
            </a:r>
            <a:r>
              <a:rPr spc="-15" dirty="0"/>
              <a:t> </a:t>
            </a:r>
            <a:r>
              <a:rPr spc="-10" dirty="0"/>
              <a:t>(1997)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3847" y="770134"/>
            <a:ext cx="2167255" cy="18853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160" marR="5080" indent="-125095">
              <a:lnSpc>
                <a:spcPct val="114599"/>
              </a:lnSpc>
              <a:spcBef>
                <a:spcPts val="100"/>
              </a:spcBef>
              <a:buFont typeface="Arial"/>
              <a:buChar char="•"/>
              <a:tabLst>
                <a:tab pos="139065" algn="l"/>
              </a:tabLst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000" b="1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Match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IBM’s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5" dirty="0">
                <a:solidFill>
                  <a:srgbClr val="22373A"/>
                </a:solidFill>
                <a:latin typeface="Arial"/>
                <a:cs typeface="Arial"/>
              </a:rPr>
              <a:t>Deep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Blue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played 	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against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22373A"/>
                </a:solidFill>
                <a:latin typeface="Arial"/>
                <a:cs typeface="Arial"/>
              </a:rPr>
              <a:t>Garry</a:t>
            </a:r>
            <a:r>
              <a:rPr sz="10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22373A"/>
                </a:solidFill>
                <a:latin typeface="Arial"/>
                <a:cs typeface="Arial"/>
              </a:rPr>
              <a:t>Kasparov</a:t>
            </a:r>
            <a:r>
              <a:rPr sz="10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(World 	Champion).</a:t>
            </a:r>
            <a:endParaRPr sz="1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137795" algn="l"/>
              </a:tabLst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0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Result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5" dirty="0">
                <a:solidFill>
                  <a:srgbClr val="22373A"/>
                </a:solidFill>
                <a:latin typeface="Arial"/>
                <a:cs typeface="Arial"/>
              </a:rPr>
              <a:t>Deep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Blue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won.</a:t>
            </a:r>
            <a:endParaRPr sz="1000">
              <a:latin typeface="Arial"/>
              <a:cs typeface="Arial"/>
            </a:endParaRPr>
          </a:p>
          <a:p>
            <a:pPr marL="137160" marR="96520" indent="-125095">
              <a:lnSpc>
                <a:spcPct val="114599"/>
              </a:lnSpc>
              <a:spcBef>
                <a:spcPts val="295"/>
              </a:spcBef>
              <a:buFont typeface="Arial"/>
              <a:buChar char="•"/>
              <a:tabLst>
                <a:tab pos="139065" algn="l"/>
              </a:tabLst>
            </a:pPr>
            <a:r>
              <a:rPr sz="1000" b="1" spc="-35" dirty="0">
                <a:solidFill>
                  <a:srgbClr val="22373A"/>
                </a:solidFill>
                <a:latin typeface="Arial"/>
                <a:cs typeface="Arial"/>
              </a:rPr>
              <a:t>Significance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10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90" dirty="0">
                <a:solidFill>
                  <a:srgbClr val="22373A"/>
                </a:solidFill>
                <a:latin typeface="Arial"/>
                <a:cs typeface="Arial"/>
              </a:rPr>
              <a:t>was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0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a 	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defeated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reigning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world 	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champion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in a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complex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game.</a:t>
            </a:r>
            <a:endParaRPr sz="1000">
              <a:latin typeface="Arial"/>
              <a:cs typeface="Arial"/>
            </a:endParaRPr>
          </a:p>
          <a:p>
            <a:pPr marL="137160" marR="66040" indent="-125095">
              <a:lnSpc>
                <a:spcPct val="114599"/>
              </a:lnSpc>
              <a:spcBef>
                <a:spcPts val="300"/>
              </a:spcBef>
              <a:buFont typeface="Arial"/>
              <a:buChar char="•"/>
              <a:tabLst>
                <a:tab pos="139065" algn="l"/>
              </a:tabLst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Method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1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”Brute</a:t>
            </a:r>
            <a:r>
              <a:rPr sz="10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Force”</a:t>
            </a:r>
            <a:r>
              <a:rPr sz="10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search 	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(calculating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200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million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positions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per 	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second).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9994" y="843730"/>
            <a:ext cx="2520063" cy="168115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3857" y="3096300"/>
            <a:ext cx="1796414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13792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98303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80"/>
              </a:lnSpc>
            </a:pPr>
            <a:r>
              <a:rPr dirty="0"/>
              <a:t>17</a:t>
            </a:r>
            <a:r>
              <a:rPr spc="65" dirty="0"/>
              <a:t> </a:t>
            </a:r>
            <a:r>
              <a:rPr spc="240" dirty="0"/>
              <a:t>/</a:t>
            </a:r>
            <a:r>
              <a:rPr spc="65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History</a:t>
            </a:r>
            <a:r>
              <a:rPr spc="114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dirty="0"/>
              <a:t>AI:</a:t>
            </a:r>
            <a:r>
              <a:rPr spc="110" dirty="0"/>
              <a:t> </a:t>
            </a:r>
            <a:r>
              <a:rPr spc="-35" dirty="0"/>
              <a:t>Phase</a:t>
            </a:r>
            <a:r>
              <a:rPr spc="120" dirty="0"/>
              <a:t> </a:t>
            </a:r>
            <a:r>
              <a:rPr dirty="0"/>
              <a:t>4</a:t>
            </a:r>
            <a:r>
              <a:rPr spc="114" dirty="0"/>
              <a:t> </a:t>
            </a:r>
            <a:r>
              <a:rPr dirty="0"/>
              <a:t>(2010s+)</a:t>
            </a:r>
            <a:r>
              <a:rPr spc="120" dirty="0"/>
              <a:t> </a:t>
            </a:r>
            <a:r>
              <a:rPr dirty="0"/>
              <a:t>-</a:t>
            </a:r>
            <a:r>
              <a:rPr spc="114" dirty="0"/>
              <a:t> </a:t>
            </a:r>
            <a:r>
              <a:rPr dirty="0"/>
              <a:t>The</a:t>
            </a:r>
            <a:r>
              <a:rPr spc="120" dirty="0"/>
              <a:t> </a:t>
            </a:r>
            <a:r>
              <a:rPr spc="-35" dirty="0"/>
              <a:t>Revolution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231663"/>
            <a:ext cx="4866005" cy="903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Deep </a:t>
            </a:r>
            <a:r>
              <a:rPr sz="1000" b="1" spc="-35" dirty="0">
                <a:solidFill>
                  <a:srgbClr val="22373A"/>
                </a:solidFill>
                <a:latin typeface="Arial"/>
                <a:cs typeface="Arial"/>
              </a:rPr>
              <a:t>Learning</a:t>
            </a:r>
            <a:r>
              <a:rPr sz="10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22373A"/>
                </a:solidFill>
                <a:latin typeface="Arial"/>
                <a:cs typeface="Arial"/>
              </a:rPr>
              <a:t>Takes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000">
              <a:latin typeface="Arial"/>
              <a:cs typeface="Arial"/>
            </a:endParaRPr>
          </a:p>
          <a:p>
            <a:pPr marL="263525" marR="5080" indent="-125095">
              <a:lnSpc>
                <a:spcPct val="114599"/>
              </a:lnSpc>
              <a:buFont typeface="Arial"/>
              <a:buChar char="•"/>
              <a:tabLst>
                <a:tab pos="265430" algn="l"/>
              </a:tabLst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2012:</a:t>
            </a:r>
            <a:r>
              <a:rPr sz="1000" b="1" spc="1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AlexNet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suddenly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got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VERY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good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recognizing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5" dirty="0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(Cats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vs. 	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Dogs).</a:t>
            </a: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264160" algn="l"/>
              </a:tabLst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2022:</a:t>
            </a:r>
            <a:r>
              <a:rPr sz="1000" b="1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ChatGPT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learned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poetry,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code,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5" dirty="0">
                <a:solidFill>
                  <a:srgbClr val="22373A"/>
                </a:solidFill>
                <a:latin typeface="Arial"/>
                <a:cs typeface="Arial"/>
              </a:rPr>
              <a:t>essays</a:t>
            </a:r>
            <a:r>
              <a:rPr sz="10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human.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83857" y="3096300"/>
            <a:ext cx="1796414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13792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98303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80"/>
              </a:lnSpc>
            </a:pPr>
            <a:r>
              <a:rPr dirty="0"/>
              <a:t>18</a:t>
            </a:r>
            <a:r>
              <a:rPr spc="65" dirty="0"/>
              <a:t> </a:t>
            </a:r>
            <a:r>
              <a:rPr spc="240" dirty="0"/>
              <a:t>/</a:t>
            </a:r>
            <a:r>
              <a:rPr spc="65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25" dirty="0"/>
              <a:t> </a:t>
            </a:r>
            <a:r>
              <a:rPr spc="-30" dirty="0"/>
              <a:t>Recipe</a:t>
            </a:r>
            <a:r>
              <a:rPr spc="25" dirty="0"/>
              <a:t> </a:t>
            </a:r>
            <a:r>
              <a:rPr dirty="0"/>
              <a:t>for</a:t>
            </a:r>
            <a:r>
              <a:rPr spc="25" dirty="0"/>
              <a:t> </a:t>
            </a:r>
            <a:r>
              <a:rPr spc="-40" dirty="0"/>
              <a:t>Revolution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10467"/>
            <a:ext cx="30213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wasn’t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magic.</a:t>
            </a:r>
            <a:r>
              <a:rPr sz="10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90" dirty="0">
                <a:solidFill>
                  <a:srgbClr val="22373A"/>
                </a:solidFill>
                <a:latin typeface="Arial"/>
                <a:cs typeface="Arial"/>
              </a:rPr>
              <a:t>was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60" dirty="0">
                <a:solidFill>
                  <a:srgbClr val="22373A"/>
                </a:solidFill>
                <a:latin typeface="Arial"/>
                <a:cs typeface="Arial"/>
              </a:rPr>
              <a:t>convergence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three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factors: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8211" y="1590490"/>
            <a:ext cx="1562735" cy="854075"/>
            <a:chOff x="268211" y="1590490"/>
            <a:chExt cx="1562735" cy="854075"/>
          </a:xfrm>
        </p:grpSpPr>
        <p:sp>
          <p:nvSpPr>
            <p:cNvPr id="5" name="object 5"/>
            <p:cNvSpPr/>
            <p:nvPr/>
          </p:nvSpPr>
          <p:spPr>
            <a:xfrm>
              <a:off x="268211" y="1590490"/>
              <a:ext cx="1562735" cy="854075"/>
            </a:xfrm>
            <a:custGeom>
              <a:avLst/>
              <a:gdLst/>
              <a:ahLst/>
              <a:cxnLst/>
              <a:rect l="l" t="t" r="r" b="b"/>
              <a:pathLst>
                <a:path w="1562735" h="854075">
                  <a:moveTo>
                    <a:pt x="150840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799662"/>
                  </a:lnTo>
                  <a:lnTo>
                    <a:pt x="4243" y="820681"/>
                  </a:lnTo>
                  <a:lnTo>
                    <a:pt x="15816" y="837846"/>
                  </a:lnTo>
                  <a:lnTo>
                    <a:pt x="32980" y="849419"/>
                  </a:lnTo>
                  <a:lnTo>
                    <a:pt x="54000" y="853662"/>
                  </a:lnTo>
                  <a:lnTo>
                    <a:pt x="1508407" y="853662"/>
                  </a:lnTo>
                  <a:lnTo>
                    <a:pt x="1529426" y="849419"/>
                  </a:lnTo>
                  <a:lnTo>
                    <a:pt x="1546591" y="837846"/>
                  </a:lnTo>
                  <a:lnTo>
                    <a:pt x="1558164" y="820681"/>
                  </a:lnTo>
                  <a:lnTo>
                    <a:pt x="1562407" y="799662"/>
                  </a:lnTo>
                  <a:lnTo>
                    <a:pt x="1562407" y="54000"/>
                  </a:lnTo>
                  <a:lnTo>
                    <a:pt x="1558164" y="32980"/>
                  </a:lnTo>
                  <a:lnTo>
                    <a:pt x="1546591" y="15816"/>
                  </a:lnTo>
                  <a:lnTo>
                    <a:pt x="1529426" y="4243"/>
                  </a:lnTo>
                  <a:lnTo>
                    <a:pt x="1508407" y="0"/>
                  </a:lnTo>
                  <a:close/>
                </a:path>
              </a:pathLst>
            </a:custGeom>
            <a:solidFill>
              <a:srgbClr val="218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6211" y="1810959"/>
              <a:ext cx="1526540" cy="615315"/>
            </a:xfrm>
            <a:custGeom>
              <a:avLst/>
              <a:gdLst/>
              <a:ahLst/>
              <a:cxnLst/>
              <a:rect l="l" t="t" r="r" b="b"/>
              <a:pathLst>
                <a:path w="1526539" h="615314">
                  <a:moveTo>
                    <a:pt x="1526407" y="0"/>
                  </a:moveTo>
                  <a:lnTo>
                    <a:pt x="0" y="0"/>
                  </a:lnTo>
                  <a:lnTo>
                    <a:pt x="0" y="579193"/>
                  </a:lnTo>
                  <a:lnTo>
                    <a:pt x="2829" y="593206"/>
                  </a:lnTo>
                  <a:lnTo>
                    <a:pt x="10544" y="604649"/>
                  </a:lnTo>
                  <a:lnTo>
                    <a:pt x="21987" y="612364"/>
                  </a:lnTo>
                  <a:lnTo>
                    <a:pt x="36000" y="615193"/>
                  </a:lnTo>
                  <a:lnTo>
                    <a:pt x="1490407" y="615193"/>
                  </a:lnTo>
                  <a:lnTo>
                    <a:pt x="1504420" y="612364"/>
                  </a:lnTo>
                  <a:lnTo>
                    <a:pt x="1515863" y="604649"/>
                  </a:lnTo>
                  <a:lnTo>
                    <a:pt x="1523578" y="593206"/>
                  </a:lnTo>
                  <a:lnTo>
                    <a:pt x="1526407" y="579193"/>
                  </a:lnTo>
                  <a:lnTo>
                    <a:pt x="1526407" y="0"/>
                  </a:lnTo>
                  <a:close/>
                </a:path>
              </a:pathLst>
            </a:custGeom>
            <a:solidFill>
              <a:srgbClr val="F2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53504" y="1593143"/>
            <a:ext cx="7213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1000" b="1" spc="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Big</a:t>
            </a:r>
            <a:r>
              <a:rPr sz="10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3504" y="1848082"/>
            <a:ext cx="1192530" cy="50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100"/>
              </a:spcBef>
            </a:pPr>
            <a:r>
              <a:rPr sz="900" spc="-10" dirty="0">
                <a:latin typeface="Arial"/>
                <a:cs typeface="Arial"/>
              </a:rPr>
              <a:t>Explosion</a:t>
            </a:r>
            <a:r>
              <a:rPr sz="900" spc="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9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from </a:t>
            </a:r>
            <a:r>
              <a:rPr sz="900" dirty="0">
                <a:latin typeface="Arial"/>
                <a:cs typeface="Arial"/>
              </a:rPr>
              <a:t>social</a:t>
            </a:r>
            <a:r>
              <a:rPr sz="900" spc="1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media</a:t>
            </a:r>
            <a:r>
              <a:rPr sz="900" spc="1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19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sen-</a:t>
            </a:r>
            <a:r>
              <a:rPr sz="900" spc="-10" dirty="0">
                <a:latin typeface="Arial"/>
                <a:cs typeface="Arial"/>
              </a:rPr>
              <a:t> sors.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98801" y="1590499"/>
            <a:ext cx="1562735" cy="851535"/>
            <a:chOff x="2098801" y="1590499"/>
            <a:chExt cx="1562735" cy="851535"/>
          </a:xfrm>
        </p:grpSpPr>
        <p:sp>
          <p:nvSpPr>
            <p:cNvPr id="10" name="object 10"/>
            <p:cNvSpPr/>
            <p:nvPr/>
          </p:nvSpPr>
          <p:spPr>
            <a:xfrm>
              <a:off x="2098801" y="1590499"/>
              <a:ext cx="1562735" cy="851535"/>
            </a:xfrm>
            <a:custGeom>
              <a:avLst/>
              <a:gdLst/>
              <a:ahLst/>
              <a:cxnLst/>
              <a:rect l="l" t="t" r="r" b="b"/>
              <a:pathLst>
                <a:path w="1562735" h="851535">
                  <a:moveTo>
                    <a:pt x="150840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797202"/>
                  </a:lnTo>
                  <a:lnTo>
                    <a:pt x="4243" y="818221"/>
                  </a:lnTo>
                  <a:lnTo>
                    <a:pt x="15816" y="835386"/>
                  </a:lnTo>
                  <a:lnTo>
                    <a:pt x="32980" y="846958"/>
                  </a:lnTo>
                  <a:lnTo>
                    <a:pt x="54000" y="851202"/>
                  </a:lnTo>
                  <a:lnTo>
                    <a:pt x="1508407" y="851202"/>
                  </a:lnTo>
                  <a:lnTo>
                    <a:pt x="1529426" y="846958"/>
                  </a:lnTo>
                  <a:lnTo>
                    <a:pt x="1546591" y="835386"/>
                  </a:lnTo>
                  <a:lnTo>
                    <a:pt x="1558164" y="818221"/>
                  </a:lnTo>
                  <a:lnTo>
                    <a:pt x="1562407" y="797202"/>
                  </a:lnTo>
                  <a:lnTo>
                    <a:pt x="1562407" y="54000"/>
                  </a:lnTo>
                  <a:lnTo>
                    <a:pt x="1558164" y="32980"/>
                  </a:lnTo>
                  <a:lnTo>
                    <a:pt x="1546591" y="15816"/>
                  </a:lnTo>
                  <a:lnTo>
                    <a:pt x="1529426" y="4243"/>
                  </a:lnTo>
                  <a:lnTo>
                    <a:pt x="1508407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16801" y="1786366"/>
              <a:ext cx="1526540" cy="637540"/>
            </a:xfrm>
            <a:custGeom>
              <a:avLst/>
              <a:gdLst/>
              <a:ahLst/>
              <a:cxnLst/>
              <a:rect l="l" t="t" r="r" b="b"/>
              <a:pathLst>
                <a:path w="1526539" h="637539">
                  <a:moveTo>
                    <a:pt x="1526407" y="0"/>
                  </a:moveTo>
                  <a:lnTo>
                    <a:pt x="0" y="0"/>
                  </a:lnTo>
                  <a:lnTo>
                    <a:pt x="0" y="601335"/>
                  </a:lnTo>
                  <a:lnTo>
                    <a:pt x="2829" y="615348"/>
                  </a:lnTo>
                  <a:lnTo>
                    <a:pt x="10544" y="626791"/>
                  </a:lnTo>
                  <a:lnTo>
                    <a:pt x="21987" y="634506"/>
                  </a:lnTo>
                  <a:lnTo>
                    <a:pt x="36000" y="637335"/>
                  </a:lnTo>
                  <a:lnTo>
                    <a:pt x="1490407" y="637335"/>
                  </a:lnTo>
                  <a:lnTo>
                    <a:pt x="1504420" y="634506"/>
                  </a:lnTo>
                  <a:lnTo>
                    <a:pt x="1515863" y="626791"/>
                  </a:lnTo>
                  <a:lnTo>
                    <a:pt x="1523578" y="615348"/>
                  </a:lnTo>
                  <a:lnTo>
                    <a:pt x="1526407" y="601335"/>
                  </a:lnTo>
                  <a:lnTo>
                    <a:pt x="1526407" y="0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284107" y="1593143"/>
            <a:ext cx="7416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sz="1000" b="1" spc="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FFFFF"/>
                </a:solidFill>
                <a:latin typeface="Arial"/>
                <a:cs typeface="Arial"/>
              </a:rPr>
              <a:t>Hardware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84107" y="1823482"/>
            <a:ext cx="1192530" cy="50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100"/>
              </a:spcBef>
              <a:tabLst>
                <a:tab pos="652145" algn="l"/>
              </a:tabLst>
            </a:pPr>
            <a:r>
              <a:rPr sz="900" spc="-10" dirty="0">
                <a:latin typeface="Arial"/>
                <a:cs typeface="Arial"/>
              </a:rPr>
              <a:t>Faster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40" dirty="0">
                <a:latin typeface="Arial"/>
                <a:cs typeface="Arial"/>
              </a:rPr>
              <a:t>Computers </a:t>
            </a:r>
            <a:r>
              <a:rPr sz="900" dirty="0">
                <a:latin typeface="Arial"/>
                <a:cs typeface="Arial"/>
              </a:rPr>
              <a:t>(GPUs).</a:t>
            </a:r>
            <a:r>
              <a:rPr sz="900" spc="4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Gaming</a:t>
            </a:r>
            <a:r>
              <a:rPr sz="900" spc="1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tech powering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AI.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929405" y="1590490"/>
            <a:ext cx="1562735" cy="854075"/>
            <a:chOff x="3929405" y="1590490"/>
            <a:chExt cx="1562735" cy="854075"/>
          </a:xfrm>
        </p:grpSpPr>
        <p:sp>
          <p:nvSpPr>
            <p:cNvPr id="15" name="object 15"/>
            <p:cNvSpPr/>
            <p:nvPr/>
          </p:nvSpPr>
          <p:spPr>
            <a:xfrm>
              <a:off x="3929405" y="1590490"/>
              <a:ext cx="1562735" cy="854075"/>
            </a:xfrm>
            <a:custGeom>
              <a:avLst/>
              <a:gdLst/>
              <a:ahLst/>
              <a:cxnLst/>
              <a:rect l="l" t="t" r="r" b="b"/>
              <a:pathLst>
                <a:path w="1562735" h="854075">
                  <a:moveTo>
                    <a:pt x="150840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799662"/>
                  </a:lnTo>
                  <a:lnTo>
                    <a:pt x="4243" y="820681"/>
                  </a:lnTo>
                  <a:lnTo>
                    <a:pt x="15816" y="837846"/>
                  </a:lnTo>
                  <a:lnTo>
                    <a:pt x="32980" y="849419"/>
                  </a:lnTo>
                  <a:lnTo>
                    <a:pt x="54000" y="853662"/>
                  </a:lnTo>
                  <a:lnTo>
                    <a:pt x="1508407" y="853662"/>
                  </a:lnTo>
                  <a:lnTo>
                    <a:pt x="1529426" y="849419"/>
                  </a:lnTo>
                  <a:lnTo>
                    <a:pt x="1546591" y="837846"/>
                  </a:lnTo>
                  <a:lnTo>
                    <a:pt x="1558164" y="820681"/>
                  </a:lnTo>
                  <a:lnTo>
                    <a:pt x="1562407" y="799662"/>
                  </a:lnTo>
                  <a:lnTo>
                    <a:pt x="1562407" y="54000"/>
                  </a:lnTo>
                  <a:lnTo>
                    <a:pt x="1558164" y="32980"/>
                  </a:lnTo>
                  <a:lnTo>
                    <a:pt x="1546591" y="15816"/>
                  </a:lnTo>
                  <a:lnTo>
                    <a:pt x="1529426" y="4243"/>
                  </a:lnTo>
                  <a:lnTo>
                    <a:pt x="1508407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47405" y="1810959"/>
              <a:ext cx="1526540" cy="615315"/>
            </a:xfrm>
            <a:custGeom>
              <a:avLst/>
              <a:gdLst/>
              <a:ahLst/>
              <a:cxnLst/>
              <a:rect l="l" t="t" r="r" b="b"/>
              <a:pathLst>
                <a:path w="1526539" h="615314">
                  <a:moveTo>
                    <a:pt x="1526407" y="0"/>
                  </a:moveTo>
                  <a:lnTo>
                    <a:pt x="0" y="0"/>
                  </a:lnTo>
                  <a:lnTo>
                    <a:pt x="0" y="579193"/>
                  </a:lnTo>
                  <a:lnTo>
                    <a:pt x="2829" y="593206"/>
                  </a:lnTo>
                  <a:lnTo>
                    <a:pt x="10544" y="604649"/>
                  </a:lnTo>
                  <a:lnTo>
                    <a:pt x="21987" y="612364"/>
                  </a:lnTo>
                  <a:lnTo>
                    <a:pt x="36000" y="615193"/>
                  </a:lnTo>
                  <a:lnTo>
                    <a:pt x="1490407" y="615193"/>
                  </a:lnTo>
                  <a:lnTo>
                    <a:pt x="1504420" y="612364"/>
                  </a:lnTo>
                  <a:lnTo>
                    <a:pt x="1515863" y="604649"/>
                  </a:lnTo>
                  <a:lnTo>
                    <a:pt x="1523578" y="593206"/>
                  </a:lnTo>
                  <a:lnTo>
                    <a:pt x="1526407" y="579193"/>
                  </a:lnTo>
                  <a:lnTo>
                    <a:pt x="1526407" y="0"/>
                  </a:lnTo>
                  <a:close/>
                </a:path>
              </a:pathLst>
            </a:custGeom>
            <a:solidFill>
              <a:srgbClr val="FF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14698" y="1593143"/>
            <a:ext cx="8210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3.</a:t>
            </a:r>
            <a:r>
              <a:rPr sz="1000" b="1" spc="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14698" y="1848082"/>
            <a:ext cx="1192530" cy="50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Smarter</a:t>
            </a:r>
            <a:r>
              <a:rPr sz="900" spc="1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Math.</a:t>
            </a:r>
            <a:r>
              <a:rPr sz="900" spc="175" dirty="0"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Better </a:t>
            </a:r>
            <a:r>
              <a:rPr sz="900" spc="-60" dirty="0">
                <a:latin typeface="Arial"/>
                <a:cs typeface="Arial"/>
              </a:rPr>
              <a:t>ways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train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Deep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Net- </a:t>
            </a:r>
            <a:r>
              <a:rPr sz="900" spc="-10" dirty="0">
                <a:latin typeface="Arial"/>
                <a:cs typeface="Arial"/>
              </a:rPr>
              <a:t>works.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83857" y="3096300"/>
            <a:ext cx="1796414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13792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98303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80"/>
              </a:lnSpc>
            </a:pPr>
            <a:r>
              <a:rPr dirty="0"/>
              <a:t>19</a:t>
            </a:r>
            <a:r>
              <a:rPr spc="65" dirty="0"/>
              <a:t> </a:t>
            </a:r>
            <a:r>
              <a:rPr spc="240" dirty="0"/>
              <a:t>/</a:t>
            </a:r>
            <a:r>
              <a:rPr spc="65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AI</a:t>
            </a:r>
            <a:r>
              <a:rPr spc="80" dirty="0"/>
              <a:t> </a:t>
            </a:r>
            <a:r>
              <a:rPr spc="-30" dirty="0"/>
              <a:t>Ethics:</a:t>
            </a:r>
            <a:r>
              <a:rPr spc="220" dirty="0"/>
              <a:t> </a:t>
            </a:r>
            <a:r>
              <a:rPr dirty="0"/>
              <a:t>Why</a:t>
            </a:r>
            <a:r>
              <a:rPr spc="85" dirty="0"/>
              <a:t> </a:t>
            </a:r>
            <a:r>
              <a:rPr dirty="0"/>
              <a:t>it</a:t>
            </a:r>
            <a:r>
              <a:rPr spc="80" dirty="0"/>
              <a:t> </a:t>
            </a:r>
            <a:r>
              <a:rPr spc="-10" dirty="0"/>
              <a:t>Matters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899328"/>
            <a:ext cx="5040630" cy="542925"/>
            <a:chOff x="359994" y="899328"/>
            <a:chExt cx="5040630" cy="542925"/>
          </a:xfrm>
        </p:grpSpPr>
        <p:sp>
          <p:nvSpPr>
            <p:cNvPr id="4" name="object 4"/>
            <p:cNvSpPr/>
            <p:nvPr/>
          </p:nvSpPr>
          <p:spPr>
            <a:xfrm>
              <a:off x="359994" y="899328"/>
              <a:ext cx="5040630" cy="542925"/>
            </a:xfrm>
            <a:custGeom>
              <a:avLst/>
              <a:gdLst/>
              <a:ahLst/>
              <a:cxnLst/>
              <a:rect l="l" t="t" r="r" b="b"/>
              <a:pathLst>
                <a:path w="5040630" h="542925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88337"/>
                  </a:lnTo>
                  <a:lnTo>
                    <a:pt x="4243" y="509356"/>
                  </a:lnTo>
                  <a:lnTo>
                    <a:pt x="15816" y="526521"/>
                  </a:lnTo>
                  <a:lnTo>
                    <a:pt x="32980" y="538093"/>
                  </a:lnTo>
                  <a:lnTo>
                    <a:pt x="54000" y="542337"/>
                  </a:lnTo>
                  <a:lnTo>
                    <a:pt x="4986064" y="542337"/>
                  </a:lnTo>
                  <a:lnTo>
                    <a:pt x="5007084" y="538093"/>
                  </a:lnTo>
                  <a:lnTo>
                    <a:pt x="5024248" y="526521"/>
                  </a:lnTo>
                  <a:lnTo>
                    <a:pt x="5035821" y="509356"/>
                  </a:lnTo>
                  <a:lnTo>
                    <a:pt x="5040064" y="488337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7994" y="1095195"/>
              <a:ext cx="5004435" cy="328930"/>
            </a:xfrm>
            <a:custGeom>
              <a:avLst/>
              <a:gdLst/>
              <a:ahLst/>
              <a:cxnLst/>
              <a:rect l="l" t="t" r="r" b="b"/>
              <a:pathLst>
                <a:path w="5004435" h="328930">
                  <a:moveTo>
                    <a:pt x="5004065" y="0"/>
                  </a:moveTo>
                  <a:lnTo>
                    <a:pt x="0" y="0"/>
                  </a:lnTo>
                  <a:lnTo>
                    <a:pt x="0" y="292470"/>
                  </a:lnTo>
                  <a:lnTo>
                    <a:pt x="2829" y="306483"/>
                  </a:lnTo>
                  <a:lnTo>
                    <a:pt x="10544" y="317926"/>
                  </a:lnTo>
                  <a:lnTo>
                    <a:pt x="21987" y="325641"/>
                  </a:lnTo>
                  <a:lnTo>
                    <a:pt x="36000" y="328470"/>
                  </a:lnTo>
                  <a:lnTo>
                    <a:pt x="4968064" y="328470"/>
                  </a:lnTo>
                  <a:lnTo>
                    <a:pt x="4982077" y="325641"/>
                  </a:lnTo>
                  <a:lnTo>
                    <a:pt x="4993521" y="317926"/>
                  </a:lnTo>
                  <a:lnTo>
                    <a:pt x="5001236" y="306483"/>
                  </a:lnTo>
                  <a:lnTo>
                    <a:pt x="5004065" y="292470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901971"/>
            <a:ext cx="4673600" cy="16630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0185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Reflection</a:t>
            </a:r>
            <a:endParaRPr sz="1000">
              <a:latin typeface="Arial"/>
              <a:cs typeface="Arial"/>
            </a:endParaRPr>
          </a:p>
          <a:p>
            <a:pPr marL="210185">
              <a:lnSpc>
                <a:spcPct val="100000"/>
              </a:lnSpc>
              <a:spcBef>
                <a:spcPts val="765"/>
              </a:spcBef>
            </a:pPr>
            <a:r>
              <a:rPr sz="1000" dirty="0">
                <a:latin typeface="Arial"/>
                <a:cs typeface="Arial"/>
              </a:rPr>
              <a:t>”With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great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power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-75" dirty="0">
                <a:latin typeface="Arial"/>
                <a:cs typeface="Arial"/>
              </a:rPr>
              <a:t>comes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great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responsibility.”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future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managers,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must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understand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risks:</a:t>
            </a:r>
            <a:endParaRPr sz="1000">
              <a:latin typeface="Arial"/>
              <a:cs typeface="Arial"/>
            </a:endParaRPr>
          </a:p>
          <a:p>
            <a:pPr marL="263525" marR="5080" indent="-125095">
              <a:lnSpc>
                <a:spcPct val="114599"/>
              </a:lnSpc>
              <a:spcBef>
                <a:spcPts val="795"/>
              </a:spcBef>
              <a:buFont typeface="Arial"/>
              <a:buChar char="•"/>
              <a:tabLst>
                <a:tab pos="265430" algn="l"/>
              </a:tabLst>
            </a:pP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Bias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8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train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bad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data,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75" dirty="0">
                <a:solidFill>
                  <a:srgbClr val="22373A"/>
                </a:solidFill>
                <a:latin typeface="Arial"/>
                <a:cs typeface="Arial"/>
              </a:rPr>
              <a:t>makes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unfair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5" dirty="0">
                <a:solidFill>
                  <a:srgbClr val="22373A"/>
                </a:solidFill>
                <a:latin typeface="Arial"/>
                <a:cs typeface="Arial"/>
              </a:rPr>
              <a:t>decisions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rejecting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loans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for 	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minorities).</a:t>
            </a: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264160" algn="l"/>
              </a:tabLst>
            </a:pP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Privacy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Who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65" dirty="0">
                <a:solidFill>
                  <a:srgbClr val="22373A"/>
                </a:solidFill>
                <a:latin typeface="Arial"/>
                <a:cs typeface="Arial"/>
              </a:rPr>
              <a:t>owns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data?</a:t>
            </a:r>
            <a:r>
              <a:rPr sz="10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(Your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 face,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clicks).</a:t>
            </a: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spcBef>
                <a:spcPts val="470"/>
              </a:spcBef>
              <a:buFont typeface="Arial"/>
              <a:buChar char="•"/>
              <a:tabLst>
                <a:tab pos="264160" algn="l"/>
              </a:tabLst>
            </a:pPr>
            <a:r>
              <a:rPr sz="1000" b="1" spc="-30" dirty="0">
                <a:solidFill>
                  <a:srgbClr val="22373A"/>
                </a:solidFill>
                <a:latin typeface="Arial"/>
                <a:cs typeface="Arial"/>
              </a:rPr>
              <a:t>Deepfakes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AI 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generated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fake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videos/audio.</a:t>
            </a:r>
            <a:r>
              <a:rPr sz="10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do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8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trust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8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see?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3857" y="3096300"/>
            <a:ext cx="1796414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13792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98303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80"/>
              </a:lnSpc>
            </a:pPr>
            <a:r>
              <a:rPr dirty="0"/>
              <a:t>20</a:t>
            </a:r>
            <a:r>
              <a:rPr spc="65" dirty="0"/>
              <a:t> </a:t>
            </a:r>
            <a:r>
              <a:rPr spc="240" dirty="0"/>
              <a:t>/</a:t>
            </a:r>
            <a:r>
              <a:rPr spc="65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53060"/>
          </a:xfrm>
          <a:custGeom>
            <a:avLst/>
            <a:gdLst/>
            <a:ahLst/>
            <a:cxnLst/>
            <a:rect l="l" t="t" r="r" b="b"/>
            <a:pathLst>
              <a:path w="5760085" h="353060">
                <a:moveTo>
                  <a:pt x="5759996" y="0"/>
                </a:moveTo>
                <a:lnTo>
                  <a:pt x="0" y="0"/>
                </a:lnTo>
                <a:lnTo>
                  <a:pt x="0" y="352869"/>
                </a:lnTo>
                <a:lnTo>
                  <a:pt x="5759996" y="352869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010" y="64615"/>
            <a:ext cx="186372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sz="12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sz="12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replace</a:t>
            </a:r>
            <a:r>
              <a:rPr sz="12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12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humans.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522080"/>
            <a:ext cx="5760085" cy="2718435"/>
            <a:chOff x="0" y="522080"/>
            <a:chExt cx="5760085" cy="27184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943" y="522080"/>
              <a:ext cx="4378065" cy="271791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3085350"/>
              <a:ext cx="5760085" cy="154940"/>
            </a:xfrm>
            <a:custGeom>
              <a:avLst/>
              <a:gdLst/>
              <a:ahLst/>
              <a:cxnLst/>
              <a:rect l="l" t="t" r="r" b="b"/>
              <a:pathLst>
                <a:path w="5760085" h="154939">
                  <a:moveTo>
                    <a:pt x="5759996" y="0"/>
                  </a:moveTo>
                  <a:lnTo>
                    <a:pt x="0" y="0"/>
                  </a:lnTo>
                  <a:lnTo>
                    <a:pt x="0" y="154647"/>
                  </a:lnTo>
                  <a:lnTo>
                    <a:pt x="5759996" y="15464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91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83857" y="3096300"/>
            <a:ext cx="1796414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3792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98303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80"/>
              </a:lnSpc>
            </a:pPr>
            <a:r>
              <a:rPr dirty="0"/>
              <a:t>21</a:t>
            </a:r>
            <a:r>
              <a:rPr spc="65" dirty="0"/>
              <a:t> </a:t>
            </a:r>
            <a:r>
              <a:rPr spc="240" dirty="0"/>
              <a:t>/</a:t>
            </a:r>
            <a:r>
              <a:rPr spc="65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Myths</a:t>
            </a:r>
            <a:r>
              <a:rPr spc="-15" dirty="0"/>
              <a:t> </a:t>
            </a:r>
            <a:r>
              <a:rPr dirty="0"/>
              <a:t>vs.</a:t>
            </a:r>
            <a:r>
              <a:rPr spc="100" dirty="0"/>
              <a:t> </a:t>
            </a:r>
            <a:r>
              <a:rPr spc="-25" dirty="0"/>
              <a:t>Reality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0004" y="1234710"/>
            <a:ext cx="2520315" cy="542925"/>
            <a:chOff x="240004" y="1234710"/>
            <a:chExt cx="2520315" cy="542925"/>
          </a:xfrm>
        </p:grpSpPr>
        <p:sp>
          <p:nvSpPr>
            <p:cNvPr id="4" name="object 4"/>
            <p:cNvSpPr/>
            <p:nvPr/>
          </p:nvSpPr>
          <p:spPr>
            <a:xfrm>
              <a:off x="240004" y="1234710"/>
              <a:ext cx="2520315" cy="542925"/>
            </a:xfrm>
            <a:custGeom>
              <a:avLst/>
              <a:gdLst/>
              <a:ahLst/>
              <a:cxnLst/>
              <a:rect l="l" t="t" r="r" b="b"/>
              <a:pathLst>
                <a:path w="2520315" h="542925">
                  <a:moveTo>
                    <a:pt x="2466032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88337"/>
                  </a:lnTo>
                  <a:lnTo>
                    <a:pt x="4243" y="509356"/>
                  </a:lnTo>
                  <a:lnTo>
                    <a:pt x="15816" y="526521"/>
                  </a:lnTo>
                  <a:lnTo>
                    <a:pt x="32980" y="538093"/>
                  </a:lnTo>
                  <a:lnTo>
                    <a:pt x="54000" y="542337"/>
                  </a:lnTo>
                  <a:lnTo>
                    <a:pt x="2466032" y="542337"/>
                  </a:lnTo>
                  <a:lnTo>
                    <a:pt x="2487051" y="538093"/>
                  </a:lnTo>
                  <a:lnTo>
                    <a:pt x="2504216" y="526521"/>
                  </a:lnTo>
                  <a:lnTo>
                    <a:pt x="2515788" y="509356"/>
                  </a:lnTo>
                  <a:lnTo>
                    <a:pt x="2520032" y="488337"/>
                  </a:lnTo>
                  <a:lnTo>
                    <a:pt x="2520032" y="54000"/>
                  </a:lnTo>
                  <a:lnTo>
                    <a:pt x="2515788" y="32980"/>
                  </a:lnTo>
                  <a:lnTo>
                    <a:pt x="2504216" y="15816"/>
                  </a:lnTo>
                  <a:lnTo>
                    <a:pt x="2487051" y="4243"/>
                  </a:lnTo>
                  <a:lnTo>
                    <a:pt x="2466032" y="0"/>
                  </a:lnTo>
                  <a:close/>
                </a:path>
              </a:pathLst>
            </a:custGeom>
            <a:solidFill>
              <a:srgbClr val="218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8004" y="1430576"/>
              <a:ext cx="2484120" cy="328930"/>
            </a:xfrm>
            <a:custGeom>
              <a:avLst/>
              <a:gdLst/>
              <a:ahLst/>
              <a:cxnLst/>
              <a:rect l="l" t="t" r="r" b="b"/>
              <a:pathLst>
                <a:path w="2484120" h="328930">
                  <a:moveTo>
                    <a:pt x="2484032" y="0"/>
                  </a:moveTo>
                  <a:lnTo>
                    <a:pt x="0" y="0"/>
                  </a:lnTo>
                  <a:lnTo>
                    <a:pt x="0" y="292470"/>
                  </a:lnTo>
                  <a:lnTo>
                    <a:pt x="2829" y="306483"/>
                  </a:lnTo>
                  <a:lnTo>
                    <a:pt x="10544" y="317926"/>
                  </a:lnTo>
                  <a:lnTo>
                    <a:pt x="21987" y="325641"/>
                  </a:lnTo>
                  <a:lnTo>
                    <a:pt x="36000" y="328470"/>
                  </a:lnTo>
                  <a:lnTo>
                    <a:pt x="2448032" y="328470"/>
                  </a:lnTo>
                  <a:lnTo>
                    <a:pt x="2462045" y="325641"/>
                  </a:lnTo>
                  <a:lnTo>
                    <a:pt x="2473488" y="317926"/>
                  </a:lnTo>
                  <a:lnTo>
                    <a:pt x="2481203" y="306483"/>
                  </a:lnTo>
                  <a:lnTo>
                    <a:pt x="2484032" y="292470"/>
                  </a:lnTo>
                  <a:lnTo>
                    <a:pt x="2484032" y="0"/>
                  </a:lnTo>
                  <a:close/>
                </a:path>
              </a:pathLst>
            </a:custGeom>
            <a:solidFill>
              <a:srgbClr val="F2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5297" y="1237365"/>
            <a:ext cx="43560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70" dirty="0">
                <a:solidFill>
                  <a:srgbClr val="FFFFFF"/>
                </a:solidFill>
                <a:latin typeface="Arial"/>
                <a:cs typeface="Arial"/>
              </a:rPr>
              <a:t>MYTH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5297" y="1487225"/>
            <a:ext cx="15474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0" dirty="0">
                <a:latin typeface="Arial"/>
                <a:cs typeface="Arial"/>
              </a:rPr>
              <a:t>”AI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will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replace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all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humans.”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99994" y="1159712"/>
            <a:ext cx="2520315" cy="692785"/>
            <a:chOff x="2999994" y="1159712"/>
            <a:chExt cx="2520315" cy="692785"/>
          </a:xfrm>
        </p:grpSpPr>
        <p:sp>
          <p:nvSpPr>
            <p:cNvPr id="9" name="object 9"/>
            <p:cNvSpPr/>
            <p:nvPr/>
          </p:nvSpPr>
          <p:spPr>
            <a:xfrm>
              <a:off x="2999994" y="1159712"/>
              <a:ext cx="2520315" cy="692785"/>
            </a:xfrm>
            <a:custGeom>
              <a:avLst/>
              <a:gdLst/>
              <a:ahLst/>
              <a:cxnLst/>
              <a:rect l="l" t="t" r="r" b="b"/>
              <a:pathLst>
                <a:path w="2520315" h="692785">
                  <a:moveTo>
                    <a:pt x="2466032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638341"/>
                  </a:lnTo>
                  <a:lnTo>
                    <a:pt x="4243" y="659360"/>
                  </a:lnTo>
                  <a:lnTo>
                    <a:pt x="15816" y="676525"/>
                  </a:lnTo>
                  <a:lnTo>
                    <a:pt x="32980" y="688097"/>
                  </a:lnTo>
                  <a:lnTo>
                    <a:pt x="54000" y="692341"/>
                  </a:lnTo>
                  <a:lnTo>
                    <a:pt x="2466032" y="692341"/>
                  </a:lnTo>
                  <a:lnTo>
                    <a:pt x="2487051" y="688097"/>
                  </a:lnTo>
                  <a:lnTo>
                    <a:pt x="2504216" y="676525"/>
                  </a:lnTo>
                  <a:lnTo>
                    <a:pt x="2515788" y="659360"/>
                  </a:lnTo>
                  <a:lnTo>
                    <a:pt x="2520032" y="638341"/>
                  </a:lnTo>
                  <a:lnTo>
                    <a:pt x="2520032" y="54000"/>
                  </a:lnTo>
                  <a:lnTo>
                    <a:pt x="2515788" y="32980"/>
                  </a:lnTo>
                  <a:lnTo>
                    <a:pt x="2504216" y="15816"/>
                  </a:lnTo>
                  <a:lnTo>
                    <a:pt x="2487051" y="4243"/>
                  </a:lnTo>
                  <a:lnTo>
                    <a:pt x="2466032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17993" y="1355579"/>
              <a:ext cx="2484120" cy="478790"/>
            </a:xfrm>
            <a:custGeom>
              <a:avLst/>
              <a:gdLst/>
              <a:ahLst/>
              <a:cxnLst/>
              <a:rect l="l" t="t" r="r" b="b"/>
              <a:pathLst>
                <a:path w="2484120" h="478789">
                  <a:moveTo>
                    <a:pt x="2484032" y="0"/>
                  </a:moveTo>
                  <a:lnTo>
                    <a:pt x="0" y="0"/>
                  </a:lnTo>
                  <a:lnTo>
                    <a:pt x="0" y="442474"/>
                  </a:lnTo>
                  <a:lnTo>
                    <a:pt x="2829" y="456487"/>
                  </a:lnTo>
                  <a:lnTo>
                    <a:pt x="10544" y="467930"/>
                  </a:lnTo>
                  <a:lnTo>
                    <a:pt x="21987" y="475645"/>
                  </a:lnTo>
                  <a:lnTo>
                    <a:pt x="36000" y="478474"/>
                  </a:lnTo>
                  <a:lnTo>
                    <a:pt x="2448032" y="478474"/>
                  </a:lnTo>
                  <a:lnTo>
                    <a:pt x="2462045" y="475645"/>
                  </a:lnTo>
                  <a:lnTo>
                    <a:pt x="2473488" y="467930"/>
                  </a:lnTo>
                  <a:lnTo>
                    <a:pt x="2481203" y="456487"/>
                  </a:lnTo>
                  <a:lnTo>
                    <a:pt x="2484032" y="442474"/>
                  </a:lnTo>
                  <a:lnTo>
                    <a:pt x="2484032" y="0"/>
                  </a:lnTo>
                  <a:close/>
                </a:path>
              </a:pathLst>
            </a:custGeom>
            <a:solidFill>
              <a:srgbClr val="FF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185299" y="1162359"/>
            <a:ext cx="5892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REALITY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85299" y="1389437"/>
            <a:ext cx="2149475" cy="374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000" spc="50" dirty="0">
                <a:latin typeface="Arial"/>
                <a:cs typeface="Arial"/>
              </a:rPr>
              <a:t>”AI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will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replace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humans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who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don’t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spc="-65" dirty="0">
                <a:latin typeface="Arial"/>
                <a:cs typeface="Arial"/>
              </a:rPr>
              <a:t>use </a:t>
            </a:r>
            <a:r>
              <a:rPr sz="1000" spc="-20" dirty="0">
                <a:latin typeface="Arial"/>
                <a:cs typeface="Arial"/>
              </a:rPr>
              <a:t>AI.”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7294" y="1987378"/>
            <a:ext cx="5065395" cy="374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0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22373A"/>
                </a:solidFill>
                <a:latin typeface="Arial"/>
                <a:cs typeface="Arial"/>
              </a:rPr>
              <a:t>Goal:</a:t>
            </a:r>
            <a:r>
              <a:rPr sz="1000" b="1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2373A"/>
                </a:solidFill>
                <a:latin typeface="Arial"/>
                <a:cs typeface="Arial"/>
              </a:rPr>
              <a:t>tool</a:t>
            </a:r>
            <a:r>
              <a:rPr sz="1000" i="1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(like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Excel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specific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software),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replacement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human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creativity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empathy.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83857" y="3096300"/>
            <a:ext cx="1796414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13792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98303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80"/>
              </a:lnSpc>
            </a:pPr>
            <a:r>
              <a:rPr dirty="0"/>
              <a:t>22</a:t>
            </a:r>
            <a:r>
              <a:rPr spc="65" dirty="0"/>
              <a:t> </a:t>
            </a:r>
            <a:r>
              <a:rPr spc="240" dirty="0"/>
              <a:t>/</a:t>
            </a:r>
            <a:r>
              <a:rPr spc="65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5511" y="1311856"/>
            <a:ext cx="11582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5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AI</a:t>
            </a:r>
            <a:r>
              <a:rPr sz="1400" b="1" spc="13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400" b="1" spc="-4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Disciplines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88211" y="1680101"/>
            <a:ext cx="2783840" cy="5080"/>
            <a:chOff x="1488211" y="1680101"/>
            <a:chExt cx="2783840" cy="5080"/>
          </a:xfrm>
        </p:grpSpPr>
        <p:sp>
          <p:nvSpPr>
            <p:cNvPr id="4" name="object 4"/>
            <p:cNvSpPr/>
            <p:nvPr/>
          </p:nvSpPr>
          <p:spPr>
            <a:xfrm>
              <a:off x="1488211" y="1680101"/>
              <a:ext cx="2783840" cy="5080"/>
            </a:xfrm>
            <a:custGeom>
              <a:avLst/>
              <a:gdLst/>
              <a:ahLst/>
              <a:cxnLst/>
              <a:rect l="l" t="t" r="r" b="b"/>
              <a:pathLst>
                <a:path w="2783840" h="5080">
                  <a:moveTo>
                    <a:pt x="0" y="5060"/>
                  </a:moveTo>
                  <a:lnTo>
                    <a:pt x="0" y="0"/>
                  </a:lnTo>
                  <a:lnTo>
                    <a:pt x="2783601" y="0"/>
                  </a:lnTo>
                  <a:lnTo>
                    <a:pt x="278360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88211" y="1680101"/>
              <a:ext cx="1361440" cy="5080"/>
            </a:xfrm>
            <a:custGeom>
              <a:avLst/>
              <a:gdLst/>
              <a:ahLst/>
              <a:cxnLst/>
              <a:rect l="l" t="t" r="r" b="b"/>
              <a:pathLst>
                <a:path w="1361439" h="5080">
                  <a:moveTo>
                    <a:pt x="0" y="5060"/>
                  </a:moveTo>
                  <a:lnTo>
                    <a:pt x="0" y="0"/>
                  </a:lnTo>
                  <a:lnTo>
                    <a:pt x="1360879" y="0"/>
                  </a:lnTo>
                  <a:lnTo>
                    <a:pt x="136087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FD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1.</a:t>
            </a:r>
            <a:r>
              <a:rPr spc="170" dirty="0"/>
              <a:t> </a:t>
            </a:r>
            <a:r>
              <a:rPr spc="-10" dirty="0"/>
              <a:t>Machine</a:t>
            </a:r>
            <a:r>
              <a:rPr spc="40" dirty="0"/>
              <a:t> </a:t>
            </a:r>
            <a:r>
              <a:rPr spc="-45" dirty="0"/>
              <a:t>Learning</a:t>
            </a:r>
            <a:r>
              <a:rPr spc="45" dirty="0"/>
              <a:t> </a:t>
            </a:r>
            <a:r>
              <a:rPr spc="60" dirty="0"/>
              <a:t>(ML)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1055496"/>
            <a:ext cx="5040630" cy="692785"/>
            <a:chOff x="359994" y="1055496"/>
            <a:chExt cx="5040630" cy="692785"/>
          </a:xfrm>
        </p:grpSpPr>
        <p:sp>
          <p:nvSpPr>
            <p:cNvPr id="4" name="object 4"/>
            <p:cNvSpPr/>
            <p:nvPr/>
          </p:nvSpPr>
          <p:spPr>
            <a:xfrm>
              <a:off x="359994" y="1055496"/>
              <a:ext cx="5040630" cy="692785"/>
            </a:xfrm>
            <a:custGeom>
              <a:avLst/>
              <a:gdLst/>
              <a:ahLst/>
              <a:cxnLst/>
              <a:rect l="l" t="t" r="r" b="b"/>
              <a:pathLst>
                <a:path w="5040630" h="692785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638341"/>
                  </a:lnTo>
                  <a:lnTo>
                    <a:pt x="4243" y="659360"/>
                  </a:lnTo>
                  <a:lnTo>
                    <a:pt x="15816" y="676525"/>
                  </a:lnTo>
                  <a:lnTo>
                    <a:pt x="32980" y="688097"/>
                  </a:lnTo>
                  <a:lnTo>
                    <a:pt x="54000" y="692341"/>
                  </a:lnTo>
                  <a:lnTo>
                    <a:pt x="4986064" y="692341"/>
                  </a:lnTo>
                  <a:lnTo>
                    <a:pt x="5007084" y="688097"/>
                  </a:lnTo>
                  <a:lnTo>
                    <a:pt x="5024248" y="676525"/>
                  </a:lnTo>
                  <a:lnTo>
                    <a:pt x="5035821" y="659360"/>
                  </a:lnTo>
                  <a:lnTo>
                    <a:pt x="5040064" y="638341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7994" y="1251362"/>
              <a:ext cx="5004435" cy="478790"/>
            </a:xfrm>
            <a:custGeom>
              <a:avLst/>
              <a:gdLst/>
              <a:ahLst/>
              <a:cxnLst/>
              <a:rect l="l" t="t" r="r" b="b"/>
              <a:pathLst>
                <a:path w="5004435" h="478789">
                  <a:moveTo>
                    <a:pt x="5004065" y="0"/>
                  </a:moveTo>
                  <a:lnTo>
                    <a:pt x="0" y="0"/>
                  </a:lnTo>
                  <a:lnTo>
                    <a:pt x="0" y="442474"/>
                  </a:lnTo>
                  <a:lnTo>
                    <a:pt x="2829" y="456487"/>
                  </a:lnTo>
                  <a:lnTo>
                    <a:pt x="10544" y="467930"/>
                  </a:lnTo>
                  <a:lnTo>
                    <a:pt x="21987" y="475645"/>
                  </a:lnTo>
                  <a:lnTo>
                    <a:pt x="36000" y="478474"/>
                  </a:lnTo>
                  <a:lnTo>
                    <a:pt x="4968064" y="478474"/>
                  </a:lnTo>
                  <a:lnTo>
                    <a:pt x="4982077" y="475645"/>
                  </a:lnTo>
                  <a:lnTo>
                    <a:pt x="4993521" y="467930"/>
                  </a:lnTo>
                  <a:lnTo>
                    <a:pt x="5001236" y="456487"/>
                  </a:lnTo>
                  <a:lnTo>
                    <a:pt x="5004065" y="442474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45299" y="1058143"/>
            <a:ext cx="4668520" cy="601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4599"/>
              </a:lnSpc>
              <a:spcBef>
                <a:spcPts val="590"/>
              </a:spcBef>
            </a:pPr>
            <a:r>
              <a:rPr sz="1000" spc="-70" dirty="0">
                <a:latin typeface="Arial"/>
                <a:cs typeface="Arial"/>
              </a:rPr>
              <a:t>Focuses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developing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algorithms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enable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computers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learn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from</a:t>
            </a:r>
            <a:r>
              <a:rPr sz="1000" b="1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and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make</a:t>
            </a:r>
            <a:r>
              <a:rPr sz="1000" b="1" spc="30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pre- </a:t>
            </a:r>
            <a:r>
              <a:rPr sz="1000" b="1" spc="-35" dirty="0">
                <a:latin typeface="Arial"/>
                <a:cs typeface="Arial"/>
              </a:rPr>
              <a:t>dictions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based</a:t>
            </a:r>
            <a:r>
              <a:rPr sz="1000" dirty="0">
                <a:latin typeface="Arial"/>
                <a:cs typeface="Arial"/>
              </a:rPr>
              <a:t> on</a:t>
            </a:r>
            <a:r>
              <a:rPr sz="1000" spc="-10" dirty="0">
                <a:latin typeface="Arial"/>
                <a:cs typeface="Arial"/>
              </a:rPr>
              <a:t> data.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9994" y="1835125"/>
            <a:ext cx="5040630" cy="581025"/>
            <a:chOff x="359994" y="1835125"/>
            <a:chExt cx="5040630" cy="581025"/>
          </a:xfrm>
        </p:grpSpPr>
        <p:sp>
          <p:nvSpPr>
            <p:cNvPr id="8" name="object 8"/>
            <p:cNvSpPr/>
            <p:nvPr/>
          </p:nvSpPr>
          <p:spPr>
            <a:xfrm>
              <a:off x="359994" y="1835125"/>
              <a:ext cx="5040630" cy="581025"/>
            </a:xfrm>
            <a:custGeom>
              <a:avLst/>
              <a:gdLst/>
              <a:ahLst/>
              <a:cxnLst/>
              <a:rect l="l" t="t" r="r" b="b"/>
              <a:pathLst>
                <a:path w="5040630" h="581025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526998"/>
                  </a:lnTo>
                  <a:lnTo>
                    <a:pt x="4243" y="548017"/>
                  </a:lnTo>
                  <a:lnTo>
                    <a:pt x="15816" y="565182"/>
                  </a:lnTo>
                  <a:lnTo>
                    <a:pt x="32980" y="576754"/>
                  </a:lnTo>
                  <a:lnTo>
                    <a:pt x="54000" y="580998"/>
                  </a:lnTo>
                  <a:lnTo>
                    <a:pt x="4986064" y="580998"/>
                  </a:lnTo>
                  <a:lnTo>
                    <a:pt x="5007084" y="576754"/>
                  </a:lnTo>
                  <a:lnTo>
                    <a:pt x="5024248" y="565182"/>
                  </a:lnTo>
                  <a:lnTo>
                    <a:pt x="5035821" y="548017"/>
                  </a:lnTo>
                  <a:lnTo>
                    <a:pt x="5040064" y="526998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7994" y="2055594"/>
              <a:ext cx="5004435" cy="342900"/>
            </a:xfrm>
            <a:custGeom>
              <a:avLst/>
              <a:gdLst/>
              <a:ahLst/>
              <a:cxnLst/>
              <a:rect l="l" t="t" r="r" b="b"/>
              <a:pathLst>
                <a:path w="5004435" h="342900">
                  <a:moveTo>
                    <a:pt x="5004065" y="0"/>
                  </a:moveTo>
                  <a:lnTo>
                    <a:pt x="0" y="0"/>
                  </a:lnTo>
                  <a:lnTo>
                    <a:pt x="0" y="306528"/>
                  </a:lnTo>
                  <a:lnTo>
                    <a:pt x="2829" y="320541"/>
                  </a:lnTo>
                  <a:lnTo>
                    <a:pt x="10544" y="331985"/>
                  </a:lnTo>
                  <a:lnTo>
                    <a:pt x="21987" y="339700"/>
                  </a:lnTo>
                  <a:lnTo>
                    <a:pt x="36000" y="342529"/>
                  </a:lnTo>
                  <a:lnTo>
                    <a:pt x="4968064" y="342529"/>
                  </a:lnTo>
                  <a:lnTo>
                    <a:pt x="4982077" y="339700"/>
                  </a:lnTo>
                  <a:lnTo>
                    <a:pt x="4993521" y="331985"/>
                  </a:lnTo>
                  <a:lnTo>
                    <a:pt x="5001236" y="320541"/>
                  </a:lnTo>
                  <a:lnTo>
                    <a:pt x="5004065" y="306528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F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45299" y="1837771"/>
            <a:ext cx="3865245" cy="459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65" dirty="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sz="100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000" b="1" spc="-10" dirty="0">
                <a:latin typeface="Arial"/>
                <a:cs typeface="Arial"/>
              </a:rPr>
              <a:t>Prediction</a:t>
            </a:r>
            <a:r>
              <a:rPr sz="1000" spc="-10" dirty="0">
                <a:latin typeface="Arial"/>
                <a:cs typeface="Arial"/>
              </a:rPr>
              <a:t>: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Predicting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numbers</a:t>
            </a:r>
            <a:r>
              <a:rPr sz="1000" spc="-10" dirty="0">
                <a:latin typeface="Arial"/>
                <a:cs typeface="Arial"/>
              </a:rPr>
              <a:t> (Predicting </a:t>
            </a:r>
            <a:r>
              <a:rPr sz="1000" spc="-65" dirty="0">
                <a:latin typeface="Arial"/>
                <a:cs typeface="Arial"/>
              </a:rPr>
              <a:t>house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prices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based</a:t>
            </a:r>
            <a:r>
              <a:rPr sz="1000" dirty="0">
                <a:latin typeface="Arial"/>
                <a:cs typeface="Arial"/>
              </a:rPr>
              <a:t> on</a:t>
            </a:r>
            <a:r>
              <a:rPr sz="1000" spc="-10" dirty="0">
                <a:latin typeface="Arial"/>
                <a:cs typeface="Arial"/>
              </a:rPr>
              <a:t> size).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2.</a:t>
            </a:r>
            <a:r>
              <a:rPr spc="180" dirty="0"/>
              <a:t> </a:t>
            </a:r>
            <a:r>
              <a:rPr dirty="0"/>
              <a:t>Natural</a:t>
            </a:r>
            <a:r>
              <a:rPr spc="50" dirty="0"/>
              <a:t> </a:t>
            </a:r>
            <a:r>
              <a:rPr spc="-50" dirty="0"/>
              <a:t>Language</a:t>
            </a:r>
            <a:r>
              <a:rPr spc="50" dirty="0"/>
              <a:t> </a:t>
            </a:r>
            <a:r>
              <a:rPr spc="-60" dirty="0"/>
              <a:t>Processing</a:t>
            </a:r>
            <a:r>
              <a:rPr spc="45" dirty="0"/>
              <a:t> (NLP)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999277"/>
            <a:ext cx="5040630" cy="542925"/>
            <a:chOff x="359994" y="999277"/>
            <a:chExt cx="5040630" cy="542925"/>
          </a:xfrm>
        </p:grpSpPr>
        <p:sp>
          <p:nvSpPr>
            <p:cNvPr id="4" name="object 4"/>
            <p:cNvSpPr/>
            <p:nvPr/>
          </p:nvSpPr>
          <p:spPr>
            <a:xfrm>
              <a:off x="359994" y="999277"/>
              <a:ext cx="5040630" cy="542925"/>
            </a:xfrm>
            <a:custGeom>
              <a:avLst/>
              <a:gdLst/>
              <a:ahLst/>
              <a:cxnLst/>
              <a:rect l="l" t="t" r="r" b="b"/>
              <a:pathLst>
                <a:path w="5040630" h="542925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88337"/>
                  </a:lnTo>
                  <a:lnTo>
                    <a:pt x="4243" y="509356"/>
                  </a:lnTo>
                  <a:lnTo>
                    <a:pt x="15816" y="526521"/>
                  </a:lnTo>
                  <a:lnTo>
                    <a:pt x="32980" y="538093"/>
                  </a:lnTo>
                  <a:lnTo>
                    <a:pt x="54000" y="542337"/>
                  </a:lnTo>
                  <a:lnTo>
                    <a:pt x="4986064" y="542337"/>
                  </a:lnTo>
                  <a:lnTo>
                    <a:pt x="5007084" y="538093"/>
                  </a:lnTo>
                  <a:lnTo>
                    <a:pt x="5024248" y="526521"/>
                  </a:lnTo>
                  <a:lnTo>
                    <a:pt x="5035821" y="509356"/>
                  </a:lnTo>
                  <a:lnTo>
                    <a:pt x="5040064" y="488337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7994" y="1195144"/>
              <a:ext cx="5004435" cy="328930"/>
            </a:xfrm>
            <a:custGeom>
              <a:avLst/>
              <a:gdLst/>
              <a:ahLst/>
              <a:cxnLst/>
              <a:rect l="l" t="t" r="r" b="b"/>
              <a:pathLst>
                <a:path w="5004435" h="328930">
                  <a:moveTo>
                    <a:pt x="5004065" y="0"/>
                  </a:moveTo>
                  <a:lnTo>
                    <a:pt x="0" y="0"/>
                  </a:lnTo>
                  <a:lnTo>
                    <a:pt x="0" y="292470"/>
                  </a:lnTo>
                  <a:lnTo>
                    <a:pt x="2829" y="306483"/>
                  </a:lnTo>
                  <a:lnTo>
                    <a:pt x="10544" y="317926"/>
                  </a:lnTo>
                  <a:lnTo>
                    <a:pt x="21987" y="325641"/>
                  </a:lnTo>
                  <a:lnTo>
                    <a:pt x="36000" y="328470"/>
                  </a:lnTo>
                  <a:lnTo>
                    <a:pt x="4968064" y="328470"/>
                  </a:lnTo>
                  <a:lnTo>
                    <a:pt x="4982077" y="325641"/>
                  </a:lnTo>
                  <a:lnTo>
                    <a:pt x="4993521" y="317926"/>
                  </a:lnTo>
                  <a:lnTo>
                    <a:pt x="5001236" y="306483"/>
                  </a:lnTo>
                  <a:lnTo>
                    <a:pt x="5004065" y="292470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73837" y="1001933"/>
            <a:ext cx="3740150" cy="146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83820">
              <a:lnSpc>
                <a:spcPct val="100000"/>
              </a:lnSpc>
              <a:spcBef>
                <a:spcPts val="765"/>
              </a:spcBef>
            </a:pPr>
            <a:r>
              <a:rPr sz="1000" spc="-45" dirty="0">
                <a:latin typeface="Arial"/>
                <a:cs typeface="Arial"/>
              </a:rPr>
              <a:t>Involves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interaction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between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computers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human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language.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buFont typeface="Arial"/>
              <a:buChar char="•"/>
              <a:tabLst>
                <a:tab pos="137795" algn="l"/>
              </a:tabLst>
            </a:pPr>
            <a:r>
              <a:rPr sz="1000" b="1" spc="-35" dirty="0">
                <a:solidFill>
                  <a:srgbClr val="22373A"/>
                </a:solidFill>
                <a:latin typeface="Arial"/>
                <a:cs typeface="Arial"/>
              </a:rPr>
              <a:t>Speech</a:t>
            </a:r>
            <a:r>
              <a:rPr sz="10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22373A"/>
                </a:solidFill>
                <a:latin typeface="Arial"/>
                <a:cs typeface="Arial"/>
              </a:rPr>
              <a:t>Recognition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Siri,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Alexa.</a:t>
            </a:r>
            <a:endParaRPr sz="1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137795" algn="l"/>
              </a:tabLst>
            </a:pPr>
            <a:r>
              <a:rPr sz="1000" b="1" spc="-40" dirty="0">
                <a:solidFill>
                  <a:srgbClr val="22373A"/>
                </a:solidFill>
                <a:latin typeface="Arial"/>
                <a:cs typeface="Arial"/>
              </a:rPr>
              <a:t>Language</a:t>
            </a:r>
            <a:r>
              <a:rPr sz="10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22373A"/>
                </a:solidFill>
                <a:latin typeface="Arial"/>
                <a:cs typeface="Arial"/>
              </a:rPr>
              <a:t>Translation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5" dirty="0">
                <a:solidFill>
                  <a:srgbClr val="22373A"/>
                </a:solidFill>
                <a:latin typeface="Arial"/>
                <a:cs typeface="Arial"/>
              </a:rPr>
              <a:t>Google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Translate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(Kurdish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22373A"/>
                </a:solidFill>
                <a:latin typeface="Arial"/>
                <a:cs typeface="Arial"/>
              </a:rPr>
              <a:t>↔</a:t>
            </a:r>
            <a:r>
              <a:rPr sz="10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English).</a:t>
            </a:r>
            <a:endParaRPr sz="1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137795" algn="l"/>
              </a:tabLst>
            </a:pP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Sentiment</a:t>
            </a:r>
            <a:r>
              <a:rPr sz="10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22373A"/>
                </a:solidFill>
                <a:latin typeface="Arial"/>
                <a:cs typeface="Arial"/>
              </a:rPr>
              <a:t>Analysis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Understanding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customer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emotions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reviews.</a:t>
            </a:r>
            <a:endParaRPr sz="1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137795" algn="l"/>
              </a:tabLst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Text</a:t>
            </a:r>
            <a:r>
              <a:rPr sz="10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22373A"/>
                </a:solidFill>
                <a:latin typeface="Arial"/>
                <a:cs typeface="Arial"/>
              </a:rPr>
              <a:t>Generation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90" dirty="0">
                <a:solidFill>
                  <a:srgbClr val="22373A"/>
                </a:solidFill>
                <a:latin typeface="Arial"/>
                <a:cs typeface="Arial"/>
              </a:rPr>
              <a:t>essays,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code,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or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emails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(ChatGPT).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53060"/>
          </a:xfrm>
          <a:custGeom>
            <a:avLst/>
            <a:gdLst/>
            <a:ahLst/>
            <a:cxnLst/>
            <a:rect l="l" t="t" r="r" b="b"/>
            <a:pathLst>
              <a:path w="5760085" h="353060">
                <a:moveTo>
                  <a:pt x="5759996" y="0"/>
                </a:moveTo>
                <a:lnTo>
                  <a:pt x="0" y="0"/>
                </a:lnTo>
                <a:lnTo>
                  <a:pt x="0" y="352869"/>
                </a:lnTo>
                <a:lnTo>
                  <a:pt x="5759996" y="352869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010" y="64615"/>
            <a:ext cx="3409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NLP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004" y="793122"/>
            <a:ext cx="2520042" cy="17823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0006" y="940700"/>
            <a:ext cx="2519941" cy="148725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010" y="64615"/>
            <a:ext cx="13950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3.</a:t>
            </a:r>
            <a:r>
              <a:rPr spc="210" dirty="0"/>
              <a:t> </a:t>
            </a:r>
            <a:r>
              <a:rPr spc="-25" dirty="0"/>
              <a:t>Computer</a:t>
            </a:r>
            <a:r>
              <a:rPr spc="80" dirty="0"/>
              <a:t> </a:t>
            </a:r>
            <a:r>
              <a:rPr spc="-40" dirty="0"/>
              <a:t>Vision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999277"/>
            <a:ext cx="5040630" cy="542925"/>
            <a:chOff x="359994" y="999277"/>
            <a:chExt cx="5040630" cy="542925"/>
          </a:xfrm>
        </p:grpSpPr>
        <p:sp>
          <p:nvSpPr>
            <p:cNvPr id="4" name="object 4"/>
            <p:cNvSpPr/>
            <p:nvPr/>
          </p:nvSpPr>
          <p:spPr>
            <a:xfrm>
              <a:off x="359994" y="999277"/>
              <a:ext cx="5040630" cy="542925"/>
            </a:xfrm>
            <a:custGeom>
              <a:avLst/>
              <a:gdLst/>
              <a:ahLst/>
              <a:cxnLst/>
              <a:rect l="l" t="t" r="r" b="b"/>
              <a:pathLst>
                <a:path w="5040630" h="542925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88337"/>
                  </a:lnTo>
                  <a:lnTo>
                    <a:pt x="4243" y="509356"/>
                  </a:lnTo>
                  <a:lnTo>
                    <a:pt x="15816" y="526521"/>
                  </a:lnTo>
                  <a:lnTo>
                    <a:pt x="32980" y="538093"/>
                  </a:lnTo>
                  <a:lnTo>
                    <a:pt x="54000" y="542337"/>
                  </a:lnTo>
                  <a:lnTo>
                    <a:pt x="4986064" y="542337"/>
                  </a:lnTo>
                  <a:lnTo>
                    <a:pt x="5007084" y="538093"/>
                  </a:lnTo>
                  <a:lnTo>
                    <a:pt x="5024248" y="526521"/>
                  </a:lnTo>
                  <a:lnTo>
                    <a:pt x="5035821" y="509356"/>
                  </a:lnTo>
                  <a:lnTo>
                    <a:pt x="5040064" y="488337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7994" y="1195144"/>
              <a:ext cx="5004435" cy="328930"/>
            </a:xfrm>
            <a:custGeom>
              <a:avLst/>
              <a:gdLst/>
              <a:ahLst/>
              <a:cxnLst/>
              <a:rect l="l" t="t" r="r" b="b"/>
              <a:pathLst>
                <a:path w="5004435" h="328930">
                  <a:moveTo>
                    <a:pt x="5004065" y="0"/>
                  </a:moveTo>
                  <a:lnTo>
                    <a:pt x="0" y="0"/>
                  </a:lnTo>
                  <a:lnTo>
                    <a:pt x="0" y="292470"/>
                  </a:lnTo>
                  <a:lnTo>
                    <a:pt x="2829" y="306483"/>
                  </a:lnTo>
                  <a:lnTo>
                    <a:pt x="10544" y="317926"/>
                  </a:lnTo>
                  <a:lnTo>
                    <a:pt x="21987" y="325641"/>
                  </a:lnTo>
                  <a:lnTo>
                    <a:pt x="36000" y="328470"/>
                  </a:lnTo>
                  <a:lnTo>
                    <a:pt x="4968064" y="328470"/>
                  </a:lnTo>
                  <a:lnTo>
                    <a:pt x="4982077" y="325641"/>
                  </a:lnTo>
                  <a:lnTo>
                    <a:pt x="4993521" y="317926"/>
                  </a:lnTo>
                  <a:lnTo>
                    <a:pt x="5001236" y="306483"/>
                  </a:lnTo>
                  <a:lnTo>
                    <a:pt x="5004065" y="292470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73837" y="1001933"/>
            <a:ext cx="4680585" cy="146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83820">
              <a:lnSpc>
                <a:spcPct val="100000"/>
              </a:lnSpc>
              <a:spcBef>
                <a:spcPts val="765"/>
              </a:spcBef>
            </a:pPr>
            <a:r>
              <a:rPr sz="1000" spc="-55" dirty="0">
                <a:latin typeface="Arial"/>
                <a:cs typeface="Arial"/>
              </a:rPr>
              <a:t>Deals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how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computers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gain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high-</a:t>
            </a:r>
            <a:r>
              <a:rPr sz="1000" spc="-20" dirty="0">
                <a:latin typeface="Arial"/>
                <a:cs typeface="Arial"/>
              </a:rPr>
              <a:t>level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understanding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from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digital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images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-10" dirty="0">
                <a:latin typeface="Arial"/>
                <a:cs typeface="Arial"/>
              </a:rPr>
              <a:t> videos.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buFont typeface="Arial"/>
              <a:buChar char="•"/>
              <a:tabLst>
                <a:tab pos="137795" algn="l"/>
              </a:tabLst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Object</a:t>
            </a:r>
            <a:r>
              <a:rPr sz="10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22373A"/>
                </a:solidFill>
                <a:latin typeface="Arial"/>
                <a:cs typeface="Arial"/>
              </a:rPr>
              <a:t>Recognition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Identifying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products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shelf.</a:t>
            </a:r>
            <a:endParaRPr sz="1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137795" algn="l"/>
              </a:tabLst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sz="10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22373A"/>
                </a:solidFill>
                <a:latin typeface="Arial"/>
                <a:cs typeface="Arial"/>
              </a:rPr>
              <a:t>Classification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Sorting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photos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(Cat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vs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Dog).</a:t>
            </a:r>
            <a:endParaRPr sz="1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137795" algn="l"/>
              </a:tabLst>
            </a:pPr>
            <a:r>
              <a:rPr sz="1000" b="1" spc="-65" dirty="0">
                <a:solidFill>
                  <a:srgbClr val="22373A"/>
                </a:solidFill>
                <a:latin typeface="Arial"/>
                <a:cs typeface="Arial"/>
              </a:rPr>
              <a:t>Business</a:t>
            </a:r>
            <a:r>
              <a:rPr sz="10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Quality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control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factories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(spotting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defects).</a:t>
            </a:r>
            <a:endParaRPr sz="1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137795" algn="l"/>
              </a:tabLst>
            </a:pPr>
            <a:r>
              <a:rPr sz="1000" b="1" spc="-20" dirty="0">
                <a:solidFill>
                  <a:srgbClr val="22373A"/>
                </a:solidFill>
                <a:latin typeface="Arial"/>
                <a:cs typeface="Arial"/>
              </a:rPr>
              <a:t>Generation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5" dirty="0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or </a:t>
            </a:r>
            <a:r>
              <a:rPr sz="1000" spc="-55" dirty="0">
                <a:solidFill>
                  <a:srgbClr val="22373A"/>
                </a:solidFill>
                <a:latin typeface="Arial"/>
                <a:cs typeface="Arial"/>
              </a:rPr>
              <a:t>videos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(Midjourney,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Sora).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53060"/>
          </a:xfrm>
          <a:custGeom>
            <a:avLst/>
            <a:gdLst/>
            <a:ahLst/>
            <a:cxnLst/>
            <a:rect l="l" t="t" r="r" b="b"/>
            <a:pathLst>
              <a:path w="5760085" h="353060">
                <a:moveTo>
                  <a:pt x="5759996" y="0"/>
                </a:moveTo>
                <a:lnTo>
                  <a:pt x="0" y="0"/>
                </a:lnTo>
                <a:lnTo>
                  <a:pt x="0" y="352869"/>
                </a:lnTo>
                <a:lnTo>
                  <a:pt x="5759996" y="352869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010" y="64615"/>
            <a:ext cx="119062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Computer</a:t>
            </a:r>
            <a:r>
              <a:rPr sz="12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Vision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958" y="426186"/>
            <a:ext cx="3576066" cy="257953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4.</a:t>
            </a:r>
            <a:r>
              <a:rPr spc="270" dirty="0"/>
              <a:t> </a:t>
            </a:r>
            <a:r>
              <a:rPr spc="-50" dirty="0"/>
              <a:t>Robotics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1215355"/>
            <a:ext cx="5040630" cy="542925"/>
            <a:chOff x="359994" y="1215355"/>
            <a:chExt cx="5040630" cy="542925"/>
          </a:xfrm>
        </p:grpSpPr>
        <p:sp>
          <p:nvSpPr>
            <p:cNvPr id="4" name="object 4"/>
            <p:cNvSpPr/>
            <p:nvPr/>
          </p:nvSpPr>
          <p:spPr>
            <a:xfrm>
              <a:off x="359994" y="1215355"/>
              <a:ext cx="5040630" cy="542925"/>
            </a:xfrm>
            <a:custGeom>
              <a:avLst/>
              <a:gdLst/>
              <a:ahLst/>
              <a:cxnLst/>
              <a:rect l="l" t="t" r="r" b="b"/>
              <a:pathLst>
                <a:path w="5040630" h="542925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88337"/>
                  </a:lnTo>
                  <a:lnTo>
                    <a:pt x="4243" y="509356"/>
                  </a:lnTo>
                  <a:lnTo>
                    <a:pt x="15816" y="526521"/>
                  </a:lnTo>
                  <a:lnTo>
                    <a:pt x="32980" y="538093"/>
                  </a:lnTo>
                  <a:lnTo>
                    <a:pt x="54000" y="542337"/>
                  </a:lnTo>
                  <a:lnTo>
                    <a:pt x="4986064" y="542337"/>
                  </a:lnTo>
                  <a:lnTo>
                    <a:pt x="5007084" y="538093"/>
                  </a:lnTo>
                  <a:lnTo>
                    <a:pt x="5024248" y="526521"/>
                  </a:lnTo>
                  <a:lnTo>
                    <a:pt x="5035821" y="509356"/>
                  </a:lnTo>
                  <a:lnTo>
                    <a:pt x="5040064" y="488337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7994" y="1411222"/>
              <a:ext cx="5004435" cy="328930"/>
            </a:xfrm>
            <a:custGeom>
              <a:avLst/>
              <a:gdLst/>
              <a:ahLst/>
              <a:cxnLst/>
              <a:rect l="l" t="t" r="r" b="b"/>
              <a:pathLst>
                <a:path w="5004435" h="328930">
                  <a:moveTo>
                    <a:pt x="5004065" y="0"/>
                  </a:moveTo>
                  <a:lnTo>
                    <a:pt x="0" y="0"/>
                  </a:lnTo>
                  <a:lnTo>
                    <a:pt x="0" y="292470"/>
                  </a:lnTo>
                  <a:lnTo>
                    <a:pt x="2829" y="306483"/>
                  </a:lnTo>
                  <a:lnTo>
                    <a:pt x="10544" y="317926"/>
                  </a:lnTo>
                  <a:lnTo>
                    <a:pt x="21987" y="325641"/>
                  </a:lnTo>
                  <a:lnTo>
                    <a:pt x="36000" y="328470"/>
                  </a:lnTo>
                  <a:lnTo>
                    <a:pt x="4968064" y="328470"/>
                  </a:lnTo>
                  <a:lnTo>
                    <a:pt x="4982077" y="325641"/>
                  </a:lnTo>
                  <a:lnTo>
                    <a:pt x="4993521" y="317926"/>
                  </a:lnTo>
                  <a:lnTo>
                    <a:pt x="5001236" y="306483"/>
                  </a:lnTo>
                  <a:lnTo>
                    <a:pt x="5004065" y="292470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73837" y="1217998"/>
            <a:ext cx="4241800" cy="1038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83820">
              <a:lnSpc>
                <a:spcPct val="100000"/>
              </a:lnSpc>
              <a:spcBef>
                <a:spcPts val="765"/>
              </a:spcBef>
            </a:pPr>
            <a:r>
              <a:rPr sz="1000" spc="-55" dirty="0">
                <a:latin typeface="Arial"/>
                <a:cs typeface="Arial"/>
              </a:rPr>
              <a:t>Combines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AI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mechanical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engineering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create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robots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perform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tasks.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buFont typeface="Arial"/>
              <a:buChar char="•"/>
              <a:tabLst>
                <a:tab pos="137795" algn="l"/>
              </a:tabLst>
            </a:pPr>
            <a:r>
              <a:rPr sz="1000" b="1" spc="-40" dirty="0">
                <a:solidFill>
                  <a:srgbClr val="22373A"/>
                </a:solidFill>
                <a:latin typeface="Arial"/>
                <a:cs typeface="Arial"/>
              </a:rPr>
              <a:t>Autonomous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Robots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without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human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help.</a:t>
            </a:r>
            <a:endParaRPr sz="1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137795" algn="l"/>
              </a:tabLst>
            </a:pPr>
            <a:r>
              <a:rPr sz="1000" b="1" spc="-40" dirty="0">
                <a:solidFill>
                  <a:srgbClr val="22373A"/>
                </a:solidFill>
                <a:latin typeface="Arial"/>
                <a:cs typeface="Arial"/>
              </a:rPr>
              <a:t>Assistive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Robots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help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humans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lift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heavy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objects.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5.</a:t>
            </a:r>
            <a:r>
              <a:rPr spc="180" dirty="0"/>
              <a:t> </a:t>
            </a:r>
            <a:r>
              <a:rPr dirty="0"/>
              <a:t>Expert</a:t>
            </a:r>
            <a:r>
              <a:rPr spc="50" dirty="0"/>
              <a:t> </a:t>
            </a:r>
            <a:r>
              <a:rPr spc="-60" dirty="0"/>
              <a:t>Systems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1215355"/>
            <a:ext cx="5040630" cy="542925"/>
            <a:chOff x="359994" y="1215355"/>
            <a:chExt cx="5040630" cy="542925"/>
          </a:xfrm>
        </p:grpSpPr>
        <p:sp>
          <p:nvSpPr>
            <p:cNvPr id="4" name="object 4"/>
            <p:cNvSpPr/>
            <p:nvPr/>
          </p:nvSpPr>
          <p:spPr>
            <a:xfrm>
              <a:off x="359994" y="1215355"/>
              <a:ext cx="5040630" cy="542925"/>
            </a:xfrm>
            <a:custGeom>
              <a:avLst/>
              <a:gdLst/>
              <a:ahLst/>
              <a:cxnLst/>
              <a:rect l="l" t="t" r="r" b="b"/>
              <a:pathLst>
                <a:path w="5040630" h="542925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88337"/>
                  </a:lnTo>
                  <a:lnTo>
                    <a:pt x="4243" y="509356"/>
                  </a:lnTo>
                  <a:lnTo>
                    <a:pt x="15816" y="526521"/>
                  </a:lnTo>
                  <a:lnTo>
                    <a:pt x="32980" y="538093"/>
                  </a:lnTo>
                  <a:lnTo>
                    <a:pt x="54000" y="542337"/>
                  </a:lnTo>
                  <a:lnTo>
                    <a:pt x="4986064" y="542337"/>
                  </a:lnTo>
                  <a:lnTo>
                    <a:pt x="5007084" y="538093"/>
                  </a:lnTo>
                  <a:lnTo>
                    <a:pt x="5024248" y="526521"/>
                  </a:lnTo>
                  <a:lnTo>
                    <a:pt x="5035821" y="509356"/>
                  </a:lnTo>
                  <a:lnTo>
                    <a:pt x="5040064" y="488337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7994" y="1411222"/>
              <a:ext cx="5004435" cy="328930"/>
            </a:xfrm>
            <a:custGeom>
              <a:avLst/>
              <a:gdLst/>
              <a:ahLst/>
              <a:cxnLst/>
              <a:rect l="l" t="t" r="r" b="b"/>
              <a:pathLst>
                <a:path w="5004435" h="328930">
                  <a:moveTo>
                    <a:pt x="5004065" y="0"/>
                  </a:moveTo>
                  <a:lnTo>
                    <a:pt x="0" y="0"/>
                  </a:lnTo>
                  <a:lnTo>
                    <a:pt x="0" y="292470"/>
                  </a:lnTo>
                  <a:lnTo>
                    <a:pt x="2829" y="306483"/>
                  </a:lnTo>
                  <a:lnTo>
                    <a:pt x="10544" y="317926"/>
                  </a:lnTo>
                  <a:lnTo>
                    <a:pt x="21987" y="325641"/>
                  </a:lnTo>
                  <a:lnTo>
                    <a:pt x="36000" y="328470"/>
                  </a:lnTo>
                  <a:lnTo>
                    <a:pt x="4968064" y="328470"/>
                  </a:lnTo>
                  <a:lnTo>
                    <a:pt x="4982077" y="325641"/>
                  </a:lnTo>
                  <a:lnTo>
                    <a:pt x="4993521" y="317926"/>
                  </a:lnTo>
                  <a:lnTo>
                    <a:pt x="5001236" y="306483"/>
                  </a:lnTo>
                  <a:lnTo>
                    <a:pt x="5004065" y="292470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73837" y="1217998"/>
            <a:ext cx="4138929" cy="1038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83820">
              <a:lnSpc>
                <a:spcPct val="100000"/>
              </a:lnSpc>
              <a:spcBef>
                <a:spcPts val="765"/>
              </a:spcBef>
            </a:pPr>
            <a:r>
              <a:rPr sz="1000" spc="-65" dirty="0">
                <a:latin typeface="Arial"/>
                <a:cs typeface="Arial"/>
              </a:rPr>
              <a:t>Systems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emulate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decision-</a:t>
            </a:r>
            <a:r>
              <a:rPr sz="1000" spc="-30" dirty="0">
                <a:latin typeface="Arial"/>
                <a:cs typeface="Arial"/>
              </a:rPr>
              <a:t>making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ability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human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expert.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buChar char="•"/>
              <a:tabLst>
                <a:tab pos="137795" algn="l"/>
              </a:tabLst>
            </a:pPr>
            <a:r>
              <a:rPr sz="1000" spc="-90" dirty="0">
                <a:solidFill>
                  <a:srgbClr val="22373A"/>
                </a:solidFill>
                <a:latin typeface="Arial"/>
                <a:cs typeface="Arial"/>
              </a:rPr>
              <a:t>Uses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knowledge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75" dirty="0">
                <a:solidFill>
                  <a:srgbClr val="22373A"/>
                </a:solidFill>
                <a:latin typeface="Arial"/>
                <a:cs typeface="Arial"/>
              </a:rPr>
              <a:t>base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rules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22373A"/>
                </a:solidFill>
                <a:latin typeface="Arial"/>
                <a:cs typeface="Arial"/>
              </a:rPr>
              <a:t>(”If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Y”).</a:t>
            </a:r>
            <a:endParaRPr sz="1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137795" algn="l"/>
              </a:tabLst>
            </a:pPr>
            <a:r>
              <a:rPr sz="1000" b="1" spc="-20" dirty="0">
                <a:solidFill>
                  <a:srgbClr val="22373A"/>
                </a:solidFill>
                <a:latin typeface="Arial"/>
                <a:cs typeface="Arial"/>
              </a:rPr>
              <a:t>Example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Medical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diagnosis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60" dirty="0">
                <a:solidFill>
                  <a:srgbClr val="22373A"/>
                </a:solidFill>
                <a:latin typeface="Arial"/>
                <a:cs typeface="Arial"/>
              </a:rPr>
              <a:t>systems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Loan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Approval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60" dirty="0">
                <a:solidFill>
                  <a:srgbClr val="22373A"/>
                </a:solidFill>
                <a:latin typeface="Arial"/>
                <a:cs typeface="Arial"/>
              </a:rPr>
              <a:t>systems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banking.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010" y="64615"/>
            <a:ext cx="26314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6.</a:t>
            </a:r>
            <a:r>
              <a:rPr spc="175" dirty="0"/>
              <a:t> </a:t>
            </a:r>
            <a:r>
              <a:rPr dirty="0"/>
              <a:t>Neural</a:t>
            </a:r>
            <a:r>
              <a:rPr spc="50" dirty="0"/>
              <a:t> </a:t>
            </a:r>
            <a:r>
              <a:rPr spc="-35" dirty="0"/>
              <a:t>Networks</a:t>
            </a:r>
            <a:r>
              <a:rPr spc="50" dirty="0"/>
              <a:t> </a:t>
            </a:r>
            <a:r>
              <a:rPr spc="125" dirty="0"/>
              <a:t>&amp;</a:t>
            </a:r>
            <a:r>
              <a:rPr spc="50" dirty="0"/>
              <a:t> </a:t>
            </a:r>
            <a:r>
              <a:rPr dirty="0"/>
              <a:t>Deep</a:t>
            </a:r>
            <a:r>
              <a:rPr spc="50" dirty="0"/>
              <a:t> </a:t>
            </a:r>
            <a:r>
              <a:rPr spc="-45" dirty="0"/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1215355"/>
            <a:ext cx="5040630" cy="542925"/>
            <a:chOff x="359994" y="1215355"/>
            <a:chExt cx="5040630" cy="542925"/>
          </a:xfrm>
        </p:grpSpPr>
        <p:sp>
          <p:nvSpPr>
            <p:cNvPr id="4" name="object 4"/>
            <p:cNvSpPr/>
            <p:nvPr/>
          </p:nvSpPr>
          <p:spPr>
            <a:xfrm>
              <a:off x="359994" y="1215355"/>
              <a:ext cx="5040630" cy="542925"/>
            </a:xfrm>
            <a:custGeom>
              <a:avLst/>
              <a:gdLst/>
              <a:ahLst/>
              <a:cxnLst/>
              <a:rect l="l" t="t" r="r" b="b"/>
              <a:pathLst>
                <a:path w="5040630" h="542925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88337"/>
                  </a:lnTo>
                  <a:lnTo>
                    <a:pt x="4243" y="509356"/>
                  </a:lnTo>
                  <a:lnTo>
                    <a:pt x="15816" y="526521"/>
                  </a:lnTo>
                  <a:lnTo>
                    <a:pt x="32980" y="538093"/>
                  </a:lnTo>
                  <a:lnTo>
                    <a:pt x="54000" y="542337"/>
                  </a:lnTo>
                  <a:lnTo>
                    <a:pt x="4986064" y="542337"/>
                  </a:lnTo>
                  <a:lnTo>
                    <a:pt x="5007084" y="538093"/>
                  </a:lnTo>
                  <a:lnTo>
                    <a:pt x="5024248" y="526521"/>
                  </a:lnTo>
                  <a:lnTo>
                    <a:pt x="5035821" y="509356"/>
                  </a:lnTo>
                  <a:lnTo>
                    <a:pt x="5040064" y="488337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7994" y="1411222"/>
              <a:ext cx="5004435" cy="328930"/>
            </a:xfrm>
            <a:custGeom>
              <a:avLst/>
              <a:gdLst/>
              <a:ahLst/>
              <a:cxnLst/>
              <a:rect l="l" t="t" r="r" b="b"/>
              <a:pathLst>
                <a:path w="5004435" h="328930">
                  <a:moveTo>
                    <a:pt x="5004065" y="0"/>
                  </a:moveTo>
                  <a:lnTo>
                    <a:pt x="0" y="0"/>
                  </a:lnTo>
                  <a:lnTo>
                    <a:pt x="0" y="292470"/>
                  </a:lnTo>
                  <a:lnTo>
                    <a:pt x="2829" y="306483"/>
                  </a:lnTo>
                  <a:lnTo>
                    <a:pt x="10544" y="317926"/>
                  </a:lnTo>
                  <a:lnTo>
                    <a:pt x="21987" y="325641"/>
                  </a:lnTo>
                  <a:lnTo>
                    <a:pt x="36000" y="328470"/>
                  </a:lnTo>
                  <a:lnTo>
                    <a:pt x="4968064" y="328470"/>
                  </a:lnTo>
                  <a:lnTo>
                    <a:pt x="4982077" y="325641"/>
                  </a:lnTo>
                  <a:lnTo>
                    <a:pt x="4993521" y="317926"/>
                  </a:lnTo>
                  <a:lnTo>
                    <a:pt x="5001236" y="306483"/>
                  </a:lnTo>
                  <a:lnTo>
                    <a:pt x="5004065" y="292470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73837" y="1217998"/>
            <a:ext cx="4043045" cy="1038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83820">
              <a:lnSpc>
                <a:spcPct val="100000"/>
              </a:lnSpc>
              <a:spcBef>
                <a:spcPts val="765"/>
              </a:spcBef>
            </a:pPr>
            <a:r>
              <a:rPr sz="1000" spc="-20" dirty="0">
                <a:latin typeface="Arial"/>
                <a:cs typeface="Arial"/>
              </a:rPr>
              <a:t>Algorithms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inspired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structure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human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brain.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buChar char="•"/>
              <a:tabLst>
                <a:tab pos="137795" algn="l"/>
              </a:tabLst>
            </a:pP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Particularly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effective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complex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tasks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75" dirty="0">
                <a:solidFill>
                  <a:srgbClr val="22373A"/>
                </a:solidFill>
                <a:latin typeface="Arial"/>
                <a:cs typeface="Arial"/>
              </a:rPr>
              <a:t>speech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recognition.</a:t>
            </a:r>
            <a:endParaRPr sz="1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spcBef>
                <a:spcPts val="475"/>
              </a:spcBef>
              <a:buChar char="•"/>
              <a:tabLst>
                <a:tab pos="137795" algn="l"/>
              </a:tabLst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”Deep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Learning”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implies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many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65" dirty="0">
                <a:solidFill>
                  <a:srgbClr val="22373A"/>
                </a:solidFill>
                <a:latin typeface="Arial"/>
                <a:cs typeface="Arial"/>
              </a:rPr>
              <a:t>layers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these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neural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networks.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53060"/>
          </a:xfrm>
          <a:custGeom>
            <a:avLst/>
            <a:gdLst/>
            <a:ahLst/>
            <a:cxnLst/>
            <a:rect l="l" t="t" r="r" b="b"/>
            <a:pathLst>
              <a:path w="5760085" h="353060">
                <a:moveTo>
                  <a:pt x="5759996" y="0"/>
                </a:moveTo>
                <a:lnTo>
                  <a:pt x="0" y="0"/>
                </a:lnTo>
                <a:lnTo>
                  <a:pt x="0" y="352869"/>
                </a:lnTo>
                <a:lnTo>
                  <a:pt x="5759996" y="352869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010" y="64615"/>
            <a:ext cx="20523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Neural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Network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 Visualization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3205" y="940401"/>
            <a:ext cx="8737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solidFill>
                  <a:srgbClr val="22373A"/>
                </a:solidFill>
                <a:latin typeface="Arial"/>
                <a:cs typeface="Arial"/>
              </a:rPr>
              <a:t>Bio-</a:t>
            </a:r>
            <a:r>
              <a:rPr sz="1000" b="1" spc="-25" dirty="0">
                <a:solidFill>
                  <a:srgbClr val="22373A"/>
                </a:solidFill>
                <a:latin typeface="Arial"/>
                <a:cs typeface="Arial"/>
              </a:rPr>
              <a:t>Inspiration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004" y="1116837"/>
            <a:ext cx="2520061" cy="126003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88981" y="743539"/>
            <a:ext cx="7416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solidFill>
                  <a:srgbClr val="22373A"/>
                </a:solidFill>
                <a:latin typeface="Arial"/>
                <a:cs typeface="Arial"/>
              </a:rPr>
              <a:t>Architecture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0019" y="895424"/>
            <a:ext cx="2519940" cy="1678319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Type</a:t>
            </a:r>
            <a:r>
              <a:rPr spc="25" dirty="0"/>
              <a:t> </a:t>
            </a:r>
            <a:r>
              <a:rPr dirty="0"/>
              <a:t>1:</a:t>
            </a:r>
            <a:r>
              <a:rPr spc="140" dirty="0"/>
              <a:t> </a:t>
            </a:r>
            <a:r>
              <a:rPr spc="-55" dirty="0"/>
              <a:t>Supervised</a:t>
            </a:r>
            <a:r>
              <a:rPr spc="25" dirty="0"/>
              <a:t> </a:t>
            </a:r>
            <a:r>
              <a:rPr spc="-50" dirty="0"/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792836"/>
            <a:ext cx="5040630" cy="567055"/>
            <a:chOff x="359994" y="792836"/>
            <a:chExt cx="5040630" cy="567055"/>
          </a:xfrm>
        </p:grpSpPr>
        <p:sp>
          <p:nvSpPr>
            <p:cNvPr id="4" name="object 4"/>
            <p:cNvSpPr/>
            <p:nvPr/>
          </p:nvSpPr>
          <p:spPr>
            <a:xfrm>
              <a:off x="359994" y="792836"/>
              <a:ext cx="5040630" cy="567055"/>
            </a:xfrm>
            <a:custGeom>
              <a:avLst/>
              <a:gdLst/>
              <a:ahLst/>
              <a:cxnLst/>
              <a:rect l="l" t="t" r="r" b="b"/>
              <a:pathLst>
                <a:path w="5040630" h="567055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512939"/>
                  </a:lnTo>
                  <a:lnTo>
                    <a:pt x="4243" y="533958"/>
                  </a:lnTo>
                  <a:lnTo>
                    <a:pt x="15816" y="551123"/>
                  </a:lnTo>
                  <a:lnTo>
                    <a:pt x="32980" y="562696"/>
                  </a:lnTo>
                  <a:lnTo>
                    <a:pt x="54000" y="566939"/>
                  </a:lnTo>
                  <a:lnTo>
                    <a:pt x="4986064" y="566939"/>
                  </a:lnTo>
                  <a:lnTo>
                    <a:pt x="5007084" y="562696"/>
                  </a:lnTo>
                  <a:lnTo>
                    <a:pt x="5024248" y="551123"/>
                  </a:lnTo>
                  <a:lnTo>
                    <a:pt x="5035821" y="533958"/>
                  </a:lnTo>
                  <a:lnTo>
                    <a:pt x="5040064" y="512939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7994" y="1013305"/>
              <a:ext cx="5004435" cy="328930"/>
            </a:xfrm>
            <a:custGeom>
              <a:avLst/>
              <a:gdLst/>
              <a:ahLst/>
              <a:cxnLst/>
              <a:rect l="l" t="t" r="r" b="b"/>
              <a:pathLst>
                <a:path w="5004435" h="328930">
                  <a:moveTo>
                    <a:pt x="5004065" y="0"/>
                  </a:moveTo>
                  <a:lnTo>
                    <a:pt x="0" y="0"/>
                  </a:lnTo>
                  <a:lnTo>
                    <a:pt x="0" y="292470"/>
                  </a:lnTo>
                  <a:lnTo>
                    <a:pt x="2829" y="306483"/>
                  </a:lnTo>
                  <a:lnTo>
                    <a:pt x="10544" y="317926"/>
                  </a:lnTo>
                  <a:lnTo>
                    <a:pt x="21987" y="325641"/>
                  </a:lnTo>
                  <a:lnTo>
                    <a:pt x="36000" y="328470"/>
                  </a:lnTo>
                  <a:lnTo>
                    <a:pt x="4968064" y="328470"/>
                  </a:lnTo>
                  <a:lnTo>
                    <a:pt x="4982077" y="325641"/>
                  </a:lnTo>
                  <a:lnTo>
                    <a:pt x="4993521" y="317926"/>
                  </a:lnTo>
                  <a:lnTo>
                    <a:pt x="5001236" y="306483"/>
                  </a:lnTo>
                  <a:lnTo>
                    <a:pt x="5004065" y="292470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45299" y="795482"/>
            <a:ext cx="45580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solidFill>
                  <a:srgbClr val="FFFFFF"/>
                </a:solidFill>
                <a:latin typeface="Arial"/>
                <a:cs typeface="Arial"/>
              </a:rPr>
              <a:t>”Learning</a:t>
            </a:r>
            <a:r>
              <a:rPr sz="10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10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0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Teacher”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computer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learns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from </a:t>
            </a:r>
            <a:r>
              <a:rPr sz="1000" b="1" spc="-25" dirty="0">
                <a:latin typeface="Arial"/>
                <a:cs typeface="Arial"/>
              </a:rPr>
              <a:t>labeled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data</a:t>
            </a:r>
            <a:r>
              <a:rPr sz="1000" dirty="0">
                <a:latin typeface="Arial"/>
                <a:cs typeface="Arial"/>
              </a:rPr>
              <a:t>.</a:t>
            </a:r>
            <a:r>
              <a:rPr sz="1000" spc="85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We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give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 </a:t>
            </a:r>
            <a:r>
              <a:rPr sz="1000" spc="-30" dirty="0">
                <a:latin typeface="Arial"/>
                <a:cs typeface="Arial"/>
              </a:rPr>
              <a:t>question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and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 </a:t>
            </a:r>
            <a:r>
              <a:rPr sz="1000" spc="-60" dirty="0">
                <a:latin typeface="Arial"/>
                <a:cs typeface="Arial"/>
              </a:rPr>
              <a:t>answer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key.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7304" y="1562474"/>
            <a:ext cx="2855595" cy="87566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1000" b="1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1000" b="1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works:</a:t>
            </a:r>
            <a:endParaRPr sz="1000">
              <a:latin typeface="Arial"/>
              <a:cs typeface="Arial"/>
            </a:endParaRPr>
          </a:p>
          <a:p>
            <a:pPr marL="263525" indent="-160020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263525" algn="l"/>
              </a:tabLst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Input:</a:t>
            </a:r>
            <a:r>
              <a:rPr sz="10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5" dirty="0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apple.</a:t>
            </a:r>
            <a:endParaRPr sz="1000">
              <a:latin typeface="Arial"/>
              <a:cs typeface="Arial"/>
            </a:endParaRPr>
          </a:p>
          <a:p>
            <a:pPr marL="263525" indent="-160020">
              <a:lnSpc>
                <a:spcPct val="100000"/>
              </a:lnSpc>
              <a:spcBef>
                <a:spcPts val="475"/>
              </a:spcBef>
              <a:buAutoNum type="arabicPeriod"/>
              <a:tabLst>
                <a:tab pos="263525" algn="l"/>
              </a:tabLst>
            </a:pP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Label:</a:t>
            </a:r>
            <a:r>
              <a:rPr sz="10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”This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apple.”</a:t>
            </a:r>
            <a:endParaRPr sz="1000">
              <a:latin typeface="Arial"/>
              <a:cs typeface="Arial"/>
            </a:endParaRPr>
          </a:p>
          <a:p>
            <a:pPr marL="263525" indent="-160020">
              <a:lnSpc>
                <a:spcPct val="100000"/>
              </a:lnSpc>
              <a:spcBef>
                <a:spcPts val="475"/>
              </a:spcBef>
              <a:buAutoNum type="arabicPeriod"/>
              <a:tabLst>
                <a:tab pos="263525" algn="l"/>
              </a:tabLst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learns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link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name.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04031" y="1536138"/>
            <a:ext cx="2016125" cy="1167130"/>
            <a:chOff x="3504031" y="1536138"/>
            <a:chExt cx="2016125" cy="1167130"/>
          </a:xfrm>
        </p:grpSpPr>
        <p:sp>
          <p:nvSpPr>
            <p:cNvPr id="9" name="object 9"/>
            <p:cNvSpPr/>
            <p:nvPr/>
          </p:nvSpPr>
          <p:spPr>
            <a:xfrm>
              <a:off x="3504031" y="1536138"/>
              <a:ext cx="2016125" cy="1167130"/>
            </a:xfrm>
            <a:custGeom>
              <a:avLst/>
              <a:gdLst/>
              <a:ahLst/>
              <a:cxnLst/>
              <a:rect l="l" t="t" r="r" b="b"/>
              <a:pathLst>
                <a:path w="2016125" h="1167130">
                  <a:moveTo>
                    <a:pt x="196199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1112675"/>
                  </a:lnTo>
                  <a:lnTo>
                    <a:pt x="4243" y="1133695"/>
                  </a:lnTo>
                  <a:lnTo>
                    <a:pt x="15816" y="1150859"/>
                  </a:lnTo>
                  <a:lnTo>
                    <a:pt x="32980" y="1162432"/>
                  </a:lnTo>
                  <a:lnTo>
                    <a:pt x="54000" y="1166675"/>
                  </a:lnTo>
                  <a:lnTo>
                    <a:pt x="1961994" y="1166675"/>
                  </a:lnTo>
                  <a:lnTo>
                    <a:pt x="1983014" y="1162432"/>
                  </a:lnTo>
                  <a:lnTo>
                    <a:pt x="2000178" y="1150859"/>
                  </a:lnTo>
                  <a:lnTo>
                    <a:pt x="2011751" y="1133695"/>
                  </a:lnTo>
                  <a:lnTo>
                    <a:pt x="2015994" y="1112675"/>
                  </a:lnTo>
                  <a:lnTo>
                    <a:pt x="2015994" y="54000"/>
                  </a:lnTo>
                  <a:lnTo>
                    <a:pt x="2011751" y="32980"/>
                  </a:lnTo>
                  <a:lnTo>
                    <a:pt x="2000178" y="15816"/>
                  </a:lnTo>
                  <a:lnTo>
                    <a:pt x="1983014" y="4243"/>
                  </a:lnTo>
                  <a:lnTo>
                    <a:pt x="1961994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22031" y="1756607"/>
              <a:ext cx="1980564" cy="928369"/>
            </a:xfrm>
            <a:custGeom>
              <a:avLst/>
              <a:gdLst/>
              <a:ahLst/>
              <a:cxnLst/>
              <a:rect l="l" t="t" r="r" b="b"/>
              <a:pathLst>
                <a:path w="1980564" h="928369">
                  <a:moveTo>
                    <a:pt x="1979995" y="0"/>
                  </a:moveTo>
                  <a:lnTo>
                    <a:pt x="0" y="0"/>
                  </a:lnTo>
                  <a:lnTo>
                    <a:pt x="0" y="892206"/>
                  </a:lnTo>
                  <a:lnTo>
                    <a:pt x="2829" y="906219"/>
                  </a:lnTo>
                  <a:lnTo>
                    <a:pt x="10544" y="917662"/>
                  </a:lnTo>
                  <a:lnTo>
                    <a:pt x="21987" y="925377"/>
                  </a:lnTo>
                  <a:lnTo>
                    <a:pt x="36000" y="928206"/>
                  </a:lnTo>
                  <a:lnTo>
                    <a:pt x="1943994" y="928206"/>
                  </a:lnTo>
                  <a:lnTo>
                    <a:pt x="1958007" y="925377"/>
                  </a:lnTo>
                  <a:lnTo>
                    <a:pt x="1969450" y="917662"/>
                  </a:lnTo>
                  <a:lnTo>
                    <a:pt x="1977165" y="906219"/>
                  </a:lnTo>
                  <a:lnTo>
                    <a:pt x="1979995" y="892206"/>
                  </a:lnTo>
                  <a:lnTo>
                    <a:pt x="1979995" y="0"/>
                  </a:lnTo>
                  <a:close/>
                </a:path>
              </a:pathLst>
            </a:custGeom>
            <a:solidFill>
              <a:srgbClr val="FF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689324" y="1538800"/>
            <a:ext cx="5676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45" dirty="0">
                <a:solidFill>
                  <a:srgbClr val="FFFFFF"/>
                </a:solidFill>
                <a:latin typeface="Arial"/>
                <a:cs typeface="Arial"/>
              </a:rPr>
              <a:t>Examples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15867" y="1790490"/>
            <a:ext cx="1155700" cy="800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160" marR="5080" indent="-125095">
              <a:lnSpc>
                <a:spcPct val="114599"/>
              </a:lnSpc>
              <a:spcBef>
                <a:spcPts val="100"/>
              </a:spcBef>
              <a:buChar char="•"/>
              <a:tabLst>
                <a:tab pos="139065" algn="l"/>
              </a:tabLst>
            </a:pPr>
            <a:r>
              <a:rPr sz="1000" spc="-60" dirty="0">
                <a:solidFill>
                  <a:srgbClr val="22373A"/>
                </a:solidFill>
                <a:latin typeface="Arial"/>
                <a:cs typeface="Arial"/>
              </a:rPr>
              <a:t>Spam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classification 	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(Spam/Not</a:t>
            </a:r>
            <a:r>
              <a:rPr sz="10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Spam)</a:t>
            </a:r>
            <a:endParaRPr sz="1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spcBef>
                <a:spcPts val="475"/>
              </a:spcBef>
              <a:buChar char="•"/>
              <a:tabLst>
                <a:tab pos="137795" algn="l"/>
              </a:tabLst>
            </a:pPr>
            <a:r>
              <a:rPr sz="1000" spc="-70" dirty="0">
                <a:solidFill>
                  <a:srgbClr val="22373A"/>
                </a:solidFill>
                <a:latin typeface="Arial"/>
                <a:cs typeface="Arial"/>
              </a:rPr>
              <a:t>Face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Recognition</a:t>
            </a:r>
            <a:endParaRPr sz="1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spcBef>
                <a:spcPts val="470"/>
              </a:spcBef>
              <a:buChar char="•"/>
              <a:tabLst>
                <a:tab pos="137795" algn="l"/>
              </a:tabLst>
            </a:pP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Medical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Diagnosis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Example:</a:t>
            </a:r>
            <a:r>
              <a:rPr spc="85" dirty="0"/>
              <a:t> </a:t>
            </a:r>
            <a:r>
              <a:rPr spc="-25" dirty="0"/>
              <a:t>Spam</a:t>
            </a:r>
            <a:r>
              <a:rPr spc="-15" dirty="0"/>
              <a:t> </a:t>
            </a:r>
            <a:r>
              <a:rPr spc="-10" dirty="0"/>
              <a:t>Email</a:t>
            </a:r>
            <a:r>
              <a:rPr spc="-15" dirty="0"/>
              <a:t> </a:t>
            </a:r>
            <a:r>
              <a:rPr spc="-20" dirty="0"/>
              <a:t>Filtering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0004" y="1008505"/>
            <a:ext cx="2520315" cy="1491615"/>
            <a:chOff x="240004" y="1008505"/>
            <a:chExt cx="2520315" cy="1491615"/>
          </a:xfrm>
        </p:grpSpPr>
        <p:sp>
          <p:nvSpPr>
            <p:cNvPr id="4" name="object 4"/>
            <p:cNvSpPr/>
            <p:nvPr/>
          </p:nvSpPr>
          <p:spPr>
            <a:xfrm>
              <a:off x="240004" y="1008505"/>
              <a:ext cx="2520315" cy="1491615"/>
            </a:xfrm>
            <a:custGeom>
              <a:avLst/>
              <a:gdLst/>
              <a:ahLst/>
              <a:cxnLst/>
              <a:rect l="l" t="t" r="r" b="b"/>
              <a:pathLst>
                <a:path w="2520315" h="1491614">
                  <a:moveTo>
                    <a:pt x="2466032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1437286"/>
                  </a:lnTo>
                  <a:lnTo>
                    <a:pt x="4243" y="1458305"/>
                  </a:lnTo>
                  <a:lnTo>
                    <a:pt x="15816" y="1475470"/>
                  </a:lnTo>
                  <a:lnTo>
                    <a:pt x="32980" y="1487042"/>
                  </a:lnTo>
                  <a:lnTo>
                    <a:pt x="54000" y="1491286"/>
                  </a:lnTo>
                  <a:lnTo>
                    <a:pt x="2466032" y="1491286"/>
                  </a:lnTo>
                  <a:lnTo>
                    <a:pt x="2487051" y="1487042"/>
                  </a:lnTo>
                  <a:lnTo>
                    <a:pt x="2504216" y="1475470"/>
                  </a:lnTo>
                  <a:lnTo>
                    <a:pt x="2515788" y="1458305"/>
                  </a:lnTo>
                  <a:lnTo>
                    <a:pt x="2520032" y="1437286"/>
                  </a:lnTo>
                  <a:lnTo>
                    <a:pt x="2520032" y="54000"/>
                  </a:lnTo>
                  <a:lnTo>
                    <a:pt x="2515788" y="32980"/>
                  </a:lnTo>
                  <a:lnTo>
                    <a:pt x="2504216" y="15816"/>
                  </a:lnTo>
                  <a:lnTo>
                    <a:pt x="2487051" y="4243"/>
                  </a:lnTo>
                  <a:lnTo>
                    <a:pt x="2466032" y="0"/>
                  </a:lnTo>
                  <a:close/>
                </a:path>
              </a:pathLst>
            </a:custGeom>
            <a:solidFill>
              <a:srgbClr val="218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8004" y="1228974"/>
              <a:ext cx="2484120" cy="1252855"/>
            </a:xfrm>
            <a:custGeom>
              <a:avLst/>
              <a:gdLst/>
              <a:ahLst/>
              <a:cxnLst/>
              <a:rect l="l" t="t" r="r" b="b"/>
              <a:pathLst>
                <a:path w="2484120" h="1252855">
                  <a:moveTo>
                    <a:pt x="2484032" y="0"/>
                  </a:moveTo>
                  <a:lnTo>
                    <a:pt x="0" y="0"/>
                  </a:lnTo>
                  <a:lnTo>
                    <a:pt x="0" y="1216817"/>
                  </a:lnTo>
                  <a:lnTo>
                    <a:pt x="2829" y="1230830"/>
                  </a:lnTo>
                  <a:lnTo>
                    <a:pt x="10544" y="1242273"/>
                  </a:lnTo>
                  <a:lnTo>
                    <a:pt x="21987" y="1249988"/>
                  </a:lnTo>
                  <a:lnTo>
                    <a:pt x="36000" y="1252817"/>
                  </a:lnTo>
                  <a:lnTo>
                    <a:pt x="2448032" y="1252817"/>
                  </a:lnTo>
                  <a:lnTo>
                    <a:pt x="2462045" y="1249988"/>
                  </a:lnTo>
                  <a:lnTo>
                    <a:pt x="2473488" y="1242273"/>
                  </a:lnTo>
                  <a:lnTo>
                    <a:pt x="2481203" y="1230830"/>
                  </a:lnTo>
                  <a:lnTo>
                    <a:pt x="2484032" y="1216817"/>
                  </a:lnTo>
                  <a:lnTo>
                    <a:pt x="2484032" y="0"/>
                  </a:lnTo>
                  <a:close/>
                </a:path>
              </a:pathLst>
            </a:custGeom>
            <a:solidFill>
              <a:srgbClr val="F2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5297" y="1011166"/>
            <a:ext cx="12401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Traditional</a:t>
            </a:r>
            <a:r>
              <a:rPr sz="10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FFFFFF"/>
                </a:solidFill>
                <a:latin typeface="Arial"/>
                <a:cs typeface="Arial"/>
              </a:rPr>
              <a:t>Approach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5297" y="1224883"/>
            <a:ext cx="2092960" cy="118745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000" b="1" spc="-20" dirty="0">
                <a:latin typeface="Arial"/>
                <a:cs typeface="Arial"/>
              </a:rPr>
              <a:t>Problem:</a:t>
            </a:r>
            <a:r>
              <a:rPr sz="1000" b="1" spc="8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Manually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defining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rules.</a:t>
            </a:r>
            <a:endParaRPr sz="1000">
              <a:latin typeface="Arial"/>
              <a:cs typeface="Arial"/>
            </a:endParaRPr>
          </a:p>
          <a:p>
            <a:pPr marL="263525" marR="115570" indent="-125095">
              <a:lnSpc>
                <a:spcPct val="114599"/>
              </a:lnSpc>
              <a:spcBef>
                <a:spcPts val="295"/>
              </a:spcBef>
              <a:buChar char="•"/>
              <a:tabLst>
                <a:tab pos="265430" algn="l"/>
              </a:tabLst>
            </a:pPr>
            <a:r>
              <a:rPr sz="1000" spc="60" dirty="0">
                <a:solidFill>
                  <a:srgbClr val="22373A"/>
                </a:solidFill>
                <a:latin typeface="Arial"/>
                <a:cs typeface="Arial"/>
              </a:rPr>
              <a:t>”If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email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contains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’Free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Money’, 	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delete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40" dirty="0">
                <a:solidFill>
                  <a:srgbClr val="22373A"/>
                </a:solidFill>
                <a:latin typeface="Arial"/>
                <a:cs typeface="Arial"/>
              </a:rPr>
              <a:t>it.”</a:t>
            </a:r>
            <a:endParaRPr sz="1000">
              <a:latin typeface="Arial"/>
              <a:cs typeface="Arial"/>
            </a:endParaRPr>
          </a:p>
          <a:p>
            <a:pPr marL="263525" marR="5080" indent="-125095">
              <a:lnSpc>
                <a:spcPct val="114599"/>
              </a:lnSpc>
              <a:spcBef>
                <a:spcPts val="300"/>
              </a:spcBef>
              <a:buFont typeface="Arial"/>
              <a:buChar char="•"/>
              <a:tabLst>
                <a:tab pos="265430" algn="l"/>
              </a:tabLst>
            </a:pPr>
            <a:r>
              <a:rPr sz="1000" b="1" spc="-25" dirty="0">
                <a:solidFill>
                  <a:srgbClr val="22373A"/>
                </a:solidFill>
                <a:latin typeface="Arial"/>
                <a:cs typeface="Arial"/>
              </a:rPr>
              <a:t>Failure:</a:t>
            </a:r>
            <a:r>
              <a:rPr sz="1000" b="1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75" dirty="0">
                <a:solidFill>
                  <a:srgbClr val="22373A"/>
                </a:solidFill>
                <a:latin typeface="Arial"/>
                <a:cs typeface="Arial"/>
              </a:rPr>
              <a:t>Spammers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5" dirty="0">
                <a:solidFill>
                  <a:srgbClr val="22373A"/>
                </a:solidFill>
                <a:latin typeface="Arial"/>
                <a:cs typeface="Arial"/>
              </a:rPr>
              <a:t>change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”Free 	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Money” to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”Fr33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M0ney”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the 	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rule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fails.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99994" y="970189"/>
            <a:ext cx="2520315" cy="1568450"/>
            <a:chOff x="2999994" y="970189"/>
            <a:chExt cx="2520315" cy="1568450"/>
          </a:xfrm>
        </p:grpSpPr>
        <p:sp>
          <p:nvSpPr>
            <p:cNvPr id="9" name="object 9"/>
            <p:cNvSpPr/>
            <p:nvPr/>
          </p:nvSpPr>
          <p:spPr>
            <a:xfrm>
              <a:off x="2999994" y="970189"/>
              <a:ext cx="2520315" cy="1568450"/>
            </a:xfrm>
            <a:custGeom>
              <a:avLst/>
              <a:gdLst/>
              <a:ahLst/>
              <a:cxnLst/>
              <a:rect l="l" t="t" r="r" b="b"/>
              <a:pathLst>
                <a:path w="2520315" h="1568450">
                  <a:moveTo>
                    <a:pt x="2466032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1513905"/>
                  </a:lnTo>
                  <a:lnTo>
                    <a:pt x="4243" y="1534924"/>
                  </a:lnTo>
                  <a:lnTo>
                    <a:pt x="15816" y="1552089"/>
                  </a:lnTo>
                  <a:lnTo>
                    <a:pt x="32980" y="1563661"/>
                  </a:lnTo>
                  <a:lnTo>
                    <a:pt x="54000" y="1567905"/>
                  </a:lnTo>
                  <a:lnTo>
                    <a:pt x="2466032" y="1567905"/>
                  </a:lnTo>
                  <a:lnTo>
                    <a:pt x="2487051" y="1563661"/>
                  </a:lnTo>
                  <a:lnTo>
                    <a:pt x="2504216" y="1552089"/>
                  </a:lnTo>
                  <a:lnTo>
                    <a:pt x="2515788" y="1534924"/>
                  </a:lnTo>
                  <a:lnTo>
                    <a:pt x="2520032" y="1513905"/>
                  </a:lnTo>
                  <a:lnTo>
                    <a:pt x="2520032" y="54000"/>
                  </a:lnTo>
                  <a:lnTo>
                    <a:pt x="2515788" y="32980"/>
                  </a:lnTo>
                  <a:lnTo>
                    <a:pt x="2504216" y="15816"/>
                  </a:lnTo>
                  <a:lnTo>
                    <a:pt x="2487051" y="4243"/>
                  </a:lnTo>
                  <a:lnTo>
                    <a:pt x="2466032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17993" y="1204717"/>
              <a:ext cx="2484120" cy="1315720"/>
            </a:xfrm>
            <a:custGeom>
              <a:avLst/>
              <a:gdLst/>
              <a:ahLst/>
              <a:cxnLst/>
              <a:rect l="l" t="t" r="r" b="b"/>
              <a:pathLst>
                <a:path w="2484120" h="1315720">
                  <a:moveTo>
                    <a:pt x="2484032" y="0"/>
                  </a:moveTo>
                  <a:lnTo>
                    <a:pt x="0" y="0"/>
                  </a:lnTo>
                  <a:lnTo>
                    <a:pt x="0" y="1279377"/>
                  </a:lnTo>
                  <a:lnTo>
                    <a:pt x="2829" y="1293390"/>
                  </a:lnTo>
                  <a:lnTo>
                    <a:pt x="10544" y="1304833"/>
                  </a:lnTo>
                  <a:lnTo>
                    <a:pt x="21987" y="1312548"/>
                  </a:lnTo>
                  <a:lnTo>
                    <a:pt x="36000" y="1315377"/>
                  </a:lnTo>
                  <a:lnTo>
                    <a:pt x="2448032" y="1315377"/>
                  </a:lnTo>
                  <a:lnTo>
                    <a:pt x="2462045" y="1312548"/>
                  </a:lnTo>
                  <a:lnTo>
                    <a:pt x="2473488" y="1304833"/>
                  </a:lnTo>
                  <a:lnTo>
                    <a:pt x="2481203" y="1293390"/>
                  </a:lnTo>
                  <a:lnTo>
                    <a:pt x="2484032" y="1279377"/>
                  </a:lnTo>
                  <a:lnTo>
                    <a:pt x="2484032" y="0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185299" y="979886"/>
            <a:ext cx="15278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sz="10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FFFFFF"/>
                </a:solidFill>
                <a:latin typeface="Arial"/>
                <a:cs typeface="Arial"/>
              </a:rPr>
              <a:t>Approach</a:t>
            </a:r>
            <a:r>
              <a:rPr sz="10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Arial"/>
                <a:cs typeface="Arial"/>
              </a:rPr>
              <a:t>(Supervised)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85299" y="1200651"/>
            <a:ext cx="2148840" cy="122491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000" b="1" spc="-25" dirty="0">
                <a:latin typeface="Arial"/>
                <a:cs typeface="Arial"/>
              </a:rPr>
              <a:t>Solution:</a:t>
            </a:r>
            <a:r>
              <a:rPr sz="1000" b="1" spc="65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Learning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from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data.</a:t>
            </a:r>
            <a:endParaRPr sz="1000">
              <a:latin typeface="Arial"/>
              <a:cs typeface="Arial"/>
            </a:endParaRPr>
          </a:p>
          <a:p>
            <a:pPr marL="263525" marR="190500" indent="-125095">
              <a:lnSpc>
                <a:spcPct val="114599"/>
              </a:lnSpc>
              <a:spcBef>
                <a:spcPts val="295"/>
              </a:spcBef>
              <a:buChar char="•"/>
              <a:tabLst>
                <a:tab pos="265430" algn="l"/>
              </a:tabLst>
            </a:pPr>
            <a:r>
              <a:rPr sz="1000" spc="-60" dirty="0">
                <a:solidFill>
                  <a:srgbClr val="22373A"/>
                </a:solidFill>
                <a:latin typeface="Arial"/>
                <a:cs typeface="Arial"/>
              </a:rPr>
              <a:t>Show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1,000,000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60" dirty="0">
                <a:solidFill>
                  <a:srgbClr val="22373A"/>
                </a:solidFill>
                <a:latin typeface="Arial"/>
                <a:cs typeface="Arial"/>
              </a:rPr>
              <a:t>spam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emails 	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1,000,000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normal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emails.</a:t>
            </a:r>
            <a:endParaRPr sz="1000">
              <a:latin typeface="Arial"/>
              <a:cs typeface="Arial"/>
            </a:endParaRPr>
          </a:p>
          <a:p>
            <a:pPr marL="263525" marR="66040" indent="-125095">
              <a:lnSpc>
                <a:spcPct val="114599"/>
              </a:lnSpc>
              <a:spcBef>
                <a:spcPts val="300"/>
              </a:spcBef>
              <a:buChar char="•"/>
              <a:tabLst>
                <a:tab pos="265430" algn="l"/>
              </a:tabLst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finds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patterns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itself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(words, 	</a:t>
            </a:r>
            <a:r>
              <a:rPr sz="1000" spc="-55" dirty="0">
                <a:solidFill>
                  <a:srgbClr val="22373A"/>
                </a:solidFill>
                <a:latin typeface="Arial"/>
                <a:cs typeface="Arial"/>
              </a:rPr>
              <a:t>sender,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time).</a:t>
            </a: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spcBef>
                <a:spcPts val="475"/>
              </a:spcBef>
              <a:buChar char="•"/>
              <a:tabLst>
                <a:tab pos="264160" algn="l"/>
              </a:tabLst>
            </a:pP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Adapts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automatically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5" dirty="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tricks.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731" y="110"/>
            <a:ext cx="4568494" cy="323982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Type</a:t>
            </a:r>
            <a:r>
              <a:rPr spc="35" dirty="0"/>
              <a:t> </a:t>
            </a:r>
            <a:r>
              <a:rPr dirty="0"/>
              <a:t>2:</a:t>
            </a:r>
            <a:r>
              <a:rPr spc="165" dirty="0"/>
              <a:t> </a:t>
            </a:r>
            <a:r>
              <a:rPr spc="-60" dirty="0"/>
              <a:t>Unsupervised</a:t>
            </a:r>
            <a:r>
              <a:rPr spc="40" dirty="0"/>
              <a:t> </a:t>
            </a:r>
            <a:r>
              <a:rPr spc="-50" dirty="0"/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539721"/>
            <a:ext cx="5040630" cy="717550"/>
            <a:chOff x="359994" y="539721"/>
            <a:chExt cx="5040630" cy="717550"/>
          </a:xfrm>
        </p:grpSpPr>
        <p:sp>
          <p:nvSpPr>
            <p:cNvPr id="4" name="object 4"/>
            <p:cNvSpPr/>
            <p:nvPr/>
          </p:nvSpPr>
          <p:spPr>
            <a:xfrm>
              <a:off x="359994" y="539721"/>
              <a:ext cx="5040630" cy="717550"/>
            </a:xfrm>
            <a:custGeom>
              <a:avLst/>
              <a:gdLst/>
              <a:ahLst/>
              <a:cxnLst/>
              <a:rect l="l" t="t" r="r" b="b"/>
              <a:pathLst>
                <a:path w="5040630" h="717550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662943"/>
                  </a:lnTo>
                  <a:lnTo>
                    <a:pt x="4243" y="683963"/>
                  </a:lnTo>
                  <a:lnTo>
                    <a:pt x="15816" y="701127"/>
                  </a:lnTo>
                  <a:lnTo>
                    <a:pt x="32980" y="712700"/>
                  </a:lnTo>
                  <a:lnTo>
                    <a:pt x="54000" y="716943"/>
                  </a:lnTo>
                  <a:lnTo>
                    <a:pt x="4986064" y="716943"/>
                  </a:lnTo>
                  <a:lnTo>
                    <a:pt x="5007084" y="712700"/>
                  </a:lnTo>
                  <a:lnTo>
                    <a:pt x="5024248" y="701127"/>
                  </a:lnTo>
                  <a:lnTo>
                    <a:pt x="5035821" y="683963"/>
                  </a:lnTo>
                  <a:lnTo>
                    <a:pt x="5040064" y="662943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7994" y="760190"/>
              <a:ext cx="5004435" cy="478790"/>
            </a:xfrm>
            <a:custGeom>
              <a:avLst/>
              <a:gdLst/>
              <a:ahLst/>
              <a:cxnLst/>
              <a:rect l="l" t="t" r="r" b="b"/>
              <a:pathLst>
                <a:path w="5004435" h="478790">
                  <a:moveTo>
                    <a:pt x="5004065" y="0"/>
                  </a:moveTo>
                  <a:lnTo>
                    <a:pt x="0" y="0"/>
                  </a:lnTo>
                  <a:lnTo>
                    <a:pt x="0" y="442474"/>
                  </a:lnTo>
                  <a:lnTo>
                    <a:pt x="2829" y="456487"/>
                  </a:lnTo>
                  <a:lnTo>
                    <a:pt x="10544" y="467930"/>
                  </a:lnTo>
                  <a:lnTo>
                    <a:pt x="21987" y="475645"/>
                  </a:lnTo>
                  <a:lnTo>
                    <a:pt x="36000" y="478474"/>
                  </a:lnTo>
                  <a:lnTo>
                    <a:pt x="4968064" y="478474"/>
                  </a:lnTo>
                  <a:lnTo>
                    <a:pt x="4982077" y="475645"/>
                  </a:lnTo>
                  <a:lnTo>
                    <a:pt x="4993521" y="467930"/>
                  </a:lnTo>
                  <a:lnTo>
                    <a:pt x="5001236" y="456487"/>
                  </a:lnTo>
                  <a:lnTo>
                    <a:pt x="5004065" y="442474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45299" y="542371"/>
            <a:ext cx="4669155" cy="626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solidFill>
                  <a:srgbClr val="FFFFFF"/>
                </a:solidFill>
                <a:latin typeface="Arial"/>
                <a:cs typeface="Arial"/>
              </a:rPr>
              <a:t>”Learning</a:t>
            </a:r>
            <a:r>
              <a:rPr sz="10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without</a:t>
            </a:r>
            <a:r>
              <a:rPr sz="10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0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Teacher”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4599"/>
              </a:lnSpc>
              <a:spcBef>
                <a:spcPts val="785"/>
              </a:spcBef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computer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learns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from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unlabeled</a:t>
            </a:r>
            <a:r>
              <a:rPr sz="1000" b="1" spc="7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data</a:t>
            </a:r>
            <a:r>
              <a:rPr sz="1000" dirty="0">
                <a:latin typeface="Arial"/>
                <a:cs typeface="Arial"/>
              </a:rPr>
              <a:t>.</a:t>
            </a:r>
            <a:r>
              <a:rPr sz="1000" spc="2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must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find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hidden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patterns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structures </a:t>
            </a:r>
            <a:r>
              <a:rPr sz="1000" dirty="0">
                <a:latin typeface="Arial"/>
                <a:cs typeface="Arial"/>
              </a:rPr>
              <a:t>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own.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7304" y="1637480"/>
            <a:ext cx="2707640" cy="87566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1000" b="1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1000" b="1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works:</a:t>
            </a:r>
            <a:endParaRPr sz="1000">
              <a:latin typeface="Arial"/>
              <a:cs typeface="Arial"/>
            </a:endParaRPr>
          </a:p>
          <a:p>
            <a:pPr marL="263525" indent="-160020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263525" algn="l"/>
              </a:tabLst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Input:</a:t>
            </a:r>
            <a:r>
              <a:rPr sz="10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database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customer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purchases.</a:t>
            </a:r>
            <a:endParaRPr sz="1000">
              <a:latin typeface="Arial"/>
              <a:cs typeface="Arial"/>
            </a:endParaRPr>
          </a:p>
          <a:p>
            <a:pPr marL="263525" indent="-160020">
              <a:lnSpc>
                <a:spcPct val="100000"/>
              </a:lnSpc>
              <a:spcBef>
                <a:spcPts val="475"/>
              </a:spcBef>
              <a:buAutoNum type="arabicPeriod"/>
              <a:tabLst>
                <a:tab pos="263525" algn="l"/>
              </a:tabLst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labels.</a:t>
            </a:r>
            <a:endParaRPr sz="1000">
              <a:latin typeface="Arial"/>
              <a:cs typeface="Arial"/>
            </a:endParaRPr>
          </a:p>
          <a:p>
            <a:pPr marL="263525" indent="-160020">
              <a:lnSpc>
                <a:spcPct val="100000"/>
              </a:lnSpc>
              <a:spcBef>
                <a:spcPts val="475"/>
              </a:spcBef>
              <a:buAutoNum type="arabicPeriod"/>
              <a:tabLst>
                <a:tab pos="263525" algn="l"/>
              </a:tabLst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groups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similar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customers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together.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04031" y="1433019"/>
            <a:ext cx="2016125" cy="1523365"/>
            <a:chOff x="3504031" y="1433019"/>
            <a:chExt cx="2016125" cy="1523365"/>
          </a:xfrm>
        </p:grpSpPr>
        <p:sp>
          <p:nvSpPr>
            <p:cNvPr id="9" name="object 9"/>
            <p:cNvSpPr/>
            <p:nvPr/>
          </p:nvSpPr>
          <p:spPr>
            <a:xfrm>
              <a:off x="3504031" y="1433019"/>
              <a:ext cx="2016125" cy="1523365"/>
            </a:xfrm>
            <a:custGeom>
              <a:avLst/>
              <a:gdLst/>
              <a:ahLst/>
              <a:cxnLst/>
              <a:rect l="l" t="t" r="r" b="b"/>
              <a:pathLst>
                <a:path w="2016125" h="1523364">
                  <a:moveTo>
                    <a:pt x="196199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1468917"/>
                  </a:lnTo>
                  <a:lnTo>
                    <a:pt x="4243" y="1489937"/>
                  </a:lnTo>
                  <a:lnTo>
                    <a:pt x="15816" y="1507101"/>
                  </a:lnTo>
                  <a:lnTo>
                    <a:pt x="32980" y="1518674"/>
                  </a:lnTo>
                  <a:lnTo>
                    <a:pt x="54000" y="1522918"/>
                  </a:lnTo>
                  <a:lnTo>
                    <a:pt x="1961994" y="1522918"/>
                  </a:lnTo>
                  <a:lnTo>
                    <a:pt x="1983014" y="1518674"/>
                  </a:lnTo>
                  <a:lnTo>
                    <a:pt x="2000178" y="1507101"/>
                  </a:lnTo>
                  <a:lnTo>
                    <a:pt x="2011751" y="1489937"/>
                  </a:lnTo>
                  <a:lnTo>
                    <a:pt x="2015994" y="1468917"/>
                  </a:lnTo>
                  <a:lnTo>
                    <a:pt x="2015994" y="54000"/>
                  </a:lnTo>
                  <a:lnTo>
                    <a:pt x="2011751" y="32980"/>
                  </a:lnTo>
                  <a:lnTo>
                    <a:pt x="2000178" y="15816"/>
                  </a:lnTo>
                  <a:lnTo>
                    <a:pt x="1983014" y="4243"/>
                  </a:lnTo>
                  <a:lnTo>
                    <a:pt x="1961994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22031" y="1653488"/>
              <a:ext cx="1980564" cy="1284605"/>
            </a:xfrm>
            <a:custGeom>
              <a:avLst/>
              <a:gdLst/>
              <a:ahLst/>
              <a:cxnLst/>
              <a:rect l="l" t="t" r="r" b="b"/>
              <a:pathLst>
                <a:path w="1980564" h="1284605">
                  <a:moveTo>
                    <a:pt x="1979995" y="0"/>
                  </a:moveTo>
                  <a:lnTo>
                    <a:pt x="0" y="0"/>
                  </a:lnTo>
                  <a:lnTo>
                    <a:pt x="0" y="1248448"/>
                  </a:lnTo>
                  <a:lnTo>
                    <a:pt x="2829" y="1262461"/>
                  </a:lnTo>
                  <a:lnTo>
                    <a:pt x="10544" y="1273904"/>
                  </a:lnTo>
                  <a:lnTo>
                    <a:pt x="21987" y="1281620"/>
                  </a:lnTo>
                  <a:lnTo>
                    <a:pt x="36000" y="1284449"/>
                  </a:lnTo>
                  <a:lnTo>
                    <a:pt x="1943994" y="1284449"/>
                  </a:lnTo>
                  <a:lnTo>
                    <a:pt x="1958007" y="1281620"/>
                  </a:lnTo>
                  <a:lnTo>
                    <a:pt x="1969450" y="1273904"/>
                  </a:lnTo>
                  <a:lnTo>
                    <a:pt x="1977165" y="1262461"/>
                  </a:lnTo>
                  <a:lnTo>
                    <a:pt x="1979995" y="1248448"/>
                  </a:lnTo>
                  <a:lnTo>
                    <a:pt x="1979995" y="0"/>
                  </a:lnTo>
                  <a:close/>
                </a:path>
              </a:pathLst>
            </a:custGeom>
            <a:solidFill>
              <a:srgbClr val="FF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689324" y="1435676"/>
            <a:ext cx="5676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45" dirty="0">
                <a:solidFill>
                  <a:srgbClr val="FFFFFF"/>
                </a:solidFill>
                <a:latin typeface="Arial"/>
                <a:cs typeface="Arial"/>
              </a:rPr>
              <a:t>Examples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15867" y="1687379"/>
            <a:ext cx="1400175" cy="1149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160" marR="5080" indent="-125095">
              <a:lnSpc>
                <a:spcPct val="114599"/>
              </a:lnSpc>
              <a:spcBef>
                <a:spcPts val="100"/>
              </a:spcBef>
              <a:buChar char="•"/>
              <a:tabLst>
                <a:tab pos="139065" algn="l"/>
              </a:tabLst>
            </a:pP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Customer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segmentation 	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(Marketing)</a:t>
            </a:r>
            <a:endParaRPr sz="1000">
              <a:latin typeface="Arial"/>
              <a:cs typeface="Arial"/>
            </a:endParaRPr>
          </a:p>
          <a:p>
            <a:pPr marL="137160" marR="332105" indent="-125095">
              <a:lnSpc>
                <a:spcPct val="114599"/>
              </a:lnSpc>
              <a:spcBef>
                <a:spcPts val="295"/>
              </a:spcBef>
              <a:buChar char="•"/>
              <a:tabLst>
                <a:tab pos="139065" algn="l"/>
              </a:tabLst>
            </a:pP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Product 	</a:t>
            </a:r>
            <a:r>
              <a:rPr sz="1000" spc="-55" dirty="0">
                <a:solidFill>
                  <a:srgbClr val="22373A"/>
                </a:solidFill>
                <a:latin typeface="Arial"/>
                <a:cs typeface="Arial"/>
              </a:rPr>
              <a:t>recommendations</a:t>
            </a:r>
            <a:endParaRPr sz="1000">
              <a:latin typeface="Arial"/>
              <a:cs typeface="Arial"/>
            </a:endParaRPr>
          </a:p>
          <a:p>
            <a:pPr marL="137160" marR="262890" indent="-125095">
              <a:lnSpc>
                <a:spcPct val="114599"/>
              </a:lnSpc>
              <a:spcBef>
                <a:spcPts val="300"/>
              </a:spcBef>
              <a:buChar char="•"/>
              <a:tabLst>
                <a:tab pos="139065" algn="l"/>
              </a:tabLst>
            </a:pP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Anomaly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detection 	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(Fraud)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83857" y="3096300"/>
            <a:ext cx="1796414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13792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98303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54056" y="3096300"/>
            <a:ext cx="422275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r>
              <a:rPr sz="9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24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9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Arial"/>
                <a:cs typeface="Arial"/>
              </a:rPr>
              <a:t>45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52823"/>
            <a:ext cx="5759996" cy="213433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Type</a:t>
            </a:r>
            <a:r>
              <a:rPr spc="25" dirty="0"/>
              <a:t> </a:t>
            </a:r>
            <a:r>
              <a:rPr dirty="0"/>
              <a:t>3:</a:t>
            </a:r>
            <a:r>
              <a:rPr spc="150" dirty="0"/>
              <a:t> </a:t>
            </a:r>
            <a:r>
              <a:rPr spc="-35" dirty="0"/>
              <a:t>Reinforcement</a:t>
            </a:r>
            <a:r>
              <a:rPr spc="25" dirty="0"/>
              <a:t> </a:t>
            </a:r>
            <a:r>
              <a:rPr spc="-50" dirty="0"/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801620"/>
            <a:ext cx="5040630" cy="717550"/>
            <a:chOff x="359994" y="801620"/>
            <a:chExt cx="5040630" cy="717550"/>
          </a:xfrm>
        </p:grpSpPr>
        <p:sp>
          <p:nvSpPr>
            <p:cNvPr id="4" name="object 4"/>
            <p:cNvSpPr/>
            <p:nvPr/>
          </p:nvSpPr>
          <p:spPr>
            <a:xfrm>
              <a:off x="359994" y="801620"/>
              <a:ext cx="5040630" cy="717550"/>
            </a:xfrm>
            <a:custGeom>
              <a:avLst/>
              <a:gdLst/>
              <a:ahLst/>
              <a:cxnLst/>
              <a:rect l="l" t="t" r="r" b="b"/>
              <a:pathLst>
                <a:path w="5040630" h="717550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662943"/>
                  </a:lnTo>
                  <a:lnTo>
                    <a:pt x="4243" y="683963"/>
                  </a:lnTo>
                  <a:lnTo>
                    <a:pt x="15816" y="701127"/>
                  </a:lnTo>
                  <a:lnTo>
                    <a:pt x="32980" y="712700"/>
                  </a:lnTo>
                  <a:lnTo>
                    <a:pt x="54000" y="716943"/>
                  </a:lnTo>
                  <a:lnTo>
                    <a:pt x="4986064" y="716943"/>
                  </a:lnTo>
                  <a:lnTo>
                    <a:pt x="5007084" y="712700"/>
                  </a:lnTo>
                  <a:lnTo>
                    <a:pt x="5024248" y="701127"/>
                  </a:lnTo>
                  <a:lnTo>
                    <a:pt x="5035821" y="683963"/>
                  </a:lnTo>
                  <a:lnTo>
                    <a:pt x="5040064" y="662943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7994" y="1022089"/>
              <a:ext cx="5004435" cy="478790"/>
            </a:xfrm>
            <a:custGeom>
              <a:avLst/>
              <a:gdLst/>
              <a:ahLst/>
              <a:cxnLst/>
              <a:rect l="l" t="t" r="r" b="b"/>
              <a:pathLst>
                <a:path w="5004435" h="478790">
                  <a:moveTo>
                    <a:pt x="5004065" y="0"/>
                  </a:moveTo>
                  <a:lnTo>
                    <a:pt x="0" y="0"/>
                  </a:lnTo>
                  <a:lnTo>
                    <a:pt x="0" y="442474"/>
                  </a:lnTo>
                  <a:lnTo>
                    <a:pt x="2829" y="456487"/>
                  </a:lnTo>
                  <a:lnTo>
                    <a:pt x="10544" y="467930"/>
                  </a:lnTo>
                  <a:lnTo>
                    <a:pt x="21987" y="475645"/>
                  </a:lnTo>
                  <a:lnTo>
                    <a:pt x="36000" y="478474"/>
                  </a:lnTo>
                  <a:lnTo>
                    <a:pt x="4968064" y="478474"/>
                  </a:lnTo>
                  <a:lnTo>
                    <a:pt x="4982077" y="475645"/>
                  </a:lnTo>
                  <a:lnTo>
                    <a:pt x="4993521" y="467930"/>
                  </a:lnTo>
                  <a:lnTo>
                    <a:pt x="5001236" y="456487"/>
                  </a:lnTo>
                  <a:lnTo>
                    <a:pt x="5004065" y="442474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45299" y="804270"/>
            <a:ext cx="4668520" cy="626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solidFill>
                  <a:srgbClr val="FFFFFF"/>
                </a:solidFill>
                <a:latin typeface="Arial"/>
                <a:cs typeface="Arial"/>
              </a:rPr>
              <a:t>”Learning</a:t>
            </a:r>
            <a:r>
              <a:rPr sz="10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100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Trial</a:t>
            </a:r>
            <a:r>
              <a:rPr sz="100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10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100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Error”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4599"/>
              </a:lnSpc>
              <a:spcBef>
                <a:spcPts val="785"/>
              </a:spcBef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computer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learns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interacting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environment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receiving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rewards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pun- </a:t>
            </a:r>
            <a:r>
              <a:rPr sz="1000" b="1" spc="-10" dirty="0">
                <a:latin typeface="Arial"/>
                <a:cs typeface="Arial"/>
              </a:rPr>
              <a:t>ishments</a:t>
            </a:r>
            <a:r>
              <a:rPr sz="1000" spc="-10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7304" y="1550181"/>
            <a:ext cx="2925445" cy="105029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1000" b="1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1000" b="1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works:</a:t>
            </a:r>
            <a:endParaRPr sz="1000">
              <a:latin typeface="Arial"/>
              <a:cs typeface="Arial"/>
            </a:endParaRPr>
          </a:p>
          <a:p>
            <a:pPr marL="263525" indent="-160020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263525" algn="l"/>
              </a:tabLst>
            </a:pP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Agent</a:t>
            </a:r>
            <a:r>
              <a:rPr sz="10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takes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action (e.g., </a:t>
            </a:r>
            <a:r>
              <a:rPr sz="1000" spc="-70" dirty="0">
                <a:solidFill>
                  <a:srgbClr val="22373A"/>
                </a:solidFill>
                <a:latin typeface="Arial"/>
                <a:cs typeface="Arial"/>
              </a:rPr>
              <a:t>moves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85" dirty="0">
                <a:solidFill>
                  <a:srgbClr val="22373A"/>
                </a:solidFill>
                <a:latin typeface="Arial"/>
                <a:cs typeface="Arial"/>
              </a:rPr>
              <a:t>chess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piece).</a:t>
            </a:r>
            <a:endParaRPr sz="1000">
              <a:latin typeface="Arial"/>
              <a:cs typeface="Arial"/>
            </a:endParaRPr>
          </a:p>
          <a:p>
            <a:pPr marL="263525" marR="5080" indent="-160020">
              <a:lnSpc>
                <a:spcPct val="114599"/>
              </a:lnSpc>
              <a:spcBef>
                <a:spcPts val="300"/>
              </a:spcBef>
              <a:buAutoNum type="arabicPeriod"/>
              <a:tabLst>
                <a:tab pos="265430" algn="l"/>
              </a:tabLst>
            </a:pP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60" dirty="0">
                <a:solidFill>
                  <a:srgbClr val="22373A"/>
                </a:solidFill>
                <a:latin typeface="Arial"/>
                <a:cs typeface="Arial"/>
              </a:rPr>
              <a:t>gives</a:t>
            </a:r>
            <a:r>
              <a:rPr sz="10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specific</a:t>
            </a:r>
            <a:r>
              <a:rPr sz="10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feedback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(Win</a:t>
            </a:r>
            <a:r>
              <a:rPr sz="10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180" dirty="0">
                <a:solidFill>
                  <a:srgbClr val="22373A"/>
                </a:solidFill>
                <a:latin typeface="Arial"/>
                <a:cs typeface="Arial"/>
              </a:rPr>
              <a:t>=</a:t>
            </a:r>
            <a:r>
              <a:rPr sz="10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+10, 	</a:t>
            </a:r>
            <a:r>
              <a:rPr sz="1000" spc="-65" dirty="0">
                <a:solidFill>
                  <a:srgbClr val="22373A"/>
                </a:solidFill>
                <a:latin typeface="Arial"/>
                <a:cs typeface="Arial"/>
              </a:rPr>
              <a:t>Lose</a:t>
            </a:r>
            <a:r>
              <a:rPr sz="10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180" dirty="0">
                <a:solidFill>
                  <a:srgbClr val="22373A"/>
                </a:solidFill>
                <a:latin typeface="Arial"/>
                <a:cs typeface="Arial"/>
              </a:rPr>
              <a:t>=</a:t>
            </a:r>
            <a:r>
              <a:rPr sz="10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-10).</a:t>
            </a:r>
            <a:endParaRPr sz="1000">
              <a:latin typeface="Arial"/>
              <a:cs typeface="Arial"/>
            </a:endParaRPr>
          </a:p>
          <a:p>
            <a:pPr marL="263525" indent="-160020">
              <a:lnSpc>
                <a:spcPct val="100000"/>
              </a:lnSpc>
              <a:spcBef>
                <a:spcPts val="475"/>
              </a:spcBef>
              <a:buAutoNum type="arabicPeriod"/>
              <a:tabLst>
                <a:tab pos="263525" algn="l"/>
              </a:tabLst>
            </a:pP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Agent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optimizes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get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max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reward.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04031" y="1694927"/>
            <a:ext cx="2016125" cy="999490"/>
            <a:chOff x="3504031" y="1694927"/>
            <a:chExt cx="2016125" cy="999490"/>
          </a:xfrm>
        </p:grpSpPr>
        <p:sp>
          <p:nvSpPr>
            <p:cNvPr id="9" name="object 9"/>
            <p:cNvSpPr/>
            <p:nvPr/>
          </p:nvSpPr>
          <p:spPr>
            <a:xfrm>
              <a:off x="3504031" y="1694927"/>
              <a:ext cx="2016125" cy="999490"/>
            </a:xfrm>
            <a:custGeom>
              <a:avLst/>
              <a:gdLst/>
              <a:ahLst/>
              <a:cxnLst/>
              <a:rect l="l" t="t" r="r" b="b"/>
              <a:pathLst>
                <a:path w="2016125" h="999489">
                  <a:moveTo>
                    <a:pt x="196199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945098"/>
                  </a:lnTo>
                  <a:lnTo>
                    <a:pt x="4243" y="966117"/>
                  </a:lnTo>
                  <a:lnTo>
                    <a:pt x="15816" y="983282"/>
                  </a:lnTo>
                  <a:lnTo>
                    <a:pt x="32980" y="994854"/>
                  </a:lnTo>
                  <a:lnTo>
                    <a:pt x="54000" y="999098"/>
                  </a:lnTo>
                  <a:lnTo>
                    <a:pt x="1961994" y="999098"/>
                  </a:lnTo>
                  <a:lnTo>
                    <a:pt x="1983014" y="994854"/>
                  </a:lnTo>
                  <a:lnTo>
                    <a:pt x="2000178" y="983282"/>
                  </a:lnTo>
                  <a:lnTo>
                    <a:pt x="2011751" y="966117"/>
                  </a:lnTo>
                  <a:lnTo>
                    <a:pt x="2015994" y="945098"/>
                  </a:lnTo>
                  <a:lnTo>
                    <a:pt x="2015994" y="54000"/>
                  </a:lnTo>
                  <a:lnTo>
                    <a:pt x="2011751" y="32980"/>
                  </a:lnTo>
                  <a:lnTo>
                    <a:pt x="2000178" y="15816"/>
                  </a:lnTo>
                  <a:lnTo>
                    <a:pt x="1983014" y="4243"/>
                  </a:lnTo>
                  <a:lnTo>
                    <a:pt x="1961994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22031" y="1915396"/>
              <a:ext cx="1980564" cy="760730"/>
            </a:xfrm>
            <a:custGeom>
              <a:avLst/>
              <a:gdLst/>
              <a:ahLst/>
              <a:cxnLst/>
              <a:rect l="l" t="t" r="r" b="b"/>
              <a:pathLst>
                <a:path w="1980564" h="760730">
                  <a:moveTo>
                    <a:pt x="1979995" y="0"/>
                  </a:moveTo>
                  <a:lnTo>
                    <a:pt x="0" y="0"/>
                  </a:lnTo>
                  <a:lnTo>
                    <a:pt x="0" y="724629"/>
                  </a:lnTo>
                  <a:lnTo>
                    <a:pt x="2829" y="738642"/>
                  </a:lnTo>
                  <a:lnTo>
                    <a:pt x="10544" y="750085"/>
                  </a:lnTo>
                  <a:lnTo>
                    <a:pt x="21987" y="757800"/>
                  </a:lnTo>
                  <a:lnTo>
                    <a:pt x="36000" y="760629"/>
                  </a:lnTo>
                  <a:lnTo>
                    <a:pt x="1943994" y="760629"/>
                  </a:lnTo>
                  <a:lnTo>
                    <a:pt x="1958007" y="757800"/>
                  </a:lnTo>
                  <a:lnTo>
                    <a:pt x="1969450" y="750085"/>
                  </a:lnTo>
                  <a:lnTo>
                    <a:pt x="1977165" y="738642"/>
                  </a:lnTo>
                  <a:lnTo>
                    <a:pt x="1979995" y="724629"/>
                  </a:lnTo>
                  <a:lnTo>
                    <a:pt x="1979995" y="0"/>
                  </a:lnTo>
                  <a:close/>
                </a:path>
              </a:pathLst>
            </a:custGeom>
            <a:solidFill>
              <a:srgbClr val="FF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689324" y="1697588"/>
            <a:ext cx="5676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45" dirty="0">
                <a:solidFill>
                  <a:srgbClr val="FFFFFF"/>
                </a:solidFill>
                <a:latin typeface="Arial"/>
                <a:cs typeface="Arial"/>
              </a:rPr>
              <a:t>Examples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15867" y="1918354"/>
            <a:ext cx="1429385" cy="66357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37795" indent="-125095">
              <a:lnSpc>
                <a:spcPct val="100000"/>
              </a:lnSpc>
              <a:spcBef>
                <a:spcPts val="575"/>
              </a:spcBef>
              <a:buChar char="•"/>
              <a:tabLst>
                <a:tab pos="137795" algn="l"/>
              </a:tabLst>
            </a:pP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Playing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Chess/AlphaGo</a:t>
            </a:r>
            <a:endParaRPr sz="1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spcBef>
                <a:spcPts val="470"/>
              </a:spcBef>
              <a:buChar char="•"/>
              <a:tabLst>
                <a:tab pos="137795" algn="l"/>
              </a:tabLst>
            </a:pP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Training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Robots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walk</a:t>
            </a:r>
            <a:endParaRPr sz="1000">
              <a:latin typeface="Arial"/>
              <a:cs typeface="Arial"/>
            </a:endParaRPr>
          </a:p>
          <a:p>
            <a:pPr marL="137795" indent="-125095">
              <a:lnSpc>
                <a:spcPct val="100000"/>
              </a:lnSpc>
              <a:spcBef>
                <a:spcPts val="475"/>
              </a:spcBef>
              <a:buChar char="•"/>
              <a:tabLst>
                <a:tab pos="137795" algn="l"/>
              </a:tabLst>
            </a:pP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Self-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driving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cars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83857" y="3096300"/>
            <a:ext cx="1796414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13792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98303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80"/>
              </a:lnSpc>
            </a:pPr>
            <a:r>
              <a:rPr dirty="0"/>
              <a:t>37</a:t>
            </a:r>
            <a:r>
              <a:rPr spc="65" dirty="0"/>
              <a:t> </a:t>
            </a:r>
            <a:r>
              <a:rPr spc="240" dirty="0"/>
              <a:t>/</a:t>
            </a:r>
            <a:r>
              <a:rPr spc="65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53060"/>
          </a:xfrm>
          <a:custGeom>
            <a:avLst/>
            <a:gdLst/>
            <a:ahLst/>
            <a:cxnLst/>
            <a:rect l="l" t="t" r="r" b="b"/>
            <a:pathLst>
              <a:path w="5760085" h="353060">
                <a:moveTo>
                  <a:pt x="5759996" y="0"/>
                </a:moveTo>
                <a:lnTo>
                  <a:pt x="0" y="0"/>
                </a:lnTo>
                <a:lnTo>
                  <a:pt x="0" y="352869"/>
                </a:lnTo>
                <a:lnTo>
                  <a:pt x="5759996" y="352869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010" y="64615"/>
            <a:ext cx="23152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Reinforcement</a:t>
            </a:r>
            <a:r>
              <a:rPr sz="12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45" dirty="0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r>
              <a:rPr sz="12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505" y="426147"/>
            <a:ext cx="4929073" cy="257954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3857" y="3096300"/>
            <a:ext cx="1796414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13792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98303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80"/>
              </a:lnSpc>
            </a:pPr>
            <a:r>
              <a:rPr dirty="0"/>
              <a:t>38</a:t>
            </a:r>
            <a:r>
              <a:rPr spc="65" dirty="0"/>
              <a:t> </a:t>
            </a:r>
            <a:r>
              <a:rPr spc="240" dirty="0"/>
              <a:t>/</a:t>
            </a:r>
            <a:r>
              <a:rPr spc="65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5511" y="1311856"/>
            <a:ext cx="13023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5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AI</a:t>
            </a:r>
            <a:r>
              <a:rPr sz="1400" b="1" spc="13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4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Applications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88211" y="1680101"/>
            <a:ext cx="2783840" cy="5080"/>
            <a:chOff x="1488211" y="1680101"/>
            <a:chExt cx="2783840" cy="5080"/>
          </a:xfrm>
        </p:grpSpPr>
        <p:sp>
          <p:nvSpPr>
            <p:cNvPr id="4" name="object 4"/>
            <p:cNvSpPr/>
            <p:nvPr/>
          </p:nvSpPr>
          <p:spPr>
            <a:xfrm>
              <a:off x="1488211" y="1680101"/>
              <a:ext cx="2783840" cy="5080"/>
            </a:xfrm>
            <a:custGeom>
              <a:avLst/>
              <a:gdLst/>
              <a:ahLst/>
              <a:cxnLst/>
              <a:rect l="l" t="t" r="r" b="b"/>
              <a:pathLst>
                <a:path w="2783840" h="5080">
                  <a:moveTo>
                    <a:pt x="0" y="5060"/>
                  </a:moveTo>
                  <a:lnTo>
                    <a:pt x="0" y="0"/>
                  </a:lnTo>
                  <a:lnTo>
                    <a:pt x="2783601" y="0"/>
                  </a:lnTo>
                  <a:lnTo>
                    <a:pt x="278360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88211" y="1680101"/>
              <a:ext cx="2350770" cy="5080"/>
            </a:xfrm>
            <a:custGeom>
              <a:avLst/>
              <a:gdLst/>
              <a:ahLst/>
              <a:cxnLst/>
              <a:rect l="l" t="t" r="r" b="b"/>
              <a:pathLst>
                <a:path w="2350770" h="5080">
                  <a:moveTo>
                    <a:pt x="0" y="5060"/>
                  </a:moveTo>
                  <a:lnTo>
                    <a:pt x="0" y="0"/>
                  </a:lnTo>
                  <a:lnTo>
                    <a:pt x="2350575" y="0"/>
                  </a:lnTo>
                  <a:lnTo>
                    <a:pt x="235057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FD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010" y="64615"/>
            <a:ext cx="24288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Engineering</a:t>
            </a:r>
            <a:r>
              <a:rPr spc="45" dirty="0"/>
              <a:t> </a:t>
            </a:r>
            <a:r>
              <a:rPr spc="-45" dirty="0"/>
              <a:t>Applications</a:t>
            </a:r>
            <a:r>
              <a:rPr spc="50" dirty="0"/>
              <a:t> </a:t>
            </a:r>
            <a:r>
              <a:rPr spc="-3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57102"/>
            <a:ext cx="2247900" cy="1516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transforms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every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engineering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discipline:</a:t>
            </a: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spcBef>
                <a:spcPts val="969"/>
              </a:spcBef>
              <a:buChar char="•"/>
              <a:tabLst>
                <a:tab pos="264160" algn="l"/>
              </a:tabLst>
            </a:pP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Mechanical</a:t>
            </a: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spcBef>
                <a:spcPts val="475"/>
              </a:spcBef>
              <a:buChar char="•"/>
              <a:tabLst>
                <a:tab pos="264160" algn="l"/>
              </a:tabLst>
            </a:pP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Electrical</a:t>
            </a: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spcBef>
                <a:spcPts val="475"/>
              </a:spcBef>
              <a:buChar char="•"/>
              <a:tabLst>
                <a:tab pos="264160" algn="l"/>
              </a:tabLst>
            </a:pP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Civil</a:t>
            </a: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spcBef>
                <a:spcPts val="475"/>
              </a:spcBef>
              <a:buChar char="•"/>
              <a:tabLst>
                <a:tab pos="264160" algn="l"/>
              </a:tabLst>
            </a:pP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Chemical</a:t>
            </a: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spcBef>
                <a:spcPts val="470"/>
              </a:spcBef>
              <a:buChar char="•"/>
              <a:tabLst>
                <a:tab pos="264160" algn="l"/>
              </a:tabLst>
            </a:pP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Architecture</a:t>
            </a: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spcBef>
                <a:spcPts val="475"/>
              </a:spcBef>
              <a:buChar char="•"/>
              <a:tabLst>
                <a:tab pos="264160" algn="l"/>
              </a:tabLst>
            </a:pP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Aerospace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5511" y="1150845"/>
            <a:ext cx="22517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Misconceptions</a:t>
            </a:r>
            <a:r>
              <a:rPr sz="1400" b="1" spc="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4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vs.</a:t>
            </a:r>
            <a:r>
              <a:rPr sz="1400" b="1" spc="13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400" b="1" spc="-1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Reality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75511" y="1553856"/>
            <a:ext cx="5746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(Discussion)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88211" y="1841112"/>
            <a:ext cx="2783840" cy="5080"/>
            <a:chOff x="1488211" y="1841112"/>
            <a:chExt cx="2783840" cy="5080"/>
          </a:xfrm>
        </p:grpSpPr>
        <p:sp>
          <p:nvSpPr>
            <p:cNvPr id="5" name="object 5"/>
            <p:cNvSpPr/>
            <p:nvPr/>
          </p:nvSpPr>
          <p:spPr>
            <a:xfrm>
              <a:off x="1488211" y="1841112"/>
              <a:ext cx="2783840" cy="5080"/>
            </a:xfrm>
            <a:custGeom>
              <a:avLst/>
              <a:gdLst/>
              <a:ahLst/>
              <a:cxnLst/>
              <a:rect l="l" t="t" r="r" b="b"/>
              <a:pathLst>
                <a:path w="2783840" h="5080">
                  <a:moveTo>
                    <a:pt x="0" y="5060"/>
                  </a:moveTo>
                  <a:lnTo>
                    <a:pt x="0" y="0"/>
                  </a:lnTo>
                  <a:lnTo>
                    <a:pt x="2783601" y="0"/>
                  </a:lnTo>
                  <a:lnTo>
                    <a:pt x="278360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8211" y="1841112"/>
              <a:ext cx="2413000" cy="5080"/>
            </a:xfrm>
            <a:custGeom>
              <a:avLst/>
              <a:gdLst/>
              <a:ahLst/>
              <a:cxnLst/>
              <a:rect l="l" t="t" r="r" b="b"/>
              <a:pathLst>
                <a:path w="2413000" h="5080">
                  <a:moveTo>
                    <a:pt x="0" y="5060"/>
                  </a:moveTo>
                  <a:lnTo>
                    <a:pt x="0" y="0"/>
                  </a:lnTo>
                  <a:lnTo>
                    <a:pt x="2412460" y="0"/>
                  </a:lnTo>
                  <a:lnTo>
                    <a:pt x="241246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FFD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010" y="64615"/>
            <a:ext cx="301688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Misconception</a:t>
            </a:r>
            <a:r>
              <a:rPr spc="70" dirty="0"/>
              <a:t> </a:t>
            </a:r>
            <a:r>
              <a:rPr dirty="0"/>
              <a:t>1:</a:t>
            </a:r>
            <a:r>
              <a:rPr spc="204" dirty="0"/>
              <a:t> </a:t>
            </a:r>
            <a:r>
              <a:rPr dirty="0"/>
              <a:t>AI</a:t>
            </a:r>
            <a:r>
              <a:rPr spc="75" dirty="0"/>
              <a:t> </a:t>
            </a:r>
            <a:r>
              <a:rPr spc="-45" dirty="0"/>
              <a:t>Understands</a:t>
            </a:r>
            <a:r>
              <a:rPr spc="70" dirty="0"/>
              <a:t> </a:t>
            </a:r>
            <a:r>
              <a:rPr spc="-10" dirty="0"/>
              <a:t>Meaning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720307"/>
            <a:ext cx="5040630" cy="567055"/>
            <a:chOff x="359994" y="720307"/>
            <a:chExt cx="5040630" cy="567055"/>
          </a:xfrm>
        </p:grpSpPr>
        <p:sp>
          <p:nvSpPr>
            <p:cNvPr id="4" name="object 4"/>
            <p:cNvSpPr/>
            <p:nvPr/>
          </p:nvSpPr>
          <p:spPr>
            <a:xfrm>
              <a:off x="359994" y="720307"/>
              <a:ext cx="5040630" cy="567055"/>
            </a:xfrm>
            <a:custGeom>
              <a:avLst/>
              <a:gdLst/>
              <a:ahLst/>
              <a:cxnLst/>
              <a:rect l="l" t="t" r="r" b="b"/>
              <a:pathLst>
                <a:path w="5040630" h="567055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512939"/>
                  </a:lnTo>
                  <a:lnTo>
                    <a:pt x="4243" y="533958"/>
                  </a:lnTo>
                  <a:lnTo>
                    <a:pt x="15816" y="551123"/>
                  </a:lnTo>
                  <a:lnTo>
                    <a:pt x="32980" y="562696"/>
                  </a:lnTo>
                  <a:lnTo>
                    <a:pt x="54000" y="566939"/>
                  </a:lnTo>
                  <a:lnTo>
                    <a:pt x="4986064" y="566939"/>
                  </a:lnTo>
                  <a:lnTo>
                    <a:pt x="5007084" y="562696"/>
                  </a:lnTo>
                  <a:lnTo>
                    <a:pt x="5024248" y="551123"/>
                  </a:lnTo>
                  <a:lnTo>
                    <a:pt x="5035821" y="533958"/>
                  </a:lnTo>
                  <a:lnTo>
                    <a:pt x="5040064" y="512939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218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7994" y="940776"/>
              <a:ext cx="5004435" cy="328930"/>
            </a:xfrm>
            <a:custGeom>
              <a:avLst/>
              <a:gdLst/>
              <a:ahLst/>
              <a:cxnLst/>
              <a:rect l="l" t="t" r="r" b="b"/>
              <a:pathLst>
                <a:path w="5004435" h="328930">
                  <a:moveTo>
                    <a:pt x="5004065" y="0"/>
                  </a:moveTo>
                  <a:lnTo>
                    <a:pt x="0" y="0"/>
                  </a:lnTo>
                  <a:lnTo>
                    <a:pt x="0" y="292470"/>
                  </a:lnTo>
                  <a:lnTo>
                    <a:pt x="2829" y="306483"/>
                  </a:lnTo>
                  <a:lnTo>
                    <a:pt x="10544" y="317926"/>
                  </a:lnTo>
                  <a:lnTo>
                    <a:pt x="21987" y="325641"/>
                  </a:lnTo>
                  <a:lnTo>
                    <a:pt x="36000" y="328470"/>
                  </a:lnTo>
                  <a:lnTo>
                    <a:pt x="4968064" y="328470"/>
                  </a:lnTo>
                  <a:lnTo>
                    <a:pt x="4982077" y="325641"/>
                  </a:lnTo>
                  <a:lnTo>
                    <a:pt x="4993521" y="317926"/>
                  </a:lnTo>
                  <a:lnTo>
                    <a:pt x="5001236" y="306483"/>
                  </a:lnTo>
                  <a:lnTo>
                    <a:pt x="5004065" y="292470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2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45299" y="722965"/>
            <a:ext cx="37598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000" b="1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Myth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000" spc="50" dirty="0">
                <a:latin typeface="Arial"/>
                <a:cs typeface="Arial"/>
              </a:rPr>
              <a:t>”AI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understands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words,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images,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and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concepts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just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like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human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does.”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9994" y="1374537"/>
            <a:ext cx="5040630" cy="992505"/>
            <a:chOff x="359994" y="1374537"/>
            <a:chExt cx="5040630" cy="992505"/>
          </a:xfrm>
        </p:grpSpPr>
        <p:sp>
          <p:nvSpPr>
            <p:cNvPr id="8" name="object 8"/>
            <p:cNvSpPr/>
            <p:nvPr/>
          </p:nvSpPr>
          <p:spPr>
            <a:xfrm>
              <a:off x="359994" y="1374537"/>
              <a:ext cx="5040630" cy="992505"/>
            </a:xfrm>
            <a:custGeom>
              <a:avLst/>
              <a:gdLst/>
              <a:ahLst/>
              <a:cxnLst/>
              <a:rect l="l" t="t" r="r" b="b"/>
              <a:pathLst>
                <a:path w="5040630" h="992505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938068"/>
                  </a:lnTo>
                  <a:lnTo>
                    <a:pt x="4243" y="959088"/>
                  </a:lnTo>
                  <a:lnTo>
                    <a:pt x="15816" y="976253"/>
                  </a:lnTo>
                  <a:lnTo>
                    <a:pt x="32980" y="987825"/>
                  </a:lnTo>
                  <a:lnTo>
                    <a:pt x="54000" y="992069"/>
                  </a:lnTo>
                  <a:lnTo>
                    <a:pt x="4986064" y="992069"/>
                  </a:lnTo>
                  <a:lnTo>
                    <a:pt x="5007084" y="987825"/>
                  </a:lnTo>
                  <a:lnTo>
                    <a:pt x="5024248" y="976253"/>
                  </a:lnTo>
                  <a:lnTo>
                    <a:pt x="5035821" y="959088"/>
                  </a:lnTo>
                  <a:lnTo>
                    <a:pt x="5040064" y="938068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7994" y="1595006"/>
              <a:ext cx="5004435" cy="753745"/>
            </a:xfrm>
            <a:custGeom>
              <a:avLst/>
              <a:gdLst/>
              <a:ahLst/>
              <a:cxnLst/>
              <a:rect l="l" t="t" r="r" b="b"/>
              <a:pathLst>
                <a:path w="5004435" h="753744">
                  <a:moveTo>
                    <a:pt x="5004065" y="0"/>
                  </a:moveTo>
                  <a:lnTo>
                    <a:pt x="0" y="0"/>
                  </a:lnTo>
                  <a:lnTo>
                    <a:pt x="0" y="717599"/>
                  </a:lnTo>
                  <a:lnTo>
                    <a:pt x="2829" y="731612"/>
                  </a:lnTo>
                  <a:lnTo>
                    <a:pt x="10544" y="743055"/>
                  </a:lnTo>
                  <a:lnTo>
                    <a:pt x="21987" y="750771"/>
                  </a:lnTo>
                  <a:lnTo>
                    <a:pt x="36000" y="753600"/>
                  </a:lnTo>
                  <a:lnTo>
                    <a:pt x="4968064" y="753600"/>
                  </a:lnTo>
                  <a:lnTo>
                    <a:pt x="4982077" y="750771"/>
                  </a:lnTo>
                  <a:lnTo>
                    <a:pt x="4993521" y="743055"/>
                  </a:lnTo>
                  <a:lnTo>
                    <a:pt x="5001236" y="731612"/>
                  </a:lnTo>
                  <a:lnTo>
                    <a:pt x="5004065" y="717599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F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7294" y="1377193"/>
            <a:ext cx="4994275" cy="1411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0185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000" b="1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Reality</a:t>
            </a:r>
            <a:endParaRPr sz="1000">
              <a:latin typeface="Arial"/>
              <a:cs typeface="Arial"/>
            </a:endParaRPr>
          </a:p>
          <a:p>
            <a:pPr marL="462280" indent="-125095">
              <a:lnSpc>
                <a:spcPct val="100000"/>
              </a:lnSpc>
              <a:spcBef>
                <a:spcPts val="960"/>
              </a:spcBef>
              <a:buChar char="•"/>
              <a:tabLst>
                <a:tab pos="462280" algn="l"/>
              </a:tabLst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45" dirty="0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sz="10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10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truly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understand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meaning.</a:t>
            </a:r>
            <a:endParaRPr sz="1000">
              <a:latin typeface="Arial"/>
              <a:cs typeface="Arial"/>
            </a:endParaRPr>
          </a:p>
          <a:p>
            <a:pPr marL="462280" indent="-125095">
              <a:lnSpc>
                <a:spcPct val="100000"/>
              </a:lnSpc>
              <a:spcBef>
                <a:spcPts val="475"/>
              </a:spcBef>
              <a:buChar char="•"/>
              <a:tabLst>
                <a:tab pos="462280" algn="l"/>
              </a:tabLst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60" dirty="0">
                <a:solidFill>
                  <a:srgbClr val="22373A"/>
                </a:solidFill>
                <a:latin typeface="Arial"/>
                <a:cs typeface="Arial"/>
              </a:rPr>
              <a:t>recognizes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22373A"/>
                </a:solidFill>
                <a:latin typeface="Arial"/>
                <a:cs typeface="Arial"/>
              </a:rPr>
              <a:t>patterns</a:t>
            </a:r>
            <a:r>
              <a:rPr sz="10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statistical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relationships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sz="1000">
              <a:latin typeface="Arial"/>
              <a:cs typeface="Arial"/>
            </a:endParaRPr>
          </a:p>
          <a:p>
            <a:pPr marL="462280" indent="-125095">
              <a:lnSpc>
                <a:spcPct val="100000"/>
              </a:lnSpc>
              <a:spcBef>
                <a:spcPts val="475"/>
              </a:spcBef>
              <a:buChar char="•"/>
              <a:tabLst>
                <a:tab pos="462280" algn="l"/>
              </a:tabLst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lacks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65" dirty="0">
                <a:solidFill>
                  <a:srgbClr val="22373A"/>
                </a:solidFill>
                <a:latin typeface="Arial"/>
                <a:cs typeface="Arial"/>
              </a:rPr>
              <a:t>consciousness,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75" dirty="0">
                <a:solidFill>
                  <a:srgbClr val="22373A"/>
                </a:solidFill>
                <a:latin typeface="Arial"/>
                <a:cs typeface="Arial"/>
              </a:rPr>
              <a:t>awareness,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comprehension.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4599"/>
              </a:lnSpc>
            </a:pPr>
            <a:r>
              <a:rPr sz="1000" b="1" spc="-25" dirty="0">
                <a:solidFill>
                  <a:srgbClr val="22373A"/>
                </a:solidFill>
                <a:latin typeface="Arial"/>
                <a:cs typeface="Arial"/>
              </a:rPr>
              <a:t>Example:</a:t>
            </a:r>
            <a:r>
              <a:rPr sz="1000" b="1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Chatbots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(like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GPT) 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generate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coherent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text </a:t>
            </a:r>
            <a:r>
              <a:rPr sz="1000" spc="-70" dirty="0">
                <a:solidFill>
                  <a:srgbClr val="22373A"/>
                </a:solidFill>
                <a:latin typeface="Arial"/>
                <a:cs typeface="Arial"/>
              </a:rPr>
              <a:t>based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probability,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not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75" dirty="0">
                <a:solidFill>
                  <a:srgbClr val="22373A"/>
                </a:solidFill>
                <a:latin typeface="Arial"/>
                <a:cs typeface="Arial"/>
              </a:rPr>
              <a:t>because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they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”know”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saying.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Misconception</a:t>
            </a:r>
            <a:r>
              <a:rPr spc="65" dirty="0"/>
              <a:t> </a:t>
            </a:r>
            <a:r>
              <a:rPr dirty="0"/>
              <a:t>2:</a:t>
            </a:r>
            <a:r>
              <a:rPr spc="200" dirty="0"/>
              <a:t> </a:t>
            </a:r>
            <a:r>
              <a:rPr dirty="0"/>
              <a:t>AI</a:t>
            </a:r>
            <a:r>
              <a:rPr spc="70" dirty="0"/>
              <a:t> </a:t>
            </a:r>
            <a:r>
              <a:rPr dirty="0"/>
              <a:t>Has</a:t>
            </a:r>
            <a:r>
              <a:rPr spc="65" dirty="0"/>
              <a:t> </a:t>
            </a:r>
            <a:r>
              <a:rPr spc="-45" dirty="0"/>
              <a:t>Emotions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838899"/>
            <a:ext cx="5040630" cy="567055"/>
            <a:chOff x="359994" y="838899"/>
            <a:chExt cx="5040630" cy="567055"/>
          </a:xfrm>
        </p:grpSpPr>
        <p:sp>
          <p:nvSpPr>
            <p:cNvPr id="4" name="object 4"/>
            <p:cNvSpPr/>
            <p:nvPr/>
          </p:nvSpPr>
          <p:spPr>
            <a:xfrm>
              <a:off x="359994" y="838899"/>
              <a:ext cx="5040630" cy="567055"/>
            </a:xfrm>
            <a:custGeom>
              <a:avLst/>
              <a:gdLst/>
              <a:ahLst/>
              <a:cxnLst/>
              <a:rect l="l" t="t" r="r" b="b"/>
              <a:pathLst>
                <a:path w="5040630" h="567055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512939"/>
                  </a:lnTo>
                  <a:lnTo>
                    <a:pt x="4243" y="533958"/>
                  </a:lnTo>
                  <a:lnTo>
                    <a:pt x="15816" y="551123"/>
                  </a:lnTo>
                  <a:lnTo>
                    <a:pt x="32980" y="562696"/>
                  </a:lnTo>
                  <a:lnTo>
                    <a:pt x="54000" y="566939"/>
                  </a:lnTo>
                  <a:lnTo>
                    <a:pt x="4986064" y="566939"/>
                  </a:lnTo>
                  <a:lnTo>
                    <a:pt x="5007084" y="562696"/>
                  </a:lnTo>
                  <a:lnTo>
                    <a:pt x="5024248" y="551123"/>
                  </a:lnTo>
                  <a:lnTo>
                    <a:pt x="5035821" y="533958"/>
                  </a:lnTo>
                  <a:lnTo>
                    <a:pt x="5040064" y="512939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218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7994" y="1059368"/>
              <a:ext cx="5004435" cy="328930"/>
            </a:xfrm>
            <a:custGeom>
              <a:avLst/>
              <a:gdLst/>
              <a:ahLst/>
              <a:cxnLst/>
              <a:rect l="l" t="t" r="r" b="b"/>
              <a:pathLst>
                <a:path w="5004435" h="328930">
                  <a:moveTo>
                    <a:pt x="5004065" y="0"/>
                  </a:moveTo>
                  <a:lnTo>
                    <a:pt x="0" y="0"/>
                  </a:lnTo>
                  <a:lnTo>
                    <a:pt x="0" y="292470"/>
                  </a:lnTo>
                  <a:lnTo>
                    <a:pt x="2829" y="306483"/>
                  </a:lnTo>
                  <a:lnTo>
                    <a:pt x="10544" y="317926"/>
                  </a:lnTo>
                  <a:lnTo>
                    <a:pt x="21987" y="325641"/>
                  </a:lnTo>
                  <a:lnTo>
                    <a:pt x="36000" y="328470"/>
                  </a:lnTo>
                  <a:lnTo>
                    <a:pt x="4968064" y="328470"/>
                  </a:lnTo>
                  <a:lnTo>
                    <a:pt x="4982077" y="325641"/>
                  </a:lnTo>
                  <a:lnTo>
                    <a:pt x="4993521" y="317926"/>
                  </a:lnTo>
                  <a:lnTo>
                    <a:pt x="5001236" y="306483"/>
                  </a:lnTo>
                  <a:lnTo>
                    <a:pt x="5004065" y="292470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2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45299" y="841545"/>
            <a:ext cx="21551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000" b="1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Myth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000" spc="50" dirty="0">
                <a:latin typeface="Arial"/>
                <a:cs typeface="Arial"/>
              </a:rPr>
              <a:t>”AI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can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feel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happy,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sad,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-10" dirty="0">
                <a:latin typeface="Arial"/>
                <a:cs typeface="Arial"/>
              </a:rPr>
              <a:t> empathetic.”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9994" y="1493130"/>
            <a:ext cx="5040630" cy="929640"/>
            <a:chOff x="359994" y="1493130"/>
            <a:chExt cx="5040630" cy="929640"/>
          </a:xfrm>
        </p:grpSpPr>
        <p:sp>
          <p:nvSpPr>
            <p:cNvPr id="8" name="object 8"/>
            <p:cNvSpPr/>
            <p:nvPr/>
          </p:nvSpPr>
          <p:spPr>
            <a:xfrm>
              <a:off x="359994" y="1493130"/>
              <a:ext cx="5040630" cy="929640"/>
            </a:xfrm>
            <a:custGeom>
              <a:avLst/>
              <a:gdLst/>
              <a:ahLst/>
              <a:cxnLst/>
              <a:rect l="l" t="t" r="r" b="b"/>
              <a:pathLst>
                <a:path w="5040630" h="929639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875508"/>
                  </a:lnTo>
                  <a:lnTo>
                    <a:pt x="4243" y="896527"/>
                  </a:lnTo>
                  <a:lnTo>
                    <a:pt x="15816" y="913692"/>
                  </a:lnTo>
                  <a:lnTo>
                    <a:pt x="32980" y="925264"/>
                  </a:lnTo>
                  <a:lnTo>
                    <a:pt x="54000" y="929508"/>
                  </a:lnTo>
                  <a:lnTo>
                    <a:pt x="4986064" y="929508"/>
                  </a:lnTo>
                  <a:lnTo>
                    <a:pt x="5007084" y="925264"/>
                  </a:lnTo>
                  <a:lnTo>
                    <a:pt x="5024248" y="913692"/>
                  </a:lnTo>
                  <a:lnTo>
                    <a:pt x="5035821" y="896527"/>
                  </a:lnTo>
                  <a:lnTo>
                    <a:pt x="5040064" y="875508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7994" y="1713600"/>
              <a:ext cx="5004435" cy="691515"/>
            </a:xfrm>
            <a:custGeom>
              <a:avLst/>
              <a:gdLst/>
              <a:ahLst/>
              <a:cxnLst/>
              <a:rect l="l" t="t" r="r" b="b"/>
              <a:pathLst>
                <a:path w="5004435" h="691514">
                  <a:moveTo>
                    <a:pt x="5004065" y="0"/>
                  </a:moveTo>
                  <a:lnTo>
                    <a:pt x="0" y="0"/>
                  </a:lnTo>
                  <a:lnTo>
                    <a:pt x="0" y="655039"/>
                  </a:lnTo>
                  <a:lnTo>
                    <a:pt x="2829" y="669052"/>
                  </a:lnTo>
                  <a:lnTo>
                    <a:pt x="10544" y="680495"/>
                  </a:lnTo>
                  <a:lnTo>
                    <a:pt x="21987" y="688210"/>
                  </a:lnTo>
                  <a:lnTo>
                    <a:pt x="36000" y="691039"/>
                  </a:lnTo>
                  <a:lnTo>
                    <a:pt x="4968064" y="691039"/>
                  </a:lnTo>
                  <a:lnTo>
                    <a:pt x="4982077" y="688210"/>
                  </a:lnTo>
                  <a:lnTo>
                    <a:pt x="4993521" y="680495"/>
                  </a:lnTo>
                  <a:lnTo>
                    <a:pt x="5001236" y="669052"/>
                  </a:lnTo>
                  <a:lnTo>
                    <a:pt x="5004065" y="655039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F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45299" y="1495772"/>
            <a:ext cx="4088765" cy="8394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000" b="1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Reality</a:t>
            </a: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spcBef>
                <a:spcPts val="960"/>
              </a:spcBef>
              <a:buChar char="•"/>
              <a:tabLst>
                <a:tab pos="264160" algn="l"/>
              </a:tabLst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45" dirty="0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sz="10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not </a:t>
            </a:r>
            <a:r>
              <a:rPr sz="1000" spc="-5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feelings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consciousness.</a:t>
            </a:r>
            <a:endParaRPr sz="1000">
              <a:latin typeface="Arial"/>
              <a:cs typeface="Arial"/>
            </a:endParaRPr>
          </a:p>
          <a:p>
            <a:pPr marL="263525" marR="5080" indent="-125095">
              <a:lnSpc>
                <a:spcPct val="114599"/>
              </a:lnSpc>
              <a:spcBef>
                <a:spcPts val="300"/>
              </a:spcBef>
              <a:buChar char="•"/>
              <a:tabLst>
                <a:tab pos="265430" algn="l"/>
              </a:tabLst>
            </a:pP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Emotional</a:t>
            </a:r>
            <a:r>
              <a:rPr sz="10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80" dirty="0">
                <a:solidFill>
                  <a:srgbClr val="22373A"/>
                </a:solidFill>
                <a:latin typeface="Arial"/>
                <a:cs typeface="Arial"/>
              </a:rPr>
              <a:t>responses</a:t>
            </a:r>
            <a:r>
              <a:rPr sz="10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(”I’m</a:t>
            </a:r>
            <a:r>
              <a:rPr sz="10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sorry</a:t>
            </a:r>
            <a:r>
              <a:rPr sz="10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0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5" dirty="0">
                <a:solidFill>
                  <a:srgbClr val="22373A"/>
                </a:solidFill>
                <a:latin typeface="Arial"/>
                <a:cs typeface="Arial"/>
              </a:rPr>
              <a:t>hear</a:t>
            </a:r>
            <a:r>
              <a:rPr sz="10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that”)</a:t>
            </a:r>
            <a:r>
              <a:rPr sz="10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10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purely</a:t>
            </a:r>
            <a:r>
              <a:rPr sz="10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22373A"/>
                </a:solidFill>
                <a:latin typeface="Arial"/>
                <a:cs typeface="Arial"/>
              </a:rPr>
              <a:t>programmed 	</a:t>
            </a: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simulations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47294" y="2520774"/>
            <a:ext cx="4743450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75"/>
              </a:lnSpc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sz="10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Point:</a:t>
            </a:r>
            <a:r>
              <a:rPr sz="1000" b="1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robot 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programmed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smile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executing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code,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not 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experiencing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happiness.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3857" y="3096300"/>
            <a:ext cx="1796414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13792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98303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80"/>
              </a:lnSpc>
            </a:pPr>
            <a:r>
              <a:rPr dirty="0"/>
              <a:t>41</a:t>
            </a:r>
            <a:r>
              <a:rPr spc="65" dirty="0"/>
              <a:t> </a:t>
            </a:r>
            <a:r>
              <a:rPr spc="240" dirty="0"/>
              <a:t>/</a:t>
            </a:r>
            <a:r>
              <a:rPr spc="65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Misconception</a:t>
            </a:r>
            <a:r>
              <a:rPr spc="65" dirty="0"/>
              <a:t> </a:t>
            </a:r>
            <a:r>
              <a:rPr dirty="0"/>
              <a:t>3:</a:t>
            </a:r>
            <a:r>
              <a:rPr spc="204" dirty="0"/>
              <a:t> </a:t>
            </a:r>
            <a:r>
              <a:rPr dirty="0"/>
              <a:t>AI</a:t>
            </a:r>
            <a:r>
              <a:rPr spc="70" dirty="0"/>
              <a:t> </a:t>
            </a:r>
            <a:r>
              <a:rPr dirty="0"/>
              <a:t>Can</a:t>
            </a:r>
            <a:r>
              <a:rPr spc="70" dirty="0"/>
              <a:t> </a:t>
            </a:r>
            <a:r>
              <a:rPr dirty="0"/>
              <a:t>Do</a:t>
            </a:r>
            <a:r>
              <a:rPr spc="65" dirty="0"/>
              <a:t> </a:t>
            </a:r>
            <a:r>
              <a:rPr spc="-35" dirty="0"/>
              <a:t>Everything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826593"/>
            <a:ext cx="5040630" cy="567055"/>
            <a:chOff x="359994" y="826593"/>
            <a:chExt cx="5040630" cy="567055"/>
          </a:xfrm>
        </p:grpSpPr>
        <p:sp>
          <p:nvSpPr>
            <p:cNvPr id="4" name="object 4"/>
            <p:cNvSpPr/>
            <p:nvPr/>
          </p:nvSpPr>
          <p:spPr>
            <a:xfrm>
              <a:off x="359994" y="826593"/>
              <a:ext cx="5040630" cy="567055"/>
            </a:xfrm>
            <a:custGeom>
              <a:avLst/>
              <a:gdLst/>
              <a:ahLst/>
              <a:cxnLst/>
              <a:rect l="l" t="t" r="r" b="b"/>
              <a:pathLst>
                <a:path w="5040630" h="567055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512939"/>
                  </a:lnTo>
                  <a:lnTo>
                    <a:pt x="4243" y="533958"/>
                  </a:lnTo>
                  <a:lnTo>
                    <a:pt x="15816" y="551123"/>
                  </a:lnTo>
                  <a:lnTo>
                    <a:pt x="32980" y="562696"/>
                  </a:lnTo>
                  <a:lnTo>
                    <a:pt x="54000" y="566939"/>
                  </a:lnTo>
                  <a:lnTo>
                    <a:pt x="4986064" y="566939"/>
                  </a:lnTo>
                  <a:lnTo>
                    <a:pt x="5007084" y="562696"/>
                  </a:lnTo>
                  <a:lnTo>
                    <a:pt x="5024248" y="551123"/>
                  </a:lnTo>
                  <a:lnTo>
                    <a:pt x="5035821" y="533958"/>
                  </a:lnTo>
                  <a:lnTo>
                    <a:pt x="5040064" y="512939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218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7994" y="1047062"/>
              <a:ext cx="5004435" cy="328930"/>
            </a:xfrm>
            <a:custGeom>
              <a:avLst/>
              <a:gdLst/>
              <a:ahLst/>
              <a:cxnLst/>
              <a:rect l="l" t="t" r="r" b="b"/>
              <a:pathLst>
                <a:path w="5004435" h="328930">
                  <a:moveTo>
                    <a:pt x="5004065" y="0"/>
                  </a:moveTo>
                  <a:lnTo>
                    <a:pt x="0" y="0"/>
                  </a:lnTo>
                  <a:lnTo>
                    <a:pt x="0" y="292470"/>
                  </a:lnTo>
                  <a:lnTo>
                    <a:pt x="2829" y="306483"/>
                  </a:lnTo>
                  <a:lnTo>
                    <a:pt x="10544" y="317926"/>
                  </a:lnTo>
                  <a:lnTo>
                    <a:pt x="21987" y="325641"/>
                  </a:lnTo>
                  <a:lnTo>
                    <a:pt x="36000" y="328470"/>
                  </a:lnTo>
                  <a:lnTo>
                    <a:pt x="4968064" y="328470"/>
                  </a:lnTo>
                  <a:lnTo>
                    <a:pt x="4982077" y="325641"/>
                  </a:lnTo>
                  <a:lnTo>
                    <a:pt x="4993521" y="317926"/>
                  </a:lnTo>
                  <a:lnTo>
                    <a:pt x="5001236" y="306483"/>
                  </a:lnTo>
                  <a:lnTo>
                    <a:pt x="5004065" y="292470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2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45299" y="829238"/>
            <a:ext cx="2665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000" b="1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Myth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000" spc="60" dirty="0">
                <a:latin typeface="Arial"/>
                <a:cs typeface="Arial"/>
              </a:rPr>
              <a:t>”If</a:t>
            </a:r>
            <a:r>
              <a:rPr sz="1000" dirty="0">
                <a:latin typeface="Arial"/>
                <a:cs typeface="Arial"/>
              </a:rPr>
              <a:t> a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machine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smart,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 </a:t>
            </a:r>
            <a:r>
              <a:rPr sz="1000" spc="-30" dirty="0">
                <a:latin typeface="Arial"/>
                <a:cs typeface="Arial"/>
              </a:rPr>
              <a:t>can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60" dirty="0">
                <a:latin typeface="Arial"/>
                <a:cs typeface="Arial"/>
              </a:rPr>
              <a:t>solve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any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problem.”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9994" y="1480828"/>
            <a:ext cx="5040630" cy="779780"/>
            <a:chOff x="359994" y="1480828"/>
            <a:chExt cx="5040630" cy="779780"/>
          </a:xfrm>
        </p:grpSpPr>
        <p:sp>
          <p:nvSpPr>
            <p:cNvPr id="8" name="object 8"/>
            <p:cNvSpPr/>
            <p:nvPr/>
          </p:nvSpPr>
          <p:spPr>
            <a:xfrm>
              <a:off x="359994" y="1480828"/>
              <a:ext cx="5040630" cy="779780"/>
            </a:xfrm>
            <a:custGeom>
              <a:avLst/>
              <a:gdLst/>
              <a:ahLst/>
              <a:cxnLst/>
              <a:rect l="l" t="t" r="r" b="b"/>
              <a:pathLst>
                <a:path w="5040630" h="779780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725504"/>
                  </a:lnTo>
                  <a:lnTo>
                    <a:pt x="4243" y="746523"/>
                  </a:lnTo>
                  <a:lnTo>
                    <a:pt x="15816" y="763688"/>
                  </a:lnTo>
                  <a:lnTo>
                    <a:pt x="32980" y="775260"/>
                  </a:lnTo>
                  <a:lnTo>
                    <a:pt x="54000" y="779504"/>
                  </a:lnTo>
                  <a:lnTo>
                    <a:pt x="4986064" y="779504"/>
                  </a:lnTo>
                  <a:lnTo>
                    <a:pt x="5007084" y="775260"/>
                  </a:lnTo>
                  <a:lnTo>
                    <a:pt x="5024248" y="763688"/>
                  </a:lnTo>
                  <a:lnTo>
                    <a:pt x="5035821" y="746523"/>
                  </a:lnTo>
                  <a:lnTo>
                    <a:pt x="5040064" y="725504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7994" y="1701297"/>
              <a:ext cx="5004435" cy="541655"/>
            </a:xfrm>
            <a:custGeom>
              <a:avLst/>
              <a:gdLst/>
              <a:ahLst/>
              <a:cxnLst/>
              <a:rect l="l" t="t" r="r" b="b"/>
              <a:pathLst>
                <a:path w="5004435" h="541655">
                  <a:moveTo>
                    <a:pt x="5004065" y="0"/>
                  </a:moveTo>
                  <a:lnTo>
                    <a:pt x="0" y="0"/>
                  </a:lnTo>
                  <a:lnTo>
                    <a:pt x="0" y="505035"/>
                  </a:lnTo>
                  <a:lnTo>
                    <a:pt x="2829" y="519048"/>
                  </a:lnTo>
                  <a:lnTo>
                    <a:pt x="10544" y="530491"/>
                  </a:lnTo>
                  <a:lnTo>
                    <a:pt x="21987" y="538206"/>
                  </a:lnTo>
                  <a:lnTo>
                    <a:pt x="36000" y="541035"/>
                  </a:lnTo>
                  <a:lnTo>
                    <a:pt x="4968064" y="541035"/>
                  </a:lnTo>
                  <a:lnTo>
                    <a:pt x="4982077" y="538206"/>
                  </a:lnTo>
                  <a:lnTo>
                    <a:pt x="4993521" y="530491"/>
                  </a:lnTo>
                  <a:lnTo>
                    <a:pt x="5001236" y="519048"/>
                  </a:lnTo>
                  <a:lnTo>
                    <a:pt x="5004065" y="505035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FF8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7294" y="1483479"/>
            <a:ext cx="4664710" cy="1199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0185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0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Reality:</a:t>
            </a:r>
            <a:r>
              <a:rPr sz="1000" b="1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Narrow</a:t>
            </a:r>
            <a:r>
              <a:rPr sz="10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Arial"/>
                <a:cs typeface="Arial"/>
              </a:rPr>
              <a:t>AI</a:t>
            </a:r>
            <a:endParaRPr sz="1000">
              <a:latin typeface="Arial"/>
              <a:cs typeface="Arial"/>
            </a:endParaRPr>
          </a:p>
          <a:p>
            <a:pPr marL="462280" indent="-125095">
              <a:lnSpc>
                <a:spcPct val="100000"/>
              </a:lnSpc>
              <a:spcBef>
                <a:spcPts val="960"/>
              </a:spcBef>
              <a:buChar char="•"/>
              <a:tabLst>
                <a:tab pos="462280" algn="l"/>
              </a:tabLst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Most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today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Narrow</a:t>
            </a:r>
            <a:r>
              <a:rPr sz="10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—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designed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sz="10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22373A"/>
                </a:solidFill>
                <a:latin typeface="Arial"/>
                <a:cs typeface="Arial"/>
              </a:rPr>
              <a:t>specific</a:t>
            </a:r>
            <a:r>
              <a:rPr sz="10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task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462280" indent="-125095">
              <a:lnSpc>
                <a:spcPct val="100000"/>
              </a:lnSpc>
              <a:spcBef>
                <a:spcPts val="475"/>
              </a:spcBef>
              <a:buChar char="•"/>
              <a:tabLst>
                <a:tab pos="462280" algn="l"/>
              </a:tabLst>
            </a:pP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Knowledge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generally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65" dirty="0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transfer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without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retraining.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4599"/>
              </a:lnSpc>
            </a:pPr>
            <a:r>
              <a:rPr sz="1000" b="1" spc="-25" dirty="0">
                <a:solidFill>
                  <a:srgbClr val="22373A"/>
                </a:solidFill>
                <a:latin typeface="Arial"/>
                <a:cs typeface="Arial"/>
              </a:rPr>
              <a:t>Example:</a:t>
            </a:r>
            <a:r>
              <a:rPr sz="1000" b="1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95" dirty="0">
                <a:solidFill>
                  <a:srgbClr val="22373A"/>
                </a:solidFill>
                <a:latin typeface="Arial"/>
                <a:cs typeface="Arial"/>
              </a:rPr>
              <a:t>Chess</a:t>
            </a:r>
            <a:r>
              <a:rPr sz="10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champion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cannot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drive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car.</a:t>
            </a:r>
            <a:r>
              <a:rPr sz="10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70" dirty="0">
                <a:solidFill>
                  <a:srgbClr val="22373A"/>
                </a:solidFill>
                <a:latin typeface="Arial"/>
                <a:cs typeface="Arial"/>
              </a:rPr>
              <a:t>Face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Recognition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5" dirty="0">
                <a:solidFill>
                  <a:srgbClr val="22373A"/>
                </a:solidFill>
                <a:latin typeface="Arial"/>
                <a:cs typeface="Arial"/>
              </a:rPr>
              <a:t>system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cannot </a:t>
            </a:r>
            <a:r>
              <a:rPr sz="1000" spc="-65" dirty="0">
                <a:solidFill>
                  <a:srgbClr val="22373A"/>
                </a:solidFill>
                <a:latin typeface="Arial"/>
                <a:cs typeface="Arial"/>
              </a:rPr>
              <a:t>compose</a:t>
            </a:r>
            <a:r>
              <a:rPr sz="10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music.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83857" y="3096300"/>
            <a:ext cx="1796414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13792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98303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54056" y="3096300"/>
            <a:ext cx="422275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42</a:t>
            </a:r>
            <a:r>
              <a:rPr sz="9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24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9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Arial"/>
                <a:cs typeface="Arial"/>
              </a:rPr>
              <a:t>45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5" dirty="0"/>
              <a:t>Assumptions</a:t>
            </a:r>
            <a:r>
              <a:rPr spc="70" dirty="0"/>
              <a:t> </a:t>
            </a:r>
            <a:r>
              <a:rPr spc="-30" dirty="0"/>
              <a:t>Behind</a:t>
            </a:r>
            <a:r>
              <a:rPr spc="70" dirty="0"/>
              <a:t> </a:t>
            </a:r>
            <a:r>
              <a:rPr dirty="0"/>
              <a:t>AI</a:t>
            </a:r>
            <a:r>
              <a:rPr spc="75" dirty="0"/>
              <a:t> </a:t>
            </a:r>
            <a:r>
              <a:rPr spc="-60" dirty="0"/>
              <a:t>Research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977837"/>
            <a:ext cx="5040630" cy="567055"/>
            <a:chOff x="359994" y="977837"/>
            <a:chExt cx="5040630" cy="567055"/>
          </a:xfrm>
        </p:grpSpPr>
        <p:sp>
          <p:nvSpPr>
            <p:cNvPr id="4" name="object 4"/>
            <p:cNvSpPr/>
            <p:nvPr/>
          </p:nvSpPr>
          <p:spPr>
            <a:xfrm>
              <a:off x="359994" y="977837"/>
              <a:ext cx="5040630" cy="567055"/>
            </a:xfrm>
            <a:custGeom>
              <a:avLst/>
              <a:gdLst/>
              <a:ahLst/>
              <a:cxnLst/>
              <a:rect l="l" t="t" r="r" b="b"/>
              <a:pathLst>
                <a:path w="5040630" h="567055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512939"/>
                  </a:lnTo>
                  <a:lnTo>
                    <a:pt x="4243" y="533958"/>
                  </a:lnTo>
                  <a:lnTo>
                    <a:pt x="15816" y="551123"/>
                  </a:lnTo>
                  <a:lnTo>
                    <a:pt x="32980" y="562696"/>
                  </a:lnTo>
                  <a:lnTo>
                    <a:pt x="54000" y="566939"/>
                  </a:lnTo>
                  <a:lnTo>
                    <a:pt x="4986064" y="566939"/>
                  </a:lnTo>
                  <a:lnTo>
                    <a:pt x="5007084" y="562696"/>
                  </a:lnTo>
                  <a:lnTo>
                    <a:pt x="5024248" y="551123"/>
                  </a:lnTo>
                  <a:lnTo>
                    <a:pt x="5035821" y="533958"/>
                  </a:lnTo>
                  <a:lnTo>
                    <a:pt x="5040064" y="512939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218B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7994" y="1198306"/>
              <a:ext cx="5004435" cy="328930"/>
            </a:xfrm>
            <a:custGeom>
              <a:avLst/>
              <a:gdLst/>
              <a:ahLst/>
              <a:cxnLst/>
              <a:rect l="l" t="t" r="r" b="b"/>
              <a:pathLst>
                <a:path w="5004435" h="328930">
                  <a:moveTo>
                    <a:pt x="5004065" y="0"/>
                  </a:moveTo>
                  <a:lnTo>
                    <a:pt x="0" y="0"/>
                  </a:lnTo>
                  <a:lnTo>
                    <a:pt x="0" y="292470"/>
                  </a:lnTo>
                  <a:lnTo>
                    <a:pt x="2829" y="306483"/>
                  </a:lnTo>
                  <a:lnTo>
                    <a:pt x="10544" y="317926"/>
                  </a:lnTo>
                  <a:lnTo>
                    <a:pt x="21987" y="325641"/>
                  </a:lnTo>
                  <a:lnTo>
                    <a:pt x="36000" y="328470"/>
                  </a:lnTo>
                  <a:lnTo>
                    <a:pt x="4968064" y="328470"/>
                  </a:lnTo>
                  <a:lnTo>
                    <a:pt x="4982077" y="325641"/>
                  </a:lnTo>
                  <a:lnTo>
                    <a:pt x="4993521" y="317926"/>
                  </a:lnTo>
                  <a:lnTo>
                    <a:pt x="5001236" y="306483"/>
                  </a:lnTo>
                  <a:lnTo>
                    <a:pt x="5004065" y="292470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2FF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698936"/>
            <a:ext cx="4947285" cy="2032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sz="10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isn’t</a:t>
            </a:r>
            <a:r>
              <a:rPr sz="10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magic;</a:t>
            </a:r>
            <a:r>
              <a:rPr sz="10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it’s</a:t>
            </a:r>
            <a:r>
              <a:rPr sz="10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math.</a:t>
            </a:r>
            <a:endParaRPr sz="1000">
              <a:latin typeface="Arial"/>
              <a:cs typeface="Arial"/>
            </a:endParaRPr>
          </a:p>
          <a:p>
            <a:pPr marL="210185">
              <a:lnSpc>
                <a:spcPct val="100000"/>
              </a:lnSpc>
              <a:spcBef>
                <a:spcPts val="1015"/>
              </a:spcBef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0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Arial"/>
                <a:cs typeface="Arial"/>
              </a:rPr>
              <a:t>Core</a:t>
            </a:r>
            <a:r>
              <a:rPr sz="10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Assumption</a:t>
            </a:r>
            <a:endParaRPr sz="1000">
              <a:latin typeface="Arial"/>
              <a:cs typeface="Arial"/>
            </a:endParaRPr>
          </a:p>
          <a:p>
            <a:pPr marL="210185">
              <a:lnSpc>
                <a:spcPct val="100000"/>
              </a:lnSpc>
              <a:spcBef>
                <a:spcPts val="965"/>
              </a:spcBef>
            </a:pPr>
            <a:r>
              <a:rPr sz="1000" b="1" spc="-20" dirty="0">
                <a:latin typeface="Arial"/>
                <a:cs typeface="Arial"/>
              </a:rPr>
              <a:t>”Intelligence</a:t>
            </a:r>
            <a:r>
              <a:rPr sz="1000" b="1" spc="1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can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be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-40" dirty="0">
                <a:latin typeface="Arial"/>
                <a:cs typeface="Arial"/>
              </a:rPr>
              <a:t>represented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mathematically.”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000">
              <a:latin typeface="Arial"/>
              <a:cs typeface="Arial"/>
            </a:endParaRPr>
          </a:p>
          <a:p>
            <a:pPr marL="263525" marR="5080" indent="-125095">
              <a:lnSpc>
                <a:spcPct val="114599"/>
              </a:lnSpc>
              <a:buFont typeface="Arial"/>
              <a:buChar char="•"/>
              <a:tabLst>
                <a:tab pos="265430" algn="l"/>
              </a:tabLst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Meaning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Reasoning,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learning,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5" dirty="0">
                <a:solidFill>
                  <a:srgbClr val="22373A"/>
                </a:solidFill>
                <a:latin typeface="Arial"/>
                <a:cs typeface="Arial"/>
              </a:rPr>
              <a:t>decision-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making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10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be </a:t>
            </a:r>
            <a:r>
              <a:rPr sz="1000" spc="-85" dirty="0">
                <a:solidFill>
                  <a:srgbClr val="22373A"/>
                </a:solidFill>
                <a:latin typeface="Arial"/>
                <a:cs typeface="Arial"/>
              </a:rPr>
              <a:t>expressed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9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algorithms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and 	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models.</a:t>
            </a:r>
            <a:endParaRPr sz="1000">
              <a:latin typeface="Arial"/>
              <a:cs typeface="Arial"/>
            </a:endParaRPr>
          </a:p>
          <a:p>
            <a:pPr marL="263525" marR="177165" indent="-125095">
              <a:lnSpc>
                <a:spcPct val="114599"/>
              </a:lnSpc>
              <a:spcBef>
                <a:spcPts val="295"/>
              </a:spcBef>
              <a:buFont typeface="Arial"/>
              <a:buChar char="•"/>
              <a:tabLst>
                <a:tab pos="265430" algn="l"/>
              </a:tabLst>
            </a:pP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Why</a:t>
            </a:r>
            <a:r>
              <a:rPr sz="10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1000" b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matters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65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translate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”intelligence”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can 	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execute.</a:t>
            </a:r>
            <a:endParaRPr sz="1000">
              <a:latin typeface="Arial"/>
              <a:cs typeface="Arial"/>
            </a:endParaRPr>
          </a:p>
          <a:p>
            <a:pPr marL="264160" indent="-125095">
              <a:lnSpc>
                <a:spcPct val="100000"/>
              </a:lnSpc>
              <a:spcBef>
                <a:spcPts val="475"/>
              </a:spcBef>
              <a:buChar char="•"/>
              <a:tabLst>
                <a:tab pos="264160" algn="l"/>
              </a:tabLst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8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couldn’t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mathematically,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8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couldn’t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build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AI.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3857" y="3096300"/>
            <a:ext cx="1796414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13792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98303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80"/>
              </a:lnSpc>
            </a:pPr>
            <a:r>
              <a:rPr dirty="0"/>
              <a:t>43</a:t>
            </a:r>
            <a:r>
              <a:rPr spc="65" dirty="0"/>
              <a:t> </a:t>
            </a:r>
            <a:r>
              <a:rPr spc="240" dirty="0"/>
              <a:t>/</a:t>
            </a:r>
            <a:r>
              <a:rPr spc="65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40" dirty="0"/>
              <a:t> </a:t>
            </a:r>
            <a:r>
              <a:rPr spc="-20" dirty="0"/>
              <a:t>These</a:t>
            </a:r>
            <a:r>
              <a:rPr spc="40" dirty="0"/>
              <a:t> </a:t>
            </a:r>
            <a:r>
              <a:rPr spc="-50" dirty="0"/>
              <a:t>Misconceptions</a:t>
            </a:r>
            <a:r>
              <a:rPr spc="45" dirty="0"/>
              <a:t> </a:t>
            </a:r>
            <a:r>
              <a:rPr spc="-10" dirty="0"/>
              <a:t>Matter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8683" y="744175"/>
            <a:ext cx="4762500" cy="974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marR="30480" indent="-160020">
              <a:lnSpc>
                <a:spcPct val="114599"/>
              </a:lnSpc>
              <a:spcBef>
                <a:spcPts val="100"/>
              </a:spcBef>
              <a:buFont typeface="Arial"/>
              <a:buAutoNum type="arabicPeriod"/>
              <a:tabLst>
                <a:tab pos="173990" algn="l"/>
              </a:tabLst>
            </a:pPr>
            <a:r>
              <a:rPr sz="1000" b="1" spc="-30" dirty="0">
                <a:solidFill>
                  <a:srgbClr val="22373A"/>
                </a:solidFill>
                <a:latin typeface="Arial"/>
                <a:cs typeface="Arial"/>
              </a:rPr>
              <a:t>Expectations</a:t>
            </a:r>
            <a:r>
              <a:rPr sz="10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vs.</a:t>
            </a:r>
            <a:r>
              <a:rPr sz="1000" b="1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Reality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Students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shouldn’t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overestimate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10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sz="10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(leads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to 	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disappointment).</a:t>
            </a:r>
            <a:endParaRPr sz="1000">
              <a:latin typeface="Arial"/>
              <a:cs typeface="Arial"/>
            </a:endParaRPr>
          </a:p>
          <a:p>
            <a:pPr marL="172085" marR="5080" indent="-160020">
              <a:lnSpc>
                <a:spcPct val="114599"/>
              </a:lnSpc>
              <a:spcBef>
                <a:spcPts val="295"/>
              </a:spcBef>
              <a:buFont typeface="Arial"/>
              <a:buAutoNum type="arabicPeriod"/>
              <a:tabLst>
                <a:tab pos="173990" algn="l"/>
              </a:tabLst>
            </a:pP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Ethical</a:t>
            </a:r>
            <a:r>
              <a:rPr sz="10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22373A"/>
                </a:solidFill>
                <a:latin typeface="Arial"/>
                <a:cs typeface="Arial"/>
              </a:rPr>
              <a:t>Decisions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Arial"/>
                <a:cs typeface="Arial"/>
              </a:rPr>
              <a:t>Misunderstanding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60" dirty="0">
                <a:solidFill>
                  <a:srgbClr val="22373A"/>
                </a:solidFill>
                <a:latin typeface="Arial"/>
                <a:cs typeface="Arial"/>
              </a:rPr>
              <a:t>leads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Arial"/>
                <a:cs typeface="Arial"/>
              </a:rPr>
              <a:t>misplaced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trust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trusting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sz="10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for 	moral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judgment).</a:t>
            </a:r>
            <a:endParaRPr sz="1000">
              <a:latin typeface="Arial"/>
              <a:cs typeface="Arial"/>
            </a:endParaRPr>
          </a:p>
          <a:p>
            <a:pPr marL="172720" indent="-160020">
              <a:lnSpc>
                <a:spcPct val="100000"/>
              </a:lnSpc>
              <a:spcBef>
                <a:spcPts val="475"/>
              </a:spcBef>
              <a:buFont typeface="Arial"/>
              <a:buAutoNum type="arabicPeriod"/>
              <a:tabLst>
                <a:tab pos="172720" algn="l"/>
              </a:tabLst>
            </a:pPr>
            <a:r>
              <a:rPr sz="1000" b="1" spc="-30" dirty="0">
                <a:solidFill>
                  <a:srgbClr val="22373A"/>
                </a:solidFill>
                <a:latin typeface="Arial"/>
                <a:cs typeface="Arial"/>
              </a:rPr>
              <a:t>Design</a:t>
            </a:r>
            <a:r>
              <a:rPr sz="10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22373A"/>
                </a:solidFill>
                <a:latin typeface="Arial"/>
                <a:cs typeface="Arial"/>
              </a:rPr>
              <a:t>Perspective</a:t>
            </a:r>
            <a:r>
              <a:rPr sz="1000" spc="-3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10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Understanding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limitations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5" dirty="0">
                <a:solidFill>
                  <a:srgbClr val="22373A"/>
                </a:solidFill>
                <a:latin typeface="Arial"/>
                <a:cs typeface="Arial"/>
              </a:rPr>
              <a:t>helps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Arial"/>
                <a:cs typeface="Arial"/>
              </a:rPr>
              <a:t>us</a:t>
            </a:r>
            <a:r>
              <a:rPr sz="10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55" dirty="0">
                <a:solidFill>
                  <a:srgbClr val="22373A"/>
                </a:solidFill>
                <a:latin typeface="Arial"/>
                <a:cs typeface="Arial"/>
              </a:rPr>
              <a:t>design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better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Arial"/>
                <a:cs typeface="Arial"/>
              </a:rPr>
              <a:t>systems.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9994" y="1984650"/>
            <a:ext cx="5040630" cy="717550"/>
            <a:chOff x="359994" y="1984650"/>
            <a:chExt cx="5040630" cy="717550"/>
          </a:xfrm>
        </p:grpSpPr>
        <p:sp>
          <p:nvSpPr>
            <p:cNvPr id="5" name="object 5"/>
            <p:cNvSpPr/>
            <p:nvPr/>
          </p:nvSpPr>
          <p:spPr>
            <a:xfrm>
              <a:off x="359994" y="1984650"/>
              <a:ext cx="5040630" cy="717550"/>
            </a:xfrm>
            <a:custGeom>
              <a:avLst/>
              <a:gdLst/>
              <a:ahLst/>
              <a:cxnLst/>
              <a:rect l="l" t="t" r="r" b="b"/>
              <a:pathLst>
                <a:path w="5040630" h="717550">
                  <a:moveTo>
                    <a:pt x="4986064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662943"/>
                  </a:lnTo>
                  <a:lnTo>
                    <a:pt x="4243" y="683963"/>
                  </a:lnTo>
                  <a:lnTo>
                    <a:pt x="15816" y="701127"/>
                  </a:lnTo>
                  <a:lnTo>
                    <a:pt x="32980" y="712700"/>
                  </a:lnTo>
                  <a:lnTo>
                    <a:pt x="54000" y="716943"/>
                  </a:lnTo>
                  <a:lnTo>
                    <a:pt x="4986064" y="716943"/>
                  </a:lnTo>
                  <a:lnTo>
                    <a:pt x="5007084" y="712700"/>
                  </a:lnTo>
                  <a:lnTo>
                    <a:pt x="5024248" y="701127"/>
                  </a:lnTo>
                  <a:lnTo>
                    <a:pt x="5035821" y="683963"/>
                  </a:lnTo>
                  <a:lnTo>
                    <a:pt x="5040064" y="662943"/>
                  </a:lnTo>
                  <a:lnTo>
                    <a:pt x="5040064" y="54000"/>
                  </a:lnTo>
                  <a:lnTo>
                    <a:pt x="5035821" y="32980"/>
                  </a:lnTo>
                  <a:lnTo>
                    <a:pt x="5024248" y="15816"/>
                  </a:lnTo>
                  <a:lnTo>
                    <a:pt x="5007084" y="4243"/>
                  </a:lnTo>
                  <a:lnTo>
                    <a:pt x="4986064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7994" y="2180517"/>
              <a:ext cx="5004435" cy="503555"/>
            </a:xfrm>
            <a:custGeom>
              <a:avLst/>
              <a:gdLst/>
              <a:ahLst/>
              <a:cxnLst/>
              <a:rect l="l" t="t" r="r" b="b"/>
              <a:pathLst>
                <a:path w="5004435" h="503555">
                  <a:moveTo>
                    <a:pt x="5004065" y="0"/>
                  </a:moveTo>
                  <a:lnTo>
                    <a:pt x="0" y="0"/>
                  </a:lnTo>
                  <a:lnTo>
                    <a:pt x="0" y="467077"/>
                  </a:lnTo>
                  <a:lnTo>
                    <a:pt x="2829" y="481090"/>
                  </a:lnTo>
                  <a:lnTo>
                    <a:pt x="10544" y="492533"/>
                  </a:lnTo>
                  <a:lnTo>
                    <a:pt x="21987" y="500248"/>
                  </a:lnTo>
                  <a:lnTo>
                    <a:pt x="36000" y="503077"/>
                  </a:lnTo>
                  <a:lnTo>
                    <a:pt x="4968064" y="503077"/>
                  </a:lnTo>
                  <a:lnTo>
                    <a:pt x="4982077" y="500248"/>
                  </a:lnTo>
                  <a:lnTo>
                    <a:pt x="4993521" y="492533"/>
                  </a:lnTo>
                  <a:lnTo>
                    <a:pt x="5001236" y="481090"/>
                  </a:lnTo>
                  <a:lnTo>
                    <a:pt x="5004065" y="467077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45299" y="1987300"/>
            <a:ext cx="4669155" cy="601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Reflection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4599"/>
              </a:lnSpc>
              <a:spcBef>
                <a:spcPts val="590"/>
              </a:spcBef>
            </a:pPr>
            <a:r>
              <a:rPr sz="1000" b="1" spc="-25" dirty="0">
                <a:latin typeface="Arial"/>
                <a:cs typeface="Arial"/>
              </a:rPr>
              <a:t>Analogy</a:t>
            </a:r>
            <a:r>
              <a:rPr sz="1000" spc="-25" dirty="0">
                <a:latin typeface="Arial"/>
                <a:cs typeface="Arial"/>
              </a:rPr>
              <a:t>:</a:t>
            </a:r>
            <a:r>
              <a:rPr sz="1000" spc="10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Think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AI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like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car</a:t>
            </a:r>
            <a:r>
              <a:rPr sz="1000" dirty="0">
                <a:latin typeface="Arial"/>
                <a:cs typeface="Arial"/>
              </a:rPr>
              <a:t>.</a:t>
            </a:r>
            <a:r>
              <a:rPr sz="1000" spc="10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It’s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great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at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transport,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but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can’t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cook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dinner.</a:t>
            </a:r>
            <a:r>
              <a:rPr sz="1000" spc="10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It’s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a </a:t>
            </a:r>
            <a:r>
              <a:rPr sz="1000" dirty="0">
                <a:latin typeface="Arial"/>
                <a:cs typeface="Arial"/>
              </a:rPr>
              <a:t>tool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specific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purpose.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83857" y="3096300"/>
            <a:ext cx="1796414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13792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98303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80"/>
              </a:lnSpc>
            </a:pPr>
            <a:r>
              <a:rPr dirty="0"/>
              <a:t>44</a:t>
            </a:r>
            <a:r>
              <a:rPr spc="65" dirty="0"/>
              <a:t> </a:t>
            </a:r>
            <a:r>
              <a:rPr spc="240" dirty="0"/>
              <a:t>/</a:t>
            </a:r>
            <a:r>
              <a:rPr spc="65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7788" y="1114506"/>
            <a:ext cx="1725930" cy="898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930" marR="5080" indent="-62865">
              <a:lnSpc>
                <a:spcPct val="116900"/>
              </a:lnSpc>
              <a:spcBef>
                <a:spcPts val="95"/>
              </a:spcBef>
            </a:pPr>
            <a:r>
              <a:rPr sz="2450" dirty="0">
                <a:solidFill>
                  <a:srgbClr val="22373A"/>
                </a:solidFill>
              </a:rPr>
              <a:t>Thank</a:t>
            </a:r>
            <a:r>
              <a:rPr sz="2450" spc="150" dirty="0">
                <a:solidFill>
                  <a:srgbClr val="22373A"/>
                </a:solidFill>
              </a:rPr>
              <a:t> </a:t>
            </a:r>
            <a:r>
              <a:rPr sz="2450" spc="-45" dirty="0">
                <a:solidFill>
                  <a:srgbClr val="22373A"/>
                </a:solidFill>
              </a:rPr>
              <a:t>You! </a:t>
            </a:r>
            <a:r>
              <a:rPr sz="2450" spc="-70" dirty="0">
                <a:solidFill>
                  <a:srgbClr val="22373A"/>
                </a:solidFill>
              </a:rPr>
              <a:t>Questions?</a:t>
            </a:r>
            <a:endParaRPr sz="2450"/>
          </a:p>
        </p:txBody>
      </p:sp>
      <p:sp>
        <p:nvSpPr>
          <p:cNvPr id="3" name="object 3"/>
          <p:cNvSpPr/>
          <p:nvPr/>
        </p:nvSpPr>
        <p:spPr>
          <a:xfrm>
            <a:off x="0" y="3085350"/>
            <a:ext cx="5760085" cy="154940"/>
          </a:xfrm>
          <a:custGeom>
            <a:avLst/>
            <a:gdLst/>
            <a:ahLst/>
            <a:cxnLst/>
            <a:rect l="l" t="t" r="r" b="b"/>
            <a:pathLst>
              <a:path w="5760085" h="154939">
                <a:moveTo>
                  <a:pt x="5759996" y="0"/>
                </a:moveTo>
                <a:lnTo>
                  <a:pt x="0" y="0"/>
                </a:lnTo>
                <a:lnTo>
                  <a:pt x="0" y="154647"/>
                </a:lnTo>
                <a:lnTo>
                  <a:pt x="5759996" y="154647"/>
                </a:lnTo>
                <a:lnTo>
                  <a:pt x="5759996" y="0"/>
                </a:lnTo>
                <a:close/>
              </a:path>
            </a:pathLst>
          </a:custGeom>
          <a:solidFill>
            <a:srgbClr val="91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3857" y="3096300"/>
            <a:ext cx="1796414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Lecturer:</a:t>
            </a:r>
            <a:r>
              <a:rPr sz="9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Awara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Bakhtiyar</a:t>
            </a:r>
            <a:r>
              <a:rPr sz="9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Rasool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3792" y="3096300"/>
            <a:ext cx="15113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30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98303" y="3096300"/>
            <a:ext cx="922019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19,</a:t>
            </a:r>
            <a:r>
              <a:rPr sz="9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80"/>
              </a:lnSpc>
            </a:pPr>
            <a:r>
              <a:rPr dirty="0"/>
              <a:t>45</a:t>
            </a:r>
            <a:r>
              <a:rPr spc="65" dirty="0"/>
              <a:t> </a:t>
            </a:r>
            <a:r>
              <a:rPr spc="240" dirty="0"/>
              <a:t>/</a:t>
            </a:r>
            <a:r>
              <a:rPr spc="65" dirty="0"/>
              <a:t> </a:t>
            </a: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373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2512</Words>
  <Application>Microsoft Macintosh PowerPoint</Application>
  <PresentationFormat>Custom</PresentationFormat>
  <Paragraphs>396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2" baseType="lpstr">
      <vt:lpstr>Arial</vt:lpstr>
      <vt:lpstr>Office Theme</vt:lpstr>
      <vt:lpstr>Introduction to Artificial Intelligence</vt:lpstr>
      <vt:lpstr>Defining AI</vt:lpstr>
      <vt:lpstr>Types of Software</vt:lpstr>
      <vt:lpstr>The Three Categories of AI</vt:lpstr>
      <vt:lpstr>1. Weak AI (Narrow AI)</vt:lpstr>
      <vt:lpstr>2. Strong AI (General AI / AGI)</vt:lpstr>
      <vt:lpstr>3. Super AI (Superintelligence)</vt:lpstr>
      <vt:lpstr>PowerPoint Presentation</vt:lpstr>
      <vt:lpstr>Foundations of AI: Data Sets</vt:lpstr>
      <vt:lpstr>Foundations of AI: Mathematics</vt:lpstr>
      <vt:lpstr>Foundations of AI: Computer Science</vt:lpstr>
      <vt:lpstr>PowerPoint Presentation</vt:lpstr>
      <vt:lpstr>The Turing Test (1950)</vt:lpstr>
      <vt:lpstr>History of AI: Phase 1 (1950s) - The Birth</vt:lpstr>
      <vt:lpstr>History of AI: Phase 2 (1960s) - Early Hype</vt:lpstr>
      <vt:lpstr>ELIZA (1964): The First Chatbot</vt:lpstr>
      <vt:lpstr>Shakey the Robot (1966)</vt:lpstr>
      <vt:lpstr>History of AI: Phase 3 (1990s) - Modern Era</vt:lpstr>
      <vt:lpstr>Deep Blue vs. Kasparov (1997)</vt:lpstr>
      <vt:lpstr>History of AI: Phase 4 (2010s+) - The Revolution</vt:lpstr>
      <vt:lpstr>The Recipe for Revolution</vt:lpstr>
      <vt:lpstr>AI Ethics: Why it Matters</vt:lpstr>
      <vt:lpstr>PowerPoint Presentation</vt:lpstr>
      <vt:lpstr>Myths vs. Reality</vt:lpstr>
      <vt:lpstr>PowerPoint Presentation</vt:lpstr>
      <vt:lpstr>1. Machine Learning (ML)</vt:lpstr>
      <vt:lpstr>2. Natural Language Processing (NLP)</vt:lpstr>
      <vt:lpstr>PowerPoint Presentation</vt:lpstr>
      <vt:lpstr>3. Computer Vision</vt:lpstr>
      <vt:lpstr>PowerPoint Presentation</vt:lpstr>
      <vt:lpstr>4. Robotics</vt:lpstr>
      <vt:lpstr>5. Expert Systems</vt:lpstr>
      <vt:lpstr>6. Neural Networks &amp; Deep Learning</vt:lpstr>
      <vt:lpstr>PowerPoint Presentation</vt:lpstr>
      <vt:lpstr>Type 1: Supervised Learning</vt:lpstr>
      <vt:lpstr>Example: Spam Email Filtering</vt:lpstr>
      <vt:lpstr>PowerPoint Presentation</vt:lpstr>
      <vt:lpstr>Type 2: Unsupervised Learning</vt:lpstr>
      <vt:lpstr>PowerPoint Presentation</vt:lpstr>
      <vt:lpstr>Type 3: Reinforcement Learning</vt:lpstr>
      <vt:lpstr>PowerPoint Presentation</vt:lpstr>
      <vt:lpstr>PowerPoint Presentation</vt:lpstr>
      <vt:lpstr>Engineering Applications Overview</vt:lpstr>
      <vt:lpstr>PowerPoint Presentation</vt:lpstr>
      <vt:lpstr>Misconception 1: AI Understands Meaning</vt:lpstr>
      <vt:lpstr>Misconception 2: AI Has Emotions</vt:lpstr>
      <vt:lpstr>Misconception 3: AI Can Do Everything</vt:lpstr>
      <vt:lpstr>Assumptions Behind AI Research</vt:lpstr>
      <vt:lpstr>Why These Misconceptions Matter</vt:lpstr>
      <vt:lpstr>Thank You!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Artificial Intelligence - Week 1: What, Why, and Where?</dc:title>
  <dc:creator>Lecturer: Awara Bakhtiyar Rasool</dc:creator>
  <cp:lastModifiedBy>Davar Adil Yassin</cp:lastModifiedBy>
  <cp:revision>1</cp:revision>
  <dcterms:created xsi:type="dcterms:W3CDTF">2026-01-18T22:48:06Z</dcterms:created>
  <dcterms:modified xsi:type="dcterms:W3CDTF">2026-01-18T22:49:52Z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2026-01-18T00:00:00Z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